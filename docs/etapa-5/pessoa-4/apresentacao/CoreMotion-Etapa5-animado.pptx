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o deck pelo contrato de confiança: nada aqui e chute. Tudo que está escrito foi lido no repositório em 19/10/2026. 40s.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a diferença entre FALTA e NÃO VERIFICADO: a segunda protege o TCC de afirmar o que não foi provado. 35s.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o veredito e já emendar: o build passar não significa o produto funcionar. 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as duas colunas em sequência, uma linha por clique. Fechar com o P0: e o único item que cresce a cada push. 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Enfatizar a simetria: nenhuma frente tem motivo para acreditar que está mais avançada que as outras. 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 o único slide que pede ação imediata fora do escopo do TCC. Nomear quem roda a credencial e registrar data e hora. 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Percorrer os 6 passos uma linha por vez. Deixar claro que o problema é de arquitetura, não de digitação. 1min05.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slide justifica por que a frente 1 está parada: falta decisão de negócio, não código. 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o discurso é curto: schema, migração e RLS são um trabalho só, e nenhum dos três está pronto. 55s.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Não prometer 'só falta mexer na aparência': o negócio depende do contrato de catálogo, que ainda não existe. 55s.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Puxar o seletor 'Modo' porque qualquer visitante consegue entrar como Admin sem senha. 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Número-chave para a banca: 76 lacunas, 62 com dono e prazo possível. A lista integral está no repositório. 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explicitamente 15 minutos de reunião para D-01 e a grafia oficial: são as duas que seguram mais trabalho. 50s.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com a sequência: segurança primeiro, contrato depois, interface por último. 1min.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o motivo técnico do pedido (a API não expõe transições) e mostrar o efeito ao vivo, clicando. 45s.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Encerrar com a decisão que libera o resto: rotacionar a credencial e bater D-01. 30s.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463040" y="-1645920"/>
            <a:ext cx="5486400" cy="5486400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95360" y="3840480"/>
            <a:ext cx="4937760" cy="4937760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347472"/>
            <a:ext cx="237744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RELATÓRIO DE PENDÊNCIAS · ETAPA 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rial Black"/>
              </a:rPr>
              <a:t>O que ainda falta no CoreMotion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7498079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600" b="0">
                <a:solidFill>
                  <a:srgbClr val="EAEDF2"/>
                </a:solidFill>
                <a:latin typeface="Arial"/>
              </a:rPr>
              <a:t>Inventário completo da rodada de documentação: 76 lacunas catalogadas, com prova em arquivo e linha.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26517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A5468"/>
                </a:solidFill>
                <a:latin typeface="Consolas"/>
              </a:rPr>
              <a:t>REPOSITÓRIO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FeufeuP/-CoreMotion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749039"/>
            <a:ext cx="26517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A5468"/>
                </a:solidFill>
                <a:latin typeface="Consolas"/>
              </a:rPr>
              <a:t>COMMIT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b0827ec · main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749039"/>
            <a:ext cx="265176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1">
                <a:solidFill>
                  <a:srgbClr val="4A5468"/>
                </a:solidFill>
                <a:latin typeface="Consolas"/>
              </a:rPr>
              <a:t>DATA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19/10/2026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52560" y="3749039"/>
            <a:ext cx="2679192" cy="1737360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4000" b="1">
                <a:solidFill>
                  <a:srgbClr val="0B1020"/>
                </a:solidFill>
                <a:latin typeface="Arial Black"/>
              </a:rPr>
              <a:t>76</a:t>
            </a:r>
          </a:p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0B1020"/>
                </a:solidFill>
                <a:latin typeface="Arial"/>
              </a:rPr>
              <a:t>lacunas catalogadas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468880" cy="256032"/>
          </a:xfrm>
          <a:prstGeom prst="rect">
            <a:avLst/>
          </a:prstGeom>
          <a:solidFill>
            <a:srgbClr val="14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COMO LER ESTA LISTA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Cinco estados, nenhuma suposição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6766560" cy="676656"/>
          </a:xfrm>
          <a:prstGeom prst="roundRect">
            <a:avLst>
              <a:gd name="adj" fmla="val 9000"/>
            </a:avLst>
          </a:prstGeom>
          <a:solidFill>
            <a:srgbClr val="EAEDF2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B1020"/>
                </a:solidFill>
                <a:latin typeface="Consolas"/>
              </a:rPr>
              <a:t>FALTA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4A5468"/>
                </a:solidFill>
                <a:latin typeface="Arial"/>
              </a:rPr>
              <a:t>O entregável não existe no repositório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86584"/>
            <a:ext cx="6766560" cy="676656"/>
          </a:xfrm>
          <a:prstGeom prst="roundRect">
            <a:avLst>
              <a:gd name="adj" fmla="val 9000"/>
            </a:avLst>
          </a:prstGeom>
          <a:solidFill>
            <a:srgbClr val="C6F24E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B1020"/>
                </a:solidFill>
                <a:latin typeface="Consolas"/>
              </a:rPr>
              <a:t>PARCIAL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4A5468"/>
                </a:solidFill>
                <a:latin typeface="Arial"/>
              </a:rPr>
              <a:t>Existe, mas não cobre o contrato inteiro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172968"/>
            <a:ext cx="6766560" cy="676656"/>
          </a:xfrm>
          <a:prstGeom prst="roundRect">
            <a:avLst>
              <a:gd name="adj" fmla="val 9000"/>
            </a:avLst>
          </a:prstGeom>
          <a:solidFill>
            <a:srgbClr val="EAEDF2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B1020"/>
                </a:solidFill>
                <a:latin typeface="Consolas"/>
              </a:rPr>
              <a:t>PENDENTE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4A5468"/>
                </a:solidFill>
                <a:latin typeface="Arial"/>
              </a:rPr>
              <a:t>Depende de decisão ou dado da equipe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959352"/>
            <a:ext cx="6766560" cy="676656"/>
          </a:xfrm>
          <a:prstGeom prst="roundRect">
            <a:avLst>
              <a:gd name="adj" fmla="val 9000"/>
            </a:avLst>
          </a:prstGeom>
          <a:solidFill>
            <a:srgbClr val="FFB020"/>
          </a:solidFill>
          <a:ln w="9525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B1020"/>
                </a:solidFill>
                <a:latin typeface="Consolas"/>
              </a:rPr>
              <a:t>BLOQUEADO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4A5468"/>
                </a:solidFill>
                <a:latin typeface="Arial"/>
              </a:rPr>
              <a:t>Não começa antes de um contrato ser aprovado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745736"/>
            <a:ext cx="6766560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300" b="1">
                <a:solidFill>
                  <a:srgbClr val="0B1020"/>
                </a:solidFill>
                <a:latin typeface="Consolas"/>
              </a:rPr>
              <a:t>NÃO VERIFICADO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100" b="0">
                <a:solidFill>
                  <a:srgbClr val="4A5468"/>
                </a:solidFill>
                <a:latin typeface="Arial"/>
              </a:rPr>
              <a:t>Pode até existir, mas não há prova em execução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2360" y="1600200"/>
            <a:ext cx="4279392" cy="3749039"/>
          </a:xfrm>
          <a:prstGeom prst="roundRect">
            <a:avLst>
              <a:gd name="adj" fmla="val 5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1">
                <a:solidFill>
                  <a:srgbClr val="C6F24E"/>
                </a:solidFill>
                <a:latin typeface="Consolas"/>
              </a:rPr>
              <a:t>REGRA DE HONESTIDADE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Nada é declarado concluído sem evidência.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150" b="0">
                <a:solidFill>
                  <a:srgbClr val="EAEDF2"/>
                </a:solidFill>
                <a:latin typeface="Arial"/>
              </a:rPr>
              <a:t>O que não foi testado em execução recebe NÃO VERIFICADO em vez de suposição favorável.</a:t>
            </a:r>
          </a:p>
          <a:p>
            <a:pPr algn="l">
              <a:lnSpc>
                <a:spcPct val="128000"/>
              </a:lnSpc>
              <a:spcAft>
                <a:spcPts val="800"/>
              </a:spcAft>
            </a:pPr>
            <a:r>
              <a:rPr sz="1150" b="0">
                <a:solidFill>
                  <a:srgbClr val="EAEDF2"/>
                </a:solidFill>
                <a:latin typeface="Arial"/>
              </a:rPr>
              <a:t>6 checks estão fora da contagem de 76 por isso.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14:morph option="byObj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194560" cy="25603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VEREDITO DA RODADA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>
                <a:solidFill>
                  <a:srgbClr val="0B1020"/>
                </a:solidFill>
                <a:latin typeface="Arial Black"/>
              </a:rPr>
              <a:t>O projeto documenta, mas não entrega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74552" cy="1417320"/>
          </a:xfrm>
          <a:prstGeom prst="roundRect">
            <a:avLst>
              <a:gd name="adj" fmla="val 6000"/>
            </a:avLst>
          </a:prstGeom>
          <a:solidFill>
            <a:srgbClr val="C6F24E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00" b="1">
                <a:solidFill>
                  <a:srgbClr val="0B1020"/>
                </a:solidFill>
                <a:latin typeface="Arial Black"/>
              </a:rPr>
              <a:t>Compila, sobe — e nada está provado. A superfície do app existe; autenticação, autorização, pagamento e persistencia são fachada, enquanto segredo real, documentação de execução e TCC ainda não saíram do papel.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2688336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0 / 7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468"/>
                </a:solidFill>
                <a:latin typeface="Arial"/>
              </a:rPr>
              <a:t>entregáveis da etapa fechados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28416" y="3200400"/>
            <a:ext cx="2688336" cy="12344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13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468"/>
                </a:solidFill>
                <a:latin typeface="Arial"/>
              </a:rPr>
              <a:t>lacunas de identidade e acesso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3200400"/>
            <a:ext cx="2688336" cy="1234440"/>
          </a:xfrm>
          <a:prstGeom prst="roundRect">
            <a:avLst>
              <a:gd name="adj" fmla="val 7000"/>
            </a:avLst>
          </a:prstGeom>
          <a:solidFill>
            <a:srgbClr val="EAEDF2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2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468"/>
                </a:solidFill>
                <a:latin typeface="Arial"/>
              </a:rPr>
              <a:t>bloqueadores dependente de decisão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70848" y="3200400"/>
            <a:ext cx="2688336" cy="1234440"/>
          </a:xfrm>
          <a:prstGeom prst="roundRect">
            <a:avLst>
              <a:gd name="adj" fmla="val 7000"/>
            </a:avLst>
          </a:prstGeom>
          <a:solidFill>
            <a:srgbClr val="FFECE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1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4A5468"/>
                </a:solidFill>
                <a:latin typeface="Arial"/>
              </a:rPr>
              <a:t>P0: credencial exposta no código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127455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Consolas"/>
              </a:rPr>
              <a:t>Provas da rodada: npm install 995 pacotes · type-check PASS · lint 0 erros (23 avisos) · build PASS · GET / 200 · /api/products 500 · /api/stores e /api/users 500.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50" b="1">
                <a:solidFill>
                  <a:srgbClr val="0B1020"/>
                </a:solidFill>
                <a:latin typeface="Arial"/>
              </a:rPr>
              <a:t>Nada disso prova negócio: o banco devolve 500 e a home cai no mock.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651760" cy="256032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OS 7 ENTREGÁVEIS EXIGIDOS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Seis faltam, um só existe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6C4CF1"/>
                </a:solidFill>
                <a:latin typeface="Arial"/>
              </a:rPr>
              <a:t>ENTREGÁVEIS FORMAIS (docs/etapa-5)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① DOCUMENTO FINAL DE EXECUÇÃO — FALTA (não existe; virou guia)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② PLANO DE TESTES — FALTA (só um parágrafo no guia)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③ PLANO DE IMPLEMENTAÇÃO — FALTA (rascunho por pessoa)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④ RELATÓRIO DE EXECUÇÃO — PARCIAL (roda de 19/10 sem testes)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⑤ DAILY REPORT — PARCIAL (1 dia em 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508760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FFECEF"/>
          </a:solidFill>
          <a:ln w="9525">
            <a:solidFill>
              <a:srgbClr val="FF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FF3B5C"/>
                </a:solidFill>
                <a:latin typeface="Arial"/>
              </a:rPr>
              <a:t>ARTEFATOS TÉCNICOS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① CODE REVIEW — PARCIAL: 3 relatórios, sem decisão registrada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② IMPLEMENTAÇÃO — PARCIAL: nada corrigido em app/, components/, lib/, services/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③ REPOSITÓRIO — PARCIAL: sem README, sem CI, sem testes automatizados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④ DEMO PUBLICADA — PENDENTE: sem link; o guia diz para não subir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⑤ TCC — FALTA: 0 capturas, 0 figuras, 0 tabelas, seções 1 a 6 vazias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⑥ DIAGRAMAS — PARCIAL: casos de uso e fluxograma; falta o de atividades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⑦ APRESENTAÇÃO — FALTA: comecou nesta rodada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577840"/>
            <a:ext cx="11274552" cy="56692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P0 antes de qualquer item de acabamento: credencial do banco exposta no código, empacotada no build e pública no GitHub (valor redigido neste deck).</a:t>
            </a:r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011680" cy="25603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AS 4 FRENTES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Onde a rodada parou em cada frente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81328"/>
            <a:ext cx="2688336" cy="128016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09344"/>
            <a:ext cx="2688336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PESSOA 1 · BACKEND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14 lacunas registradas (B-02 a B-15)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B0 a B4 sem linha de negócio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Zero arquivos de backend criados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029200"/>
            <a:ext cx="2688336" cy="457200"/>
          </a:xfrm>
          <a:prstGeom prst="roundRect">
            <a:avLst>
              <a:gd name="adj" fmla="val 10000"/>
            </a:avLst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FALTA</a:t>
            </a:r>
          </a:p>
        </p:txBody>
      </p:sp>
      <p:sp>
        <p:nvSpPr>
          <p:cNvPr id="7" name="Rectangle 6"/>
          <p:cNvSpPr/>
          <p:nvPr/>
        </p:nvSpPr>
        <p:spPr>
          <a:xfrm>
            <a:off x="3328416" y="1481328"/>
            <a:ext cx="2688336" cy="128016"/>
          </a:xfrm>
          <a:prstGeom prst="rect">
            <a:avLst/>
          </a:prstGeom>
          <a:solidFill>
            <a:srgbClr val="14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28416" y="1609344"/>
            <a:ext cx="2688336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PESSOA 2 · FRONTEND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11 lacunas registradas (F-01 a F-11)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Um arquivo único no lugar do fluxo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Zero telas capturadas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28416" y="5029200"/>
            <a:ext cx="2688336" cy="457200"/>
          </a:xfrm>
          <a:prstGeom prst="roundRect">
            <a:avLst>
              <a:gd name="adj" fmla="val 10000"/>
            </a:avLst>
          </a:prstGeom>
          <a:solidFill>
            <a:srgbClr val="14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FALTA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481328"/>
            <a:ext cx="2688336" cy="128016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9632" y="1609344"/>
            <a:ext cx="2688336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PESSOA 3 · DOCUMENTOS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16 itens pendentes ou faltando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Cap. 1 a 6 do TCC vazios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Falta diagrama de atividades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5029200"/>
            <a:ext cx="2688336" cy="457200"/>
          </a:xfrm>
          <a:prstGeom prst="roundRect">
            <a:avLst>
              <a:gd name="adj" fmla="val 10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FALTA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70848" y="1481328"/>
            <a:ext cx="2688336" cy="128016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070848" y="1609344"/>
            <a:ext cx="2688336" cy="32918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PESSOA 4 · QUALIDADE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Nenhum teste escrito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Plano e relatório só no guia</a:t>
            </a:r>
          </a:p>
          <a:p>
            <a:pPr algn="l">
              <a:lnSpc>
                <a:spcPct val="126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README e links ausentes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8" y="5029200"/>
            <a:ext cx="2688336" cy="457200"/>
          </a:xfrm>
          <a:prstGeom prst="roundRect">
            <a:avLst>
              <a:gd name="adj" fmla="val 10000"/>
            </a:avLst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Consolas"/>
              </a:rPr>
              <a:t>FALTA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687568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EA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4A5468"/>
                </a:solidFill>
                <a:latin typeface="Arial"/>
              </a:rPr>
              <a:t>As quatro pastas de frente (pessoa-1 a pessoa-4) contêm apenas README: nenhum plano, execução ou review individual foi escrito.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301752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P0 · ANTES DE QUALQUER CÓDIGO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A credencial que vale mais que todo o resto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268833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O QUE ESTÁ EXPOSTO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Senha do banco, URL do projeto Supabase e anon key — fixados no código em lib/db.ts, lib/supabase.ts e services/supabaseClient.ts.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28416" y="1691640"/>
            <a:ext cx="268833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ONDE CHEGOU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No bundle de produção dentro de .next: 2x no JS do navegador e 3x no server chunk — além do histórico do Git.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91640"/>
            <a:ext cx="2688336" cy="2011680"/>
          </a:xfrm>
          <a:prstGeom prst="roundRect">
            <a:avLst>
              <a:gd name="adj" fmla="val 6000"/>
            </a:avLst>
          </a:prstGeom>
          <a:solidFill>
            <a:srgbClr val="FF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COMO O PADRÃO VIRA REGRA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resolveDatabaseUrl() usa o padrão embutido quando DATABASE_URL não existe: a infra passa a depender da credencial vazada.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70848" y="1691640"/>
            <a:ext cx="2688336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POR QUE NÃO BASTA APAGAR</a:t>
            </a:r>
          </a:p>
          <a:p>
            <a:pPr algn="l">
              <a:lnSpc>
                <a:spcPct val="124000"/>
              </a:lnSpc>
              <a:spcAft>
                <a:spcPts val="6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Remover o arquivo não muda o histórico; o valor segue vivo no Supabase enquanto não for rotacionado.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31920"/>
            <a:ext cx="5486400" cy="169164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ORDEM QUE A EQUIPE PRECISA EXECUTAR (acesso humano, não o Arena)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1 · rotacionar a senha no Supabase (ação humana)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2 · DATABASE_URL via variavel de ambiente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3 · remover o default de lib/db.ts e os hardcodes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4 · revogar anon key se houver políticas permissivas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5 · reescrever história + BFG, com a equipe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6 · reavaliar exposição do e-mail do Mestre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3931920"/>
            <a:ext cx="5486400" cy="1691640"/>
          </a:xfrm>
          <a:prstGeom prst="roundRect">
            <a:avLst>
              <a:gd name="adj" fmla="val 4500"/>
            </a:avLst>
          </a:prstGeom>
          <a:solidFill>
            <a:srgbClr val="C6F24E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0B1020"/>
                </a:solidFill>
                <a:latin typeface="Arial"/>
              </a:rPr>
              <a:t>CONSEQUÊNCIA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Quem tem a senha conecta direto no Postgres, fora do Auth e do RLS: lê e escreve users, profiles, stores, products, orders e community_posts.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Risco agravado por políticas permissivas: GRANT ALL to anon e INSERT sem checagem de dono.</a:t>
            </a:r>
          </a:p>
        </p:txBody>
      </p:sp>
    </p:spTree>
  </p:cSld>
  <p:clrMapOvr>
    <a:masterClrMapping/>
  </p:clrMapOvr>
  <p:transition xmlns:p14="http://schemas.microsoft.com/office/powerpoint/2010/main" spd="med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834640" cy="25603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FRENTE 1 · IDENTIDADE E ACESSO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100" b="1">
                <a:solidFill>
                  <a:srgbClr val="0B1020"/>
                </a:solidFill>
                <a:latin typeface="Arial Black"/>
              </a:rPr>
              <a:t>Login que entra em qualquer conta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6492240" cy="3794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19456" rIns="128016" tIns="164592" bIns="73152"/>
          <a:lstStyle/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1 · Usuário envia e-mail e senha ao login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300" b="0">
                <a:solidFill>
                  <a:srgbClr val="4A5468"/>
                </a:solidFill>
                <a:latin typeface="Arial"/>
              </a:rPr>
              <a:t>2 · signInWithPassword falha: só console.warn, sem retornar erro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300" b="0">
                <a:solidFill>
                  <a:srgbClr val="4A5468"/>
                </a:solidFill>
                <a:latin typeface="Arial"/>
              </a:rPr>
              <a:t>3 · Código associa usr_&lt;timestamp&gt; fabricado ao e-mail já cadastrado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300" b="0">
                <a:solidFill>
                  <a:srgbClr val="4A5468"/>
                </a:solidFill>
                <a:latin typeface="Arial"/>
              </a:rPr>
              <a:t>4 · Papel vem de user_metadata; Mestre Admin por lista de e-mails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5 · Sync grava ou reativa a linha em public.users e devolve success: true</a:t>
            </a:r>
          </a:p>
          <a:p>
            <a:pPr algn="l">
              <a:lnSpc>
                <a:spcPct val="116000"/>
              </a:lnSpc>
              <a:spcAft>
                <a:spcPts val="10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6 · O resto da aplicação trusts role / userId / seller_id vindos do cliente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78040" y="1508760"/>
            <a:ext cx="4553712" cy="1170432"/>
          </a:xfrm>
          <a:prstGeom prst="roundRect">
            <a:avLst>
              <a:gd name="adj" fmla="val 4500"/>
            </a:avLst>
          </a:prstGeom>
          <a:solidFill>
            <a:srgbClr val="EAEDF2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PROVA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services/auth.ts:88-134 — catch com console.warn e continuação; usr_&lt;timestamp&gt; no código de produção.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2807208"/>
            <a:ext cx="4553712" cy="1170432"/>
          </a:xfrm>
          <a:prstGeom prst="roundRect">
            <a:avLst>
              <a:gd name="adj" fmla="val 4500"/>
            </a:avLst>
          </a:prstGeom>
          <a:solidFill>
            <a:srgbClr val="FFECEF"/>
          </a:solidFill>
          <a:ln w="9525">
            <a:solidFill>
              <a:srgbClr val="FF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IMPACTO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Quem conhecer o prefixo de um e-mail cadastrado passa a ver painel de vendedor e, no Mestre Admin, dados de outras lojas.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4105656"/>
            <a:ext cx="4553712" cy="1170432"/>
          </a:xfrm>
          <a:prstGeom prst="roundRect">
            <a:avLst>
              <a:gd name="adj" fmla="val 4500"/>
            </a:avLst>
          </a:prstGeom>
          <a:solidFill>
            <a:srgbClr val="ECE8FF"/>
          </a:solidFill>
          <a:ln w="9525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CONTRATO ALVO</a:t>
            </a:r>
          </a:p>
          <a:p>
            <a:pPr algn="l">
              <a:lnSpc>
                <a:spcPct val="118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401 para credencial inválida e 403 para papel insuficiente; session.ts + cookies httpOnly; API sem papel no corpo.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74552" cy="640080"/>
          </a:xfrm>
          <a:prstGeom prst="roundRect">
            <a:avLst>
              <a:gd name="adj" fmla="val 9000"/>
            </a:avLst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Sem o lote B1 (helper de sessão + rotas protegidas + revogação), os lotes B2 e B3 ficam sem base: auth, papéis e RLS dependem dele.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286000" cy="256032"/>
          </a:xfrm>
          <a:prstGeom prst="rect">
            <a:avLst/>
          </a:prstGeom>
          <a:solidFill>
            <a:srgbClr val="14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FRENTE 2 · NEGÓCIO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A escada de acesso existe só no contrato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48640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6C4CF1"/>
                </a:solidFill>
                <a:latin typeface="Arial"/>
              </a:rPr>
              <a:t>HIERARQUIA EXIGIDA PELO TEMA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Visitante   ler loja, produto e comunidade; pedir credenciamento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Usuário     perfil, pedidos, anúncios, denunciar e bloquear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Vendedor    CRUD de loja e de anúncio, status de pedido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Supervisor  lojas, produtos e pedidos do seu escopo — sem financeiro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Admin       usuários, aprovação, roles, segredos e plataforma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554480"/>
            <a:ext cx="5486400" cy="32004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50" b="1">
                <a:solidFill>
                  <a:srgbClr val="FF3B5C"/>
                </a:solidFill>
                <a:latin typeface="Arial"/>
              </a:rPr>
              <a:t>O QUE O CÓDIGO TEM HOJE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4 papéis no código: visitor | user | seller | admin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supervisor: zero ocorrências em qualquer arquivo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atleta: default de cadastro — papel que não e da hierarquia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'Lojista' existe só como vínculo stores.owner_id, nunca como papel</a:t>
            </a:r>
          </a:p>
          <a:p>
            <a:pPr algn="l">
              <a:lnSpc>
                <a:spcPct val="142000"/>
              </a:lnSpc>
              <a:spcAft>
                <a:spcPts val="500"/>
              </a:spcAft>
            </a:pPr>
            <a:r>
              <a:rPr sz="1200" b="0">
                <a:solidFill>
                  <a:srgbClr val="0B1020"/>
                </a:solidFill>
                <a:latin typeface="Arial"/>
              </a:rPr>
              <a:t>Botões administrativos de fachada: aparecem e fazem nada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937760"/>
            <a:ext cx="11274552" cy="566928"/>
          </a:xfrm>
          <a:prstGeom prst="roundRect">
            <a:avLst>
              <a:gd name="adj" fmla="val 9000"/>
            </a:avLst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D-01 não tem resposta da equipe — então types.ts, migração e RLS continuam sem base para começar.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669280"/>
            <a:ext cx="112745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4A5468"/>
                </a:solidFill>
                <a:latin typeface="Arial"/>
              </a:rPr>
              <a:t>Matriz-alvo com 26 capacidades já escrita em docs/etapa-5/contratos/matriz-permissoes.md — e a base do lote B2.</a:t>
            </a:r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74320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FRENTE 1 · BANCO, RLS E DADOS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O banco pergunta por uma tabela que não existe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36192"/>
            <a:ext cx="3630168" cy="1700784"/>
          </a:xfrm>
          <a:prstGeom prst="roundRect">
            <a:avLst>
              <a:gd name="adj" fmla="val 4500"/>
            </a:avLst>
          </a:prstGeom>
          <a:solidFill>
            <a:srgbClr val="FFECEF"/>
          </a:solidFill>
          <a:ln w="9525">
            <a:solidFill>
              <a:srgbClr val="FF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TABELAS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users, products, stores, orders, community_posts. A única migração cria profiles — e nunca cria public.users.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88536" y="1536192"/>
            <a:ext cx="3630168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MIGRAÇÕES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1 arquivo em supabase/migrations; os 9 scripts avulsos em scripts/ não criam as tabelas que as APIs leem.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36192"/>
            <a:ext cx="3630168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UPDATE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profiles_update_policy aceita edição de qualquer linha para is_admin(), sem WITH CHECK: admin pode escrever como outro usuário.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64991"/>
            <a:ext cx="3630168" cy="17007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INSERT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Permite qualquer autenticado inserir profiles, sem checagem de auth.uid() =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8536" y="3364991"/>
            <a:ext cx="3630168" cy="1700784"/>
          </a:xfrm>
          <a:prstGeom prst="roundRect">
            <a:avLst>
              <a:gd name="adj" fmla="val 4500"/>
            </a:avLst>
          </a:prstGeom>
          <a:solidFill>
            <a:srgbClr val="FFECEF"/>
          </a:solidFill>
          <a:ln w="9525">
            <a:solidFill>
              <a:srgbClr val="FF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GRANTS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GRANT ALL to anon e authenticated: qualquer pessoa sem login atinge as tabelas.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3364991"/>
            <a:ext cx="3630168" cy="1700784"/>
          </a:xfrm>
          <a:prstGeom prst="roundRect">
            <a:avLst>
              <a:gd name="adj" fmla="val 4500"/>
            </a:avLst>
          </a:prstGeom>
          <a:solidFill>
            <a:srgbClr val="EAEDF2"/>
          </a:solidFill>
          <a:ln w="9525">
            <a:solidFill>
              <a:srgbClr val="EA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RLS REAL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Não verificado: sem acesso ao banco do projeto, não dá para provar que as políticas estão ativas na base remota.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49240"/>
            <a:ext cx="11274552" cy="777240"/>
          </a:xfrm>
          <a:prstGeom prst="roundRect">
            <a:avLst>
              <a:gd name="adj" fmla="val 6000"/>
            </a:avLst>
          </a:prstGeom>
          <a:solidFill>
            <a:srgbClr val="ECE8FF"/>
          </a:solidFill>
          <a:ln w="9525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Enquanto a API consultar public.users, o 500 de /api/products não é detalhe de infraestrutura: é prova de que a camada de dados do tema nunca foi entregue.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100" b="0">
                <a:solidFill>
                  <a:srgbClr val="4A5468"/>
                </a:solidFill>
                <a:latin typeface="Arial"/>
              </a:rPr>
              <a:t>Correção com escopo fechado: uma migração incremental com users + RLS + WITH CHECK, testada em ambiente próprio.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377440" cy="256032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NEGÓCIO COMO FACHADA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A loja abre, mas nada fica no caixa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36192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FF3B5C"/>
                </a:solidFill>
                <a:latin typeface="Arial"/>
              </a:rPr>
              <a:t>CATÁLOGO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GET /api/products existe e faz SQL — mas o 500 aciona o fallback INITIAL_PRODUCTS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POST /api/products grava no Supabase sem conferir papel, preço ou dono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Server Actions confiam no userId vindo do cliente: um POST pode virar admin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Resultado: a vitrine nunca aparece vazia, mas não reflete o banco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536192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FF3B5C"/>
                </a:solidFill>
                <a:latin typeface="Arial"/>
              </a:rPr>
              <a:t>CHECKOUT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PIX gerado com Math.random(): copia a chave da loja e marca paid (orderService.ts:7-20)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QR e imagem do api.qrserver.com com texto arbitrário; modal diz custódia segura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Aprovado no sandbox grava payment_status completed direto no estado do navegador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Ordens nunca passam por app/api/orders nem por Server Action — nem viram pedido de verdade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502152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FECEF"/>
          </a:solidFill>
          <a:ln w="9525">
            <a:solidFill>
              <a:srgbClr val="FF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FF3B5C"/>
                </a:solidFill>
                <a:latin typeface="Arial"/>
              </a:rPr>
              <a:t>VERIFICAÇÃO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Solicitar verificação chama requestVerification e escreve rejected — sem Admin, motivo ou prazo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A interface continua mostrando pending: o usuário lê algo que o código já negou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Aprovação de loja não existe em nenhum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3502152"/>
            <a:ext cx="5486400" cy="1828800"/>
          </a:xfrm>
          <a:prstGeom prst="roundRect">
            <a:avLst>
              <a:gd name="adj" fmla="val 4500"/>
            </a:avLst>
          </a:prstGeom>
          <a:solidFill>
            <a:srgbClr val="FFECEF"/>
          </a:solidFill>
          <a:ln w="9525">
            <a:solidFill>
              <a:srgbClr val="FF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FF3B5C"/>
                </a:solidFill>
                <a:latin typeface="Arial"/>
              </a:rPr>
              <a:t>COMUNIDADE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Postar e denunciar escrevem só no estado local; ao recarregar, o conteúdo desaparece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Bloquear só esconde em quem bloqueou — não impede nova denúncia no backend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CRUD e moderação comunitária: simplesmente não há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Corrigir a aparência da interface é o passo mais atrasado aqui: primeiro o contrato, depois os endpoints, depois a tela. O contrato de catálogo nem foi escrito ainda.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EAEDF2"/>
                </a:solidFill>
                <a:latin typeface="Arial"/>
              </a:rPr>
              <a:t>Bloco exige o contrato aprovado para que a interface pare de mentir sobre o que aconteceu.</a:t>
            </a:r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743200" cy="25603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FRONTEND, UX E ACESSIBILIDADE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Uma tela faz o papel do aplicativo inteiro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36192"/>
            <a:ext cx="6583680" cy="37947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FFB020"/>
                </a:solidFill>
                <a:latin typeface="Arial"/>
              </a:rPr>
              <a:t>AS QUATRO RAÍZES DO PROBLEMA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① Menu que não leva a lugar nenhum: 'Meu perfil' abre 'Páginas próximas' e a newsletter do rodapé não faz nada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② Um app de uma tela só: app/page.tsx alterna as 26 visões por switch em activeView; o login é um modal — nada tem URL, histórico ou deep link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③ Identidade no navegador: supabase-auth.ts está morto (0 importadores) e o 'Mestre Admin' entra com um clique no painel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④ Admin para quem quiser: Sidebar expõe o seletor 'Modo' a qualquer visitante e o atalho de Acesso Rápido a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80" y="1536192"/>
            <a:ext cx="4462272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0B1020"/>
                </a:solidFill>
                <a:latin typeface="Arial"/>
              </a:rPr>
              <a:t>ESTADOS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00" b="0">
                <a:solidFill>
                  <a:srgbClr val="0B1020"/>
                </a:solidFill>
                <a:latin typeface="Arial"/>
              </a:rPr>
              <a:t>Sem vazio, carregando, erro e negado: a tela cheia de dados e o fallback INITIAL_* quando a API falha. loading e error coexistem no store sem render.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2834639"/>
            <a:ext cx="4462272" cy="11887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0B1020"/>
                </a:solidFill>
                <a:latin typeface="Arial"/>
              </a:rPr>
              <a:t>UX MORRENDO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00" b="0">
                <a:solidFill>
                  <a:srgbClr val="0B1020"/>
                </a:solidFill>
                <a:latin typeface="Arial"/>
              </a:rPr>
              <a:t>SmartScanView.tsx (356 linhas) sem importador; components/ui/* sem uso; subpastas que só reexportam; GEMINI_API_KEY no .env.example sem uso real.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4133087"/>
            <a:ext cx="4462272" cy="1188720"/>
          </a:xfrm>
          <a:prstGeom prst="roundRect">
            <a:avLst>
              <a:gd name="adj" fmla="val 4500"/>
            </a:avLst>
          </a:prstGeom>
          <a:solidFill>
            <a:srgbClr val="EAEDF2"/>
          </a:solidFill>
          <a:ln w="9525">
            <a:solidFill>
              <a:srgbClr val="EAE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150" b="1">
                <a:solidFill>
                  <a:srgbClr val="0B1020"/>
                </a:solidFill>
                <a:latin typeface="Arial"/>
              </a:rPr>
              <a:t>QUALIDADE VISUAL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00" b="0">
                <a:solidFill>
                  <a:srgbClr val="0B1020"/>
                </a:solidFill>
                <a:latin typeface="Arial"/>
              </a:rPr>
              <a:t>Zero capturas, nenhum teste de teclado, foco/Escape confirmado; responsivo e a11y sem medição — NÃO VERIFICADO não e reprovado.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486400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EA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1">
                <a:solidFill>
                  <a:srgbClr val="0B1020"/>
                </a:solidFill>
                <a:latin typeface="Arial"/>
              </a:rPr>
              <a:t>Ordem de recuperação: rota e URL reais → estados de loading/vazio/erro/acesso negado → remover demo, Modo e o seletor de perfil → só então o design system do guia.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>
                <a:solidFill>
                  <a:srgbClr val="4A5468"/>
                </a:solidFill>
                <a:latin typeface="Arial"/>
              </a:rPr>
              <a:t>Os quatro itens do guia (grafias, acentos, termos e nomes das entidades) continuam sem verificação de nenhum tipo.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182880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QUANTO FALTA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>
                <a:solidFill>
                  <a:srgbClr val="0B1020"/>
                </a:solidFill>
                <a:latin typeface="Arial Black"/>
              </a:rPr>
              <a:t>76 lacunas catalogadas, 0 concluídas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6583680" cy="37490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Frente 1 · identidade e acesso   13 █████████████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Frente 4 · testes e entrega      11 ███████████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Contratos e decisões             11 ███████████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Frente 2 · negócio e catálogo    10 ██████████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Frente 3 · TCC e diagramas        10 ██████████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Dados acadêmicos                  10 ██████████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Higiene de repositório              8 ████████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Bloqueadores P0                     3 ███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/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FALTA 46 · PARCIAL 6 · PENDENTE 22 · BLOQUEADO 2</a:t>
            </a:r>
          </a:p>
          <a:p>
            <a:pPr algn="l">
              <a:lnSpc>
                <a:spcPct val="124000"/>
              </a:lnSpc>
              <a:spcAft>
                <a:spcPts val="300"/>
              </a:spcAft>
            </a:pPr>
            <a:r>
              <a:rPr sz="1150" b="0">
                <a:solidFill>
                  <a:srgbClr val="0B1020"/>
                </a:solidFill>
                <a:latin typeface="Consolas"/>
              </a:rPr>
              <a:t>+6 verificações NÃO VERIFICADO (fora da contagem)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80" y="1600200"/>
            <a:ext cx="4462272" cy="3749039"/>
          </a:xfrm>
          <a:prstGeom prst="roundRect">
            <a:avLst>
              <a:gd name="adj" fmla="val 4500"/>
            </a:avLst>
          </a:prstGeom>
          <a:solidFill>
            <a:srgbClr val="C6F24E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COMO LER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A contagem é por leitura do repositório, não por impressão: cada item aponta arquivo e linha (ou a ausência do arquivo).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O bloco mais cheio é o de identidade — porque dele dependem negócio, comunidade, checkout e entrega.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Nenhum item está marcado como concluído; o que passou em teste virou PARCIAL, nunca FEITO.</a:t>
            </a:r>
          </a:p>
        </p:txBody>
      </p:sp>
    </p:spTree>
  </p:cSld>
  <p:clrMapOvr>
    <a:masterClrMapping/>
  </p:clrMapOvr>
  <p:transition xmlns:p14="http://schemas.microsoft.com/office/powerpoint/2010/main" spd="med" p14:dur="650">
    <p14:morph option="byObj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743200" cy="256032"/>
          </a:xfrm>
          <a:prstGeom prst="rect">
            <a:avLst/>
          </a:prstGeom>
          <a:solidFill>
            <a:srgbClr val="14C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O QUE SÓ A EQUIPE RESPONDE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>
                <a:solidFill>
                  <a:srgbClr val="0B1020"/>
                </a:solidFill>
                <a:latin typeface="Arial Black"/>
              </a:rPr>
              <a:t>Onze decisões travadas, dez dados ausentes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36192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6C4CF1"/>
                </a:solidFill>
                <a:latin typeface="Arial"/>
              </a:rPr>
              <a:t>DECISÕES DA MATRIZ (rascunho, sem ata)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D-01  Lojista é papel de acesso ou vínculo com a loja?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D-02  Supervisor e Admin podem criar loja?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D-03  Quem aprova a verificação de loja?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D-04  Supervisor pode banir conta?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D-05  Supervisor ve a lista de usuários — e quais campos?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D-06  Supervisor ve ou edita pedidos?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D-07  Admin ve financeiro por loja ou agregado?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D-08  Quem administra segredos de integração?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D-09  Como isolar o modo demo: flag, rota ou remover?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D-10  Admin pode se rebaixar ou se excluir?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D-11  Publicar contrato-catálogo.md antes de codar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536192"/>
            <a:ext cx="5486400" cy="3931920"/>
          </a:xfrm>
          <a:prstGeom prst="roundRect">
            <a:avLst>
              <a:gd name="adj" fmla="val 4500"/>
            </a:avLst>
          </a:prstGeom>
          <a:solidFill>
            <a:srgbClr val="ECE8FF"/>
          </a:solidFill>
          <a:ln w="9525">
            <a:solidFill>
              <a:srgbClr val="ECE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FF3B5C"/>
                </a:solidFill>
                <a:latin typeface="Arial"/>
              </a:rPr>
              <a:t>DADOS QUE NINGUÉM PODE PRESUMIR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A-01  Grafia oficial: CoreMotion, CoreMotiom ou Core Motiom?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A-02  Nomes completos dos quatro integrantes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A-03  Instituição, curso, cidade e período reais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A-04  Orientador e coorientador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A-05  Banca, data de defesa e conceito (não fabricar)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A-06  Prazo, duração da defesa e formato dos links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A-07  'Apenas no github.com': código, demo ou ambos?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A-08  Autorização para rotacionar, limpar histórico e publicar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A-09  Segundo PDF de requisitos, se existir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A-10  Consentimento para usar imagens reais da equipe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Folha de aprovação fica em branco até a banca existir.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623560"/>
            <a:ext cx="11274552" cy="548640"/>
          </a:xfrm>
          <a:prstGeom prst="roundRect">
            <a:avLst>
              <a:gd name="adj" fmla="val 9000"/>
            </a:avLst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Arial"/>
              </a:rPr>
              <a:t>Nada aqui trava as outras frentes: registre PENDENTE, siga pelo contrato publicado e volte na decisão quando a equipe bater o martelo.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194560" cy="256032"/>
          </a:xfrm>
          <a:prstGeom prst="rect">
            <a:avLst/>
          </a:prstGeom>
          <a:solidFill>
            <a:srgbClr val="6C4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ORDEM DE EXECUÇÃO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Sete passos — e nada de corrigir antes da lista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36192"/>
            <a:ext cx="694944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128016" tIns="164592" bIns="73152"/>
          <a:lstStyle/>
          <a:p>
            <a:pPr algn="l">
              <a:lnSpc>
                <a:spcPct val="114000"/>
              </a:lnSpc>
              <a:spcAft>
                <a:spcPts val="1300"/>
              </a:spcAft>
            </a:pPr>
            <a:r>
              <a:rPr sz="1350" b="1">
                <a:solidFill>
                  <a:srgbClr val="0B1020"/>
                </a:solidFill>
                <a:latin typeface="Arial"/>
              </a:rPr>
              <a:t>1 · Rotacionar a credencial no Supabase  →  ação humana, sem isso nada se resolve</a:t>
            </a:r>
          </a:p>
          <a:p>
            <a:pPr algn="l">
              <a:lnSpc>
                <a:spcPct val="114000"/>
              </a:lnSpc>
              <a:spcAft>
                <a:spcPts val="1300"/>
              </a:spcAft>
            </a:pPr>
            <a:r>
              <a:rPr sz="1350" b="1">
                <a:solidFill>
                  <a:srgbClr val="0B1020"/>
                </a:solidFill>
                <a:latin typeface="Arial"/>
              </a:rPr>
              <a:t>2 · Helper de sessão e autorização em todas as rotas  →  lote B1</a:t>
            </a:r>
          </a:p>
          <a:p>
            <a:pPr algn="l">
              <a:lnSpc>
                <a:spcPct val="114000"/>
              </a:lnSpc>
              <a:spcAft>
                <a:spcPts val="1300"/>
              </a:spcAft>
            </a:pPr>
            <a:r>
              <a:rPr sz="1350" b="0">
                <a:solidFill>
                  <a:srgbClr val="0B1020"/>
                </a:solidFill>
                <a:latin typeface="Arial"/>
              </a:rPr>
              <a:t>3 · Papéis, migração incremental e RLS  →  B2 e B3, depois de D-01 a D-10</a:t>
            </a:r>
          </a:p>
          <a:p>
            <a:pPr algn="l">
              <a:lnSpc>
                <a:spcPct val="114000"/>
              </a:lnSpc>
              <a:spcAft>
                <a:spcPts val="1300"/>
              </a:spcAft>
            </a:pPr>
            <a:r>
              <a:rPr sz="1350" b="0">
                <a:solidFill>
                  <a:srgbClr val="0B1020"/>
                </a:solidFill>
                <a:latin typeface="Arial"/>
              </a:rPr>
              <a:t>4 · Remover demo, localStorage e o fallback INITIAL_*  →  F0 e F2</a:t>
            </a:r>
          </a:p>
          <a:p>
            <a:pPr algn="l">
              <a:lnSpc>
                <a:spcPct val="114000"/>
              </a:lnSpc>
              <a:spcAft>
                <a:spcPts val="1300"/>
              </a:spcAft>
            </a:pPr>
            <a:r>
              <a:rPr sz="1350" b="0">
                <a:solidFill>
                  <a:srgbClr val="0B1020"/>
                </a:solidFill>
                <a:latin typeface="Arial"/>
              </a:rPr>
              <a:t>5 · Verificação de loja, checkout e estados de UI  →  F1 e F3</a:t>
            </a:r>
          </a:p>
          <a:p>
            <a:pPr algn="l">
              <a:lnSpc>
                <a:spcPct val="114000"/>
              </a:lnSpc>
              <a:spcAft>
                <a:spcPts val="1300"/>
              </a:spcAft>
            </a:pPr>
            <a:r>
              <a:rPr sz="1350" b="0">
                <a:solidFill>
                  <a:srgbClr val="0B1020"/>
                </a:solidFill>
                <a:latin typeface="Arial"/>
              </a:rPr>
              <a:t>6 · Ambiente de teste, plano, execução, relatório e README  →  frente 4</a:t>
            </a:r>
          </a:p>
          <a:p>
            <a:pPr algn="l">
              <a:lnSpc>
                <a:spcPct val="114000"/>
              </a:lnSpc>
              <a:spcAft>
                <a:spcPts val="1300"/>
              </a:spcAft>
            </a:pPr>
            <a:r>
              <a:rPr sz="1350" b="1">
                <a:solidFill>
                  <a:srgbClr val="0B1020"/>
                </a:solidFill>
                <a:latin typeface="Arial"/>
              </a:rPr>
              <a:t>7 · TCC, diagramas, Daily, slides e links  →  frente 3 e fechamento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536192"/>
            <a:ext cx="4096512" cy="1243584"/>
          </a:xfrm>
          <a:prstGeom prst="roundRect">
            <a:avLst>
              <a:gd name="adj" fmla="val 4500"/>
            </a:avLst>
          </a:prstGeom>
          <a:solidFill>
            <a:srgbClr val="FFECEF"/>
          </a:solidFill>
          <a:ln w="9525">
            <a:solidFill>
              <a:srgbClr val="FF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ANTES DO PUSH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Nenhum commit novo enquanto a senha antiga valer; nenhum arquivo de código tocado nesta rodada.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2880360"/>
            <a:ext cx="4096512" cy="1243584"/>
          </a:xfrm>
          <a:prstGeom prst="roundRect">
            <a:avLst>
              <a:gd name="adj" fmla="val 4500"/>
            </a:avLst>
          </a:prstGeom>
          <a:solidFill>
            <a:srgbClr val="C6F24E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DURANTE A RODADA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Cada frente roda lint, type-check e build e registra comando, resultado e limitação na própria pasta.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4224528"/>
            <a:ext cx="4096512" cy="1243584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00" b="1">
                <a:solidFill>
                  <a:srgbClr val="0B1020"/>
                </a:solidFill>
                <a:latin typeface="Arial"/>
              </a:rPr>
              <a:t>ANTES DA DEFESA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sz="1050" b="0">
                <a:solidFill>
                  <a:srgbClr val="0B1020"/>
                </a:solidFill>
                <a:latin typeface="Arial"/>
              </a:rPr>
              <a:t>README reproduzido em ambiente limpo, links abertos em janela anônima e TCC conferido contra o modelo.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623560"/>
            <a:ext cx="11274552" cy="548640"/>
          </a:xfrm>
          <a:prstGeom prst="roundRect">
            <a:avLst>
              <a:gd name="adj" fmla="val 9000"/>
            </a:avLst>
          </a:prstGeom>
          <a:solidFill>
            <a:srgbClr val="EAE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1020"/>
                </a:solidFill>
                <a:latin typeface="Arial"/>
              </a:rPr>
              <a:t>Cada item da lista tem dono, critério de aceite e evidência em docs/etapa-5/PENDÊNCIAS-E-LACUNAS.md.</a:t>
            </a:r>
          </a:p>
        </p:txBody>
      </p:sp>
    </p:spTree>
  </p:cSld>
  <p:clrMapOvr>
    <a:masterClrMapping/>
  </p:clrMapOvr>
  <p:transition xmlns:p14="http://schemas.microsoft.com/office/powerpoint/2010/main"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47472"/>
            <a:ext cx="2468880" cy="256032"/>
          </a:xfrm>
          <a:prstGeom prst="rect">
            <a:avLst/>
          </a:prstGeom>
          <a:solidFill>
            <a:srgbClr val="F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ANIMAÇÕES E TRANSIÇÕES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76656"/>
            <a:ext cx="11274552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0B1020"/>
                </a:solidFill>
                <a:latin typeface="Arial Black"/>
              </a:rPr>
              <a:t>O movimento que a API não escreve — e como obtê-lo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36192"/>
            <a:ext cx="4937760" cy="38404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FF3B5C"/>
                </a:solidFill>
                <a:latin typeface="Arial"/>
              </a:rPr>
              <a:t>O QUE A API EXPÕE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Formas, cores, opacidade, transformações, texto, tabelas, vídeo, z-order e fundo: tudo isso o Google Slides API grava — e foi assim que este deck nasceu.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Transição de slide e animação de objeto não tem request correspondente na API v1 (nem no Apps Script).</a:t>
            </a:r>
          </a:p>
          <a:p>
            <a:pPr algn="l">
              <a:lnSpc>
                <a:spcPct val="124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Por isso nada foi inventado nem simulado: as animações deste PPTX foram gravadas direto no XML da apresentação.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536192"/>
            <a:ext cx="6153912" cy="3840480"/>
          </a:xfrm>
          <a:prstGeom prst="roundRect">
            <a:avLst>
              <a:gd name="adj" fmla="val 4500"/>
            </a:avLst>
          </a:prstGeom>
          <a:solidFill>
            <a:srgbClr val="C6F24E"/>
          </a:solidFill>
          <a:ln w="9525">
            <a:solidFill>
              <a:srgbClr val="C6F2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500"/>
              </a:spcAft>
            </a:pPr>
            <a:r>
              <a:rPr sz="1250" b="1">
                <a:solidFill>
                  <a:srgbClr val="6C4CF1"/>
                </a:solidFill>
                <a:latin typeface="Arial"/>
              </a:rPr>
              <a:t>COMO DAR MOVIMENTO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1 · Este arquivo: transições por slide (Fade, Push, Morph) e entrada por parágrafo a cada clique — definidas no XML.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2 · No Google Slides: Transições → Esmaecer 0,6s → Aplicar a todos os slides (2 min, manual).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3 · Efeito Morph no Slides: duplicar slide, mover as mesmas formas e escolher Dinâmico.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4 · Animação por bloco: menu Animação → Por objeto → Esmaecer 0,4s.</a:t>
            </a:r>
          </a:p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100" b="0">
                <a:solidFill>
                  <a:srgbClr val="0B1020"/>
                </a:solidFill>
                <a:latin typeface="Arial"/>
              </a:rPr>
              <a:t>5 · Atenção: importar PPTX para o Slides costuma descartar animações; apresente no PowerPoint Online para preservá-las.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5623560"/>
            <a:ext cx="11274552" cy="5486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4E7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 b="1">
                <a:solidFill>
                  <a:srgbClr val="0B1020"/>
                </a:solidFill>
                <a:latin typeface="Arial"/>
              </a:rPr>
              <a:t>Regra do guia que continua valendo: movimento é estética, não evidência. Nenhum slide deste deck afirma que algo está concluído.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1645920" y="2011680"/>
            <a:ext cx="4754880" cy="4754880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47472"/>
            <a:ext cx="2011680" cy="256032"/>
          </a:xfrm>
          <a:prstGeom prst="rect">
            <a:avLst/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0B1020"/>
                </a:solidFill>
                <a:latin typeface="Consolas"/>
              </a:rPr>
              <a:t>PRÓXIMO LOTE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66928"/>
            <a:ext cx="11274552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900" b="1">
                <a:solidFill>
                  <a:srgbClr val="0B1020"/>
                </a:solidFill>
                <a:latin typeface="Arial Black"/>
              </a:rPr>
              <a:t>Documentado, nada corrigido — e assim que começa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630168" cy="1783080"/>
          </a:xfrm>
          <a:prstGeom prst="roundRect">
            <a:avLst>
              <a:gd name="adj" fmla="val 6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1 · QUEM TEM ACESSO AO SUPABASE</a:t>
            </a:r>
          </a:p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Rotacionar a senha do banco, revisar logs desde 16/10, mover DATABASE_URL para variavel de ambiente e confirmar para a equipe.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8536" y="1828800"/>
            <a:ext cx="3630168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2 · QUEM ASSINA O TCC</a:t>
            </a:r>
          </a:p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Registrar D-01 a D-11 em ata, decidir a grafia oficial e fornecer nomes, instituição, período e orientador.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828800"/>
            <a:ext cx="3630168" cy="1783080"/>
          </a:xfrm>
          <a:prstGeom prst="roundRect">
            <a:avLst>
              <a:gd name="adj" fmla="val 6000"/>
            </a:avLst>
          </a:prstGeom>
          <a:solidFill>
            <a:srgbClr val="C6F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50" b="1">
                <a:solidFill>
                  <a:srgbClr val="0B1020"/>
                </a:solidFill>
                <a:latin typeface="Consolas"/>
              </a:rPr>
              <a:t>3 · O QUE O ARENA PODE FAZER JÁ</a:t>
            </a:r>
          </a:p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150" b="0">
                <a:solidFill>
                  <a:srgbClr val="0B1020"/>
                </a:solidFill>
                <a:latin typeface="Arial"/>
              </a:rPr>
              <a:t>Executar o lote B1 (sessão e autorização) e abrir os capítulos do TCC com PENDENTE onde faltar dado.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977639"/>
            <a:ext cx="11274552" cy="1051560"/>
          </a:xfrm>
          <a:prstGeom prst="roundRect">
            <a:avLst>
              <a:gd name="adj" fmla="val 6000"/>
            </a:avLst>
          </a:prstGeom>
          <a:solidFill>
            <a:srgbClr val="EC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28016" tIns="91440" bIns="73152"/>
          <a:lstStyle/>
          <a:p>
            <a:pPr algn="l">
              <a:lnSpc>
                <a:spcPct val="116000"/>
              </a:lnSpc>
              <a:spcAft>
                <a:spcPts val="600"/>
              </a:spcAft>
            </a:pPr>
            <a:r>
              <a:rPr sz="1300" b="1">
                <a:solidFill>
                  <a:srgbClr val="0B1020"/>
                </a:solidFill>
                <a:latin typeface="Arial"/>
              </a:rPr>
              <a:t>Retrato do projeto em 19/10/2026 · commit b0827ec · 76 lacunas com arquivo e linha em docs/etapa-5/PENDÊNCIAS-E-LACUNAS.md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0">
                <a:solidFill>
                  <a:srgbClr val="4A5468"/>
                </a:solidFill>
                <a:latin typeface="Arial"/>
              </a:rPr>
              <a:t>Nada neste deck foi corrigido no código: é o ponto de partida para a equipe decidir — e só depois tocar em app/, components/, lib/, services/ ou supabase/.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57800"/>
            <a:ext cx="11274552" cy="8229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46304" rIns="128016" tIns="91440" bIns="73152"/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C6F24E"/>
                </a:solidFill>
                <a:latin typeface="Consolas"/>
              </a:rPr>
              <a:t>COREMOTIOM · ETAPA 5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50" b="0">
                <a:solidFill>
                  <a:srgbClr val="EAEDF2"/>
                </a:solidFill>
                <a:latin typeface="Arial"/>
              </a:rPr>
              <a:t>Obrigatoriedade do TCC: autenticação e autorização por perfis · CRUD de lojas e produtos · checkout · comunidade moderada.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 Black"/>
              </a:rPr>
              <a:t>Obrigado.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" fill="hold">
                      <p:stCondLst>
                        <p:cond delay="indefinite"/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2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2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2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2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2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2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1" build="p"/>
      <p:bldP spid="6" grpId="2" build="p"/>
      <p:bldP spid="7" grpId="3" build="p"/>
      <p:bldP spid="8" grpId="4" build="p"/>
      <p:bldP spid="9" grpId="5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