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(40s): «A gente não veio mostrar um site de tênis. Veio mostrar o lugar onde o corredor compra sem medo, vende sem perder dinheiro e continua depois da compra.»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(60s): três dores que resolvemos — procedência, vitrine do lojista pequeno e preço de revenda. A quarta é a que ninguém resolveu: o corredor compra num lugar e vive o esporte em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(60s): quatro pilares na tela única. Dizer em voz alta que nada aqui é app novo — é o produto que já existe, com a fundação que ainda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Comprador (60s): percorrer os seis passos como narrativa de uso. Se a banca pedir demo ao vivo, avisar que o banco responde 500 no ambiente atual e a vitrine vem do catálogo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Lojista (50s): venda a dor do lojista pequeno. Ele entra pela verificação e fica pelo estoque; as duas peças que faltam estão nomeadas no rodapé.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Confiança (60s): o coração do pitch. Selo, condição, cotação, moderação, reputação e ciclo do pedido — cada um existe no modelo de dados (lib/types.ts).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Papéis (45s): quatro existem, o quinto é exigência do enunciado. Se a banca perguntar por que ainda não está pronto: a decisão D-01 vem antes do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Ecossistema (50s): o que faz o cliente voltar. A view de notícias já está modelada e falta só ligar no menu — trabalho pequeno, efeito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SmartScan (50s): o diferencial. Deixar claro o estado real — componente pronto, fora da navegação, sem histórico de pedidos. É a peça que vira argumento comercial quando entrar no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Arquitetura (45s): responder antes da pergunta — por que não plugar o Supabase agora? Porque a store é a fonte de verdade; primeiro o servidor, depois 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Onde estamos (60s): o slide de credibilidade. Ler a coluna do meio sem rodeios e seguir para o roadmap; é aqui que a banca decide se confia no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(70s): três ondas, ~16 semanas. Reforçar a ordem — fundação segura antes de função nova — e dizer que cada item tem arquivo e linha no documento de pendências.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Riscos (45s): não esconder nenhum. Fechar lembrando que os quatro já estão no inventário, com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Métricas (40s): north star + quatro metas. Não inventar baseline; o que não existe hoje fica PENDENTE no documento e entra em vigor com a onda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Fecho (40s): pedir as três coisas uma por uma e parar de falar. A última frase é a que fica: o produto não pede nota, pede para continuar.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554480" y="-1737360"/>
            <a:ext cx="5669280" cy="56692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4023360"/>
            <a:ext cx="4754880" cy="4754880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47472"/>
            <a:ext cx="329184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PITCH · TCC ETAPA 5 · 19/10/2026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 Black"/>
              </a:rPr>
              <a:t>CoreMotion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67712"/>
            <a:ext cx="786384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C6F24E"/>
                </a:solidFill>
                <a:latin typeface="Arial"/>
              </a:rPr>
              <a:t>O marketplace do corredor: loja verificada, revenda com cotação justa e comunidade no mesmo login.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2615184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4A5468"/>
                </a:solidFill>
                <a:latin typeface="Consolas"/>
              </a:rPr>
              <a:t>PRODUTO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B1020"/>
                </a:solidFill>
                <a:latin typeface="Arial"/>
              </a:rPr>
              <a:t>Marketplace B2C + C2C de corrida e endurance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657600"/>
            <a:ext cx="2615184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4A5468"/>
                </a:solidFill>
                <a:latin typeface="Consolas"/>
              </a:rPr>
              <a:t>MODELO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B1020"/>
                </a:solidFill>
                <a:latin typeface="Arial"/>
              </a:rPr>
              <a:t>Loja verificada, anúncio entre atletas, comunidade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657600"/>
            <a:ext cx="2615184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4A5468"/>
                </a:solidFill>
                <a:latin typeface="Consolas"/>
              </a:rPr>
              <a:t>STACK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B1020"/>
                </a:solidFill>
                <a:latin typeface="Arial"/>
              </a:rPr>
              <a:t>Next.js 15 · TypeScript · Supabase/Postgres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83480"/>
            <a:ext cx="11274552" cy="685800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Equipe: 4 integrantes · orientador e banca a confirmar pela coordenação. Nenhum número de tração é inventado: o que não existe hoje aparece como meta ou como próximo passo.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1828800" cy="256032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Comprar tênis de corrida é um ato de fé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27632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PROCEDÊNCIA INCERTA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Nada prova que o par é original, importado ou recondicionado. O anúncio diz “como novo” e ninguém verifica.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627632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LOJA PEQUENA SEM VITRINE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O lojista de bairro disputa espaço em marketplace generalista: sem página própria, sem selo e sem histórico do cliente.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29584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REVENDA ÀS CEGAS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Quem vende um par de placa de carbono não sabe o preço justo: depende de grupo de WhatsApp e de quem aparece primeiro.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3529584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COMPRAR E TREINAR EM LUGARES SEPARADOS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A compra acontece num site, o treino e a dúvida em outro. Ninguém cria raiz, e o lojista nunca vê o cliente.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38928"/>
            <a:ext cx="11274552" cy="777240"/>
          </a:xfrm>
          <a:prstGeom prst="rect">
            <a:avLst/>
          </a:prstGeom>
          <a:solidFill>
            <a:srgbClr val="ECE8FF"/>
          </a:solidFill>
          <a:ln w="9525">
            <a:solidFill>
              <a:srgbClr val="6C4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B1020"/>
                </a:solidFill>
                <a:latin typeface="Arial"/>
              </a:rPr>
              <a:t>O corredor não quer mais um checkout: quer comprar sem medo e vender sem perder dinheiro.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14:morph option="byObj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A SOLUÇÃO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Um só lugar para comprar, vender e treinar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27632"/>
            <a:ext cx="2706624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VITRINE VERIFICADA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Loja com CNPJ, selo, rating e histórico de vendas visíveis na página do produto.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27632"/>
            <a:ext cx="2706624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B2C + C2C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Estoque da loja e revenda de atleta no mesmo catálogo, com condição, tamanho e cor.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27632"/>
            <a:ext cx="2706624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PEDIDO DE VERDADE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Do carrinho ao rastreio: PIX, cartão ou boleto e o ciclo pagar → separar → entregar.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27632"/>
            <a:ext cx="2706624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COMUNIDADE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Post, comentário, treinador com CREF e atleta buscando patrocínio no mesmo 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41648"/>
            <a:ext cx="11274552" cy="960120"/>
          </a:xfrm>
          <a:prstGeom prst="roundRect">
            <a:avLst>
              <a:gd name="adj" fmla="val 4000"/>
            </a:avLst>
          </a:prstGeom>
          <a:solidFill>
            <a:srgbClr val="ECE8FF"/>
          </a:solidFill>
          <a:ln w="9525">
            <a:solidFill>
              <a:srgbClr val="6C4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COMO SE DIFERENCIA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Marketplace generalista não sabe o que é um tênis de corrida; grupo de WhatsApp não sabe se o par é legítimo. Aqui, condição, procedência, cotação e comunidade estão no mesmo produto.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30368"/>
            <a:ext cx="11274552" cy="640080"/>
          </a:xfrm>
          <a:prstGeom prst="rect">
            <a:avLst/>
          </a:prstGeom>
          <a:solidFill>
            <a:srgbClr val="F1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B1020"/>
                </a:solidFill>
                <a:latin typeface="Arial"/>
              </a:rPr>
              <a:t>Proposta de valor: procedência antes do pagamento e preço antes da revenda.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3017520" cy="256032"/>
          </a:xfrm>
          <a:prstGeom prst="rect">
            <a:avLst/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COMO FUNCIONA · COMPRADOR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Da vitrine ao rastreio, sem sair do 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6393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01 · EXPLORAR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Home com destaques, marcas, categorias e lojas em destaque.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600200"/>
            <a:ext cx="36393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02 · FILTRAR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Marca, esporte, condição, tamanho, preço e busca no catálogo e na loja.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600200"/>
            <a:ext cx="36393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03 · CONFIAR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Página da loja com selo de verificação, rating e total de vendas.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65576"/>
            <a:ext cx="36393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04 · ESCOLHER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Detalhe do produto com tamanho, cor, estoque, vistas e forma de envio.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3465576"/>
            <a:ext cx="36393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05 · PAGAR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Carrinho e checkout com PIX, cartão de crédito ou boleto.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3465576"/>
            <a:ext cx="363931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06 · ACOMPANHAR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Status do pedido: pago, em separação, enviado, entregue — com rastreio.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solidFill>
            <a:srgbClr val="F0FCE8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Leitura honesta: a navegação e o carrinho já existem; sessão, estoque e pedido duráveis são a onda 1 e a onda 2 do roadmap.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834640" cy="25603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COMO FUNCIONA · LOJISTA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Montar a loja leva uma tarde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17627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CRIAR LOJA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Nome, descrição, endereço e logo num modal só.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4056" y="1600200"/>
            <a:ext cx="217627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PEDIR VERIFICAÇÃO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CNPJ, contato e documentos no cadastro; status fica pendente até análise.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0912" y="1600200"/>
            <a:ext cx="217627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PUBLICAR ANÚNCIO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B2C da loja ou C2C do atleta, com marca, condição, cores, tamanhos e estoque.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7" y="1600200"/>
            <a:ext cx="217627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GERIR ESTOQUE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Editar, mudar de ativo a vendido ou suspenso e acompanhar vistas e curtidas.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64624" y="1600200"/>
            <a:ext cx="217627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RECEBER PEDIDO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Pedido entra no ciclo de pagamento e entrega; rating e vendas acompanham.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34840"/>
            <a:ext cx="11274552" cy="1234440"/>
          </a:xfrm>
          <a:prstGeom prst="roundRect">
            <a:avLst>
              <a:gd name="adj" fmla="val 4000"/>
            </a:avLst>
          </a:prstGeom>
          <a:solidFill>
            <a:srgbClr val="ECE8FF"/>
          </a:solidFill>
          <a:ln w="9525">
            <a:solidFill>
              <a:srgbClr val="6C4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O QUE FALTA PARA O LOJISTA DEPENDER DO SITE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Verificação aprovada pelo admin e pedido lido no servidor — ondas 1 e 2.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Monetização projetada: comissão por venda B2C/C2C e destaque de vitrine, com taxa e prazo a validar com a banca.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83464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MECÂNICAS DE CONFIANÇA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68580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 Black"/>
              </a:rPr>
              <a:t>Confiança é a funcionalidade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SELO DE VERIFICAÇÃO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Loja com CNPJ e documentos passa por análise; o selo aparece na vitrine e no produto.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60020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CONDIÇÃO DECLARADA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Novo, como novo, seminovo, usado excelente ou usado bom: o estado vem no anúncio e no filtro.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60020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COTAÇÃO JUSTA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SmartScan liga desgaste de entressola e placa ao preço de mercado e sugere um valor.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57016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MODERAÇÃO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Denúncia em post, bloqueio de usuário e retirada de anúncio sinalizado.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3557016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REPUTAÇÃO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Rating e vendas acumuladas da loja; avaliação do vendedor C2C por quem comprou.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3557016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CICLO DO PEDIDO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pending_payment → paid → preparing → shipped → delivered, com cancelamento registrado.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32120"/>
            <a:ext cx="1127455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9D1E0"/>
                </a:solidFill>
                <a:latin typeface="Arial"/>
              </a:rPr>
              <a:t>Cada item acima tem campo no modelo de dados — não é promessa de slide.</a:t>
            </a:r>
          </a:p>
        </p:txBody>
      </p:sp>
    </p:spTree>
  </p:cSld>
  <p:clrMapOvr>
    <a:masterClrMapping/>
  </p:clrMapOvr>
  <p:transition xmlns:p14="http://schemas.microsoft.com/office/powerpoint/2010/main"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OS PAPÉIS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Quatro papéis hoje, cinco na próxima onda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2377440" cy="658368"/>
          </a:xfrm>
          <a:prstGeom prst="rect">
            <a:avLst/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VISITOR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600200"/>
            <a:ext cx="88056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Navega catálogo, lojas, comunidade e treinadores; não compra nem anuncia.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50008"/>
            <a:ext cx="2377440" cy="658368"/>
          </a:xfrm>
          <a:prstGeom prst="rect">
            <a:avLst/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USUÁRIO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350008"/>
            <a:ext cx="88056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Compra, anuncia em C2C, curte, comenta, avalia e bloqueia quem denuncia.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99815"/>
            <a:ext cx="2377440" cy="658368"/>
          </a:xfrm>
          <a:prstGeom prst="rect">
            <a:avLst/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LOJISTA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3099815"/>
            <a:ext cx="88056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Cria loja, pede verificação, publica anúncio B2C e gerencia estoque e status.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9624"/>
            <a:ext cx="2377440" cy="658368"/>
          </a:xfrm>
          <a:prstGeom prst="rect">
            <a:avLst/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849624"/>
            <a:ext cx="88056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Aprova verificação de loja, modera conteúdo e gerencia usuários (um clique hoje).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99431"/>
            <a:ext cx="2377440" cy="658368"/>
          </a:xfrm>
          <a:prstGeom prst="rect">
            <a:avLst/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SUPERVISOR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599431"/>
            <a:ext cx="880567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Previsto na hierarquia do enunciado e ainda ausente no código: entra na onda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solidFill>
            <a:srgbClr val="F1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B1020"/>
                </a:solidFill>
                <a:latin typeface="Arial"/>
              </a:rPr>
              <a:t>A role hoje mora no registro do usuário; a separação por vínculo loja↔usuário é decisão em aberto (D-01) e entra na onda 1, junto com autorização no servidor.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103120" cy="256032"/>
          </a:xfrm>
          <a:prstGeom prst="rect">
            <a:avLst/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ECOSSISTEMA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A comunidade é o que faz o cliente voltar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27632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COMUNIDADE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Categorias treino, equipamento, evento, dúvida e conquista; curtir, comentar, denunciar e bloquear; badge no autor.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627632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TREINADORES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Perfil com CREF, certificação, valor por hora, disponibilidade e rating: serviço ao lado do produto.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29584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ATLETAS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Conquistas e status de patrocínio (buscando ou patrocinado): ponte natural entre atleta e marca.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3529584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EDITORIAL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Notícia com tempo de leitura e autor; falta ligar a view no menu — conteúdo já modelado.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38928"/>
            <a:ext cx="11274552" cy="731520"/>
          </a:xfrm>
          <a:prstGeom prst="rect">
            <a:avLst/>
          </a:prstGeom>
          <a:solidFill>
            <a:srgbClr val="ECE8FF"/>
          </a:solidFill>
          <a:ln w="9525">
            <a:solidFill>
              <a:srgbClr val="6C4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B1020"/>
                </a:solidFill>
                <a:latin typeface="Arial"/>
              </a:rPr>
              <a:t>Nada aqui depende de fornecedor externo: é o que separa um marketplace de um catálogo com login.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74320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INTELIGÊNCIA DE PRODUTO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8229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 Black"/>
              </a:rPr>
              <a:t>SmartScan: do desgaste ao preço justo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6393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ENTRADA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Modelo, preço praticado, pace do corredor e pisada: o que o atleta já sabe de cabeça.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600200"/>
            <a:ext cx="36393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ANÁLISE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Vida útil da entressola e estado da placa de carbono, com expectativa em km e risco de lesão.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600200"/>
            <a:ext cx="36393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SAÍDA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Cotação justa para venda ou troca, na tela de quem está decidindo, não depois.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94760"/>
            <a:ext cx="11274552" cy="1371600"/>
          </a:xfrm>
          <a:prstGeom prst="roundRect">
            <a:avLst>
              <a:gd name="adj" fmla="val 4000"/>
            </a:avLst>
          </a:prstGeom>
          <a:solidFill>
            <a:srgbClr val="FF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ONDA 3 · AINDA FORA DA NAVEGAÇÃO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O componente está pronto na tela, mas o seletor de views ainda não o expõe e ele não consome histórico de pedidos nem tabela própria. Integrá-lo ao fluxo de venda é o que transforma o recurso em argumento comercial.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6F24E"/>
                </a:solidFill>
                <a:latin typeface="Arial"/>
              </a:rPr>
              <a:t>Não vendemos IA em produção: vendemos a peça pronta que falta encaixar.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194560" cy="256032"/>
          </a:xfrm>
          <a:prstGeom prst="rect">
            <a:avLst/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ARQUITETURA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Feito para virar produto, não maquete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27632"/>
            <a:ext cx="2706624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FRONT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Next.js 15 (App Router), TypeScript estrito, Tailwind; uma view com modal por função.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27632"/>
            <a:ext cx="2706624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SERVIDOR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app/api + app/actions + services; build standalone pronto para rodar em Node.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27632"/>
            <a:ext cx="2706624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DADOS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Postgres no Supabase com RLS; migração versionada e modelos de loja, produto, pedido e post.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627632"/>
            <a:ext cx="2706624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ESTADO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Store React com persistência local: carrinho, pedido e sessão vivem no cliente.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39"/>
            <a:ext cx="11274552" cy="1051560"/>
          </a:xfrm>
          <a:prstGeom prst="roundRect">
            <a:avLst>
              <a:gd name="adj" fmla="val 4000"/>
            </a:avLst>
          </a:prstGeom>
          <a:solidFill>
            <a:srgbClr val="ECE8FF"/>
          </a:solidFill>
          <a:ln w="9525">
            <a:solidFill>
              <a:srgbClr val="6C4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A DECISÃO QUE IMPORTA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Autorização e preço no servidor, store como cache: assim o Supabase real entra sem reescrever a interface. É por isso que a fundação vem antes de qualquer função nova.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30368"/>
            <a:ext cx="11274552" cy="777240"/>
          </a:xfrm>
          <a:prstGeom prst="rect">
            <a:avLst/>
          </a:prstGeom>
          <a:solidFill>
            <a:srgbClr val="EA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Baseline da rodada: npm install 995 pacotes · type-check passa · lint 0 erros / 23 avisos · build passa · GET / 200 · /api/products, /api/stores e /api/users 500.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194560" cy="25603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ONDE ESTAMOS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O que roda, o que falta, o que vem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72768"/>
            <a:ext cx="3639312" cy="3611880"/>
          </a:xfrm>
          <a:prstGeom prst="roundRect">
            <a:avLst>
              <a:gd name="adj" fmla="val 5000"/>
            </a:avLst>
          </a:prstGeom>
          <a:solidFill>
            <a:srgbClr val="F0FCE8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NO AR HOJE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Catálogo com busca, filtros e ordenação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Loja com selo, rating e vitrine própria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Anúncio B2C e C2C com condição, tamanho e cor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Carrinho e checkout com PIX, cartão e boleto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Comunidade, treinadores e notícias na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572768"/>
            <a:ext cx="363931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EM CONSTRUÇÃO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Sessão no cliente, sem cookie httpOnly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Autorização que ainda confia no dado do navegador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Ciclo de pedido no estado, sem leitura no servidor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Verificação sem aprovação pelo admin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RLS sem WITH CHECK nem GRANT restrito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572768"/>
            <a:ext cx="363931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PRÓXIMA ONDA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Supervisor e autorização no servidor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PSP real com webhook e estoque transacional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Comunidade persistida e avaliação com prova de compra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SmartScan dentro do fluxo de venda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CI, testes e observabilidade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ECE8FF"/>
          </a:solidFill>
          <a:ln w="9525">
            <a:solidFill>
              <a:srgbClr val="6C4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0B1020"/>
                </a:solidFill>
                <a:latin typeface="Arial"/>
              </a:rPr>
              <a:t>A coluna do meio não é detalhe: é a base que faz o resto valer. Por ela abre o roadmap.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164592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59436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 Black"/>
              </a:rPr>
              <a:t>Três ondas, uma ordem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72768"/>
            <a:ext cx="363931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ONDA 1 · FUNDAÇÃO SEGURA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A5468"/>
                </a:solidFill>
                <a:latin typeface="Arial"/>
              </a:rPr>
              <a:t>≈ 4 semanas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Sessão em cookie httpOnly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Preço e estoque recalculados no servidor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public.users, RLS com WITH CHECK e GRANT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Rotação da credencial exposta, segredo fora do repo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Papel supervisor e matriz de permissões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572768"/>
            <a:ext cx="363931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ONDA 2 · NEGÓCIO REAL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A5468"/>
                </a:solidFill>
                <a:latin typeface="Arial"/>
              </a:rPr>
              <a:t>≈ 6 semanas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Verificação aprovada por admin, com auditoria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Checkout com PSP real, webhook e idempotência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Pedido, estoque e cancelamento no banco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Comunidade e denúncias persistidas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E-mail transacional de confirmação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3296" y="1572768"/>
            <a:ext cx="363931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ONDA 3 · CRESCIMENTO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A5468"/>
                </a:solidFill>
                <a:latin typeface="Arial"/>
              </a:rPr>
              <a:t>≈ 6 semanas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SmartScan no fluxo de venda e de troca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Avaliações com prova de compra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Busca com facetas e sugestões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CI com type-check, lint e testes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· Observabilidade, rate limit e mobile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94960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C9D1E0"/>
                </a:solidFill>
                <a:latin typeface="Arial"/>
              </a:rPr>
              <a:t>≈ 16 semanas · fundação segura antes de função nova · cada item com arquivo e linha no diagnóstico.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14:morph option="byObj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1554480" cy="256032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RISCOS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Os riscos que aceitamos enfrentar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SEGURANÇA — Credencial exposta no repositório e sessão no navegador → rotação imediata, segredo fora do repo e cookie httpOnly abrem a onda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96312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DADO FALSO — Preço e estoque chegam do cliente → cálculo no servidor, transação e constraint de estoque.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92424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PAGAMENTO — PIX em sandbox, sem webhook → PSP real com estado conciliado, idempotência e reconciliação diária.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88536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ESCALA — Sem índice, CI ou testes → pipeline com type-check, lint e build, índice de busca e smoke de API.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0FCE8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Nenhum dos quatro riscos é descoberto pela banca: todos estão descritos no diagnóstico com arquivo e linha.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1828800" cy="25603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MÉTRICAS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Como medimos se está funcionando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1274552" cy="914400"/>
          </a:xfrm>
          <a:prstGeom prst="rect">
            <a:avLst/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NORTH STAR METRIC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0B1020"/>
                </a:solidFill>
                <a:latin typeface="Arial"/>
              </a:rPr>
              <a:t>Pedidos concluídos por loja verificada — a única métrica que depende de confiança, conversão e receita ao mesmo tempo.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270662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CONVERSÃO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Visita → pedido pago. Baseline a medir nas quatro primeiras semanas.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697480"/>
            <a:ext cx="270662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VERIFICAÇÃO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Meta: menos de 48h entre o pedido do lojista e a aprovação do selo.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97480"/>
            <a:ext cx="270662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RETENÇÃO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Usuário que volta à comunidade em 30 dias; medir após a onda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697480"/>
            <a:ext cx="2706624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COBERTURA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Lojas com selo e anúncios com condição e tamanho preenchidos.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11274552" cy="914400"/>
          </a:xfrm>
          <a:prstGeom prst="rect">
            <a:avLst/>
          </a:prstGeom>
          <a:solidFill>
            <a:srgbClr val="FFF6E5"/>
          </a:solidFill>
          <a:ln w="952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0B1020"/>
                </a:solidFill>
                <a:latin typeface="Arial"/>
              </a:rPr>
              <a:t>Sem baseline inventada: o site ainda não tem tráfego real, então as metas entram em vigor quando a onda 2 liga o banco. O que não sabemos fica marcado como PENDENTE no documento.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49440" y="-2011680"/>
            <a:ext cx="5852160" cy="585216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020"/>
                </a:solidFill>
                <a:latin typeface="Consolas"/>
              </a:rPr>
              <a:t>O PEDIDO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94944"/>
            <a:ext cx="640080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128016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 Black"/>
              </a:rPr>
              <a:t>Agora, pedimos três coisas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72768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VALIDAR A ONDA 1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Sessão, autorização, roles e rotação da credencial antes de qualquer função nova.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572768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APROVAR D-01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Lojista é papel ou vínculo com a loja? A resposta muda tabela, permissão e verificação.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572768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0B1020"/>
                </a:solidFill>
                <a:latin typeface="Consolas"/>
              </a:rPr>
              <a:t>AUTORIZAR DADOS DE TESTE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Para medir conversão e retenção precisamos de tráfego de teste e consentimento no cadastro.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03320"/>
            <a:ext cx="11274552" cy="1371600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B1020"/>
                </a:solidFill>
                <a:latin typeface="Arial Black"/>
              </a:rPr>
              <a:t>CoreMotion não pede uma nota: pede para continuar.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Obrigado — Equipe CoreMotion · TCC Etapa 5 · 19/10/2026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