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(30s).</a:t>
            </a:r>
          </a:p>
          <a:p>
            <a:r>
              <a:t>• Meu nome é [nome] e o CoreMotion é um marketplace esportivo com lojas verificadas, venda entre atletas e custódia financeira.</a:t>
            </a:r>
          </a:p>
          <a:p>
            <a:r>
              <a:t>• A frase-guia: comprar esporte hoje é um ato de fé; o produto transforma confiança em fluxo.</a:t>
            </a:r>
          </a:p>
          <a:p>
            <a:r>
              <a:t>• Prometer 15 minutos e seguir 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(45s).</a:t>
            </a:r>
          </a:p>
          <a:p>
            <a:r>
              <a:t>• Quatro blocos. O primeiro é o mais importante: o problema.</a:t>
            </a:r>
          </a:p>
          <a:p>
            <a:r>
              <a:t>• Se o tempo apertar, cortamos o bloco 3 e mantemos problema, solução 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(2min).</a:t>
            </a:r>
          </a:p>
          <a:p>
            <a:r>
              <a:t>• Conte um caso concreto de compra frustrada, se tiver.</a:t>
            </a:r>
          </a:p>
          <a:p>
            <a:r>
              <a:t>• As três dores: falsificação, dinheiro exposto, atleta sem canal.</a:t>
            </a:r>
          </a:p>
          <a:p>
            <a:r>
              <a:t>• Fechamento: o problema não é oferta, é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AGORA (1min30).</a:t>
            </a:r>
          </a:p>
          <a:p>
            <a:r>
              <a:t>• Três mudanças estruturais — não é tendência passageira.</a:t>
            </a:r>
          </a:p>
          <a:p>
            <a:r>
              <a:t>• Se perguntarem de dados: o deck evita número de mercado sem fonte; ofereça o recorte do seu nicho.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(2min).</a:t>
            </a:r>
          </a:p>
          <a:p>
            <a:r>
              <a:t>• Uma plataforma, uma conta, um checkout.</a:t>
            </a:r>
          </a:p>
          <a:p>
            <a:r>
              <a:t>• A ordem importa: verificação cria confiança; C2C cria giro; custódia protege o dinheiro.</a:t>
            </a:r>
          </a:p>
          <a:p>
            <a:r>
              <a:t>• Não venda como 'mais um marketplace'. É infraestrutura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FUNCIONA (2min).</a:t>
            </a:r>
          </a:p>
          <a:p>
            <a:r>
              <a:t>• Passo 4 é o argumento comercial: o vendedor recebe sem risco de calote e o comprador recebe antes de o dinheiro sair de fato.</a:t>
            </a:r>
          </a:p>
          <a:p>
            <a:r>
              <a:t>• A custódia é o que permite vender C2C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PRODUTO (1min30).</a:t>
            </a:r>
          </a:p>
          <a:p>
            <a:r>
              <a:t>• As telas são wireframes: o objetivo é mostrar a lógica, não o visual final.</a:t>
            </a:r>
          </a:p>
          <a:p>
            <a:r>
              <a:t>• Destaque a tela de custódia: status do dinheiro e do envio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DIFERENCIAL (1min30).</a:t>
            </a:r>
          </a:p>
          <a:p>
            <a:r>
              <a:t>• A frase-chave: confiança não é selo, é fluxo de dinheiro e de informação.</a:t>
            </a:r>
          </a:p>
          <a:p>
            <a:r>
              <a:t>• Verificação sem custódia não protege o pagamento; custódia sem verificação não protege o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(1min30).</a:t>
            </a:r>
          </a:p>
          <a:p>
            <a:r>
              <a:t>• Receita principal é comissão; assinatura de loja e serviços são alavancas.</a:t>
            </a:r>
          </a:p>
          <a:p>
            <a:r>
              <a:t>• Os números do rodapé são exemplo — troque pelos seus antes da banca.</a:t>
            </a:r>
          </a:p>
          <a:p>
            <a:r>
              <a:t>• Se perguntarem de margem: custo dominante é pagamento + suporte de disputa.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POSICIONAMENTO (1min).</a:t>
            </a:r>
          </a:p>
          <a:p>
            <a:r>
              <a:t>• O eixo vertical é confiança; o horizontal é alcance.</a:t>
            </a:r>
          </a:p>
          <a:p>
            <a:r>
              <a:t>• O quadrante superior direito está vazio — é onde o CoreMotion quer estar.</a:t>
            </a:r>
          </a:p>
          <a:p>
            <a:r>
              <a:t>• Não citar concorrentes por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(1min).</a:t>
            </a:r>
          </a:p>
          <a:p>
            <a:r>
              <a:t>• Cada fase responde uma pergunta: dá para vender? dá para confiar? dá para escalar?</a:t>
            </a:r>
          </a:p>
          <a:p>
            <a:r>
              <a:t>• A banca quer saber o que você faz nos próximos 90 dias: foque na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(1min).</a:t>
            </a:r>
          </a:p>
          <a:p>
            <a:r>
              <a:t>• Transparência total: sem métricas de tração ainda.</a:t>
            </a:r>
          </a:p>
          <a:p>
            <a:r>
              <a:t>• O ativo atual é a base técnica e o desenho de produto — reduz risco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(45s).</a:t>
            </a:r>
          </a:p>
          <a:p>
            <a:r>
              <a:t>• Não é 'somos quatro amigos': são quatro responsabilidades com entregáveis.</a:t>
            </a:r>
          </a:p>
          <a:p>
            <a:r>
              <a:t>• Cite rapidamente o que cada um já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(1min30).</a:t>
            </a:r>
          </a:p>
          <a:p>
            <a:r>
              <a:t>• Seja direto: 5 lojas, investimento e dois conselheiros.</a:t>
            </a:r>
          </a:p>
          <a:p>
            <a:r>
              <a:t>• Ajuste R$ 300 mil ao seu plano antes de apresentar.</a:t>
            </a:r>
          </a:p>
          <a:p>
            <a:r>
              <a:t>• Se a banca não puder investir, peça conexão com uma loja.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(30s).</a:t>
            </a:r>
          </a:p>
          <a:p>
            <a:r>
              <a:t>• Pare de falar depois do 'obrigado'. Deixe a banca perguntar.</a:t>
            </a:r>
          </a:p>
          <a:p>
            <a:r>
              <a:t>• Tenha à mão: custo de aquisição, plano de 90 dias e a lista de lojas que já disseram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26679" y="1005840"/>
            <a:ext cx="3977639" cy="3977639"/>
          </a:xfrm>
          <a:prstGeom prst="ellipse">
            <a:avLst/>
          </a:prstGeom>
          <a:solidFill>
            <a:srgbClr val="FF3333"/>
          </a:solidFill>
          <a:ln w="38100">
            <a:solidFill>
              <a:srgbClr val="000000"/>
            </a:solidFill>
          </a:ln>
          <a:effectLst>
            <a:outerShdw blurRad="0" dist="12123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18900000">
            <a:off x="9189720" y="2761488"/>
            <a:ext cx="146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 rot="2700000">
            <a:off x="9509760" y="2377440"/>
            <a:ext cx="146304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 rot="720000">
            <a:off x="10625328" y="4315968"/>
            <a:ext cx="1170432" cy="1170432"/>
          </a:xfrm>
          <a:prstGeom prst="rect">
            <a:avLst/>
          </a:prstGeom>
          <a:solidFill>
            <a:srgbClr val="0066FF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sosceles Triangle 5"/>
          <p:cNvSpPr/>
          <p:nvPr/>
        </p:nvSpPr>
        <p:spPr>
          <a:xfrm>
            <a:off x="6967728" y="4315968"/>
            <a:ext cx="1078992" cy="932688"/>
          </a:xfrm>
          <a:prstGeom prst="triangle">
            <a:avLst/>
          </a:prstGeom>
          <a:solidFill>
            <a:srgbClr val="FFFF00"/>
          </a:solidFill>
          <a:ln w="3175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485632" y="5650992"/>
            <a:ext cx="475488" cy="47548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8-Point Star 7"/>
          <p:cNvSpPr/>
          <p:nvPr/>
        </p:nvSpPr>
        <p:spPr>
          <a:xfrm>
            <a:off x="11228832" y="932688"/>
            <a:ext cx="786384" cy="786384"/>
          </a:xfrm>
          <a:prstGeom prst="star8">
            <a:avLst/>
          </a:prstGeom>
          <a:solidFill>
            <a:srgbClr val="CC00CC"/>
          </a:solidFill>
          <a:ln w="2794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345168" y="1225296"/>
            <a:ext cx="210312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91472" y="1357884"/>
            <a:ext cx="82296" cy="82296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46920" y="1225296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LOJAS VERIFICADAS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03720" y="3163824"/>
            <a:ext cx="1481328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FFFFFF"/>
                </a:solidFill>
                <a:latin typeface="Space Mono"/>
              </a:rPr>
              <a:t>CUSTÓDIA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88752" y="3822191"/>
            <a:ext cx="77724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000000"/>
                </a:solidFill>
                <a:latin typeface="Space Mono"/>
              </a:rPr>
              <a:t>C2C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1481328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000000"/>
                </a:solidFill>
                <a:latin typeface="Space Mono"/>
              </a:rPr>
              <a:t>PITCH · BANCA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1956816"/>
            <a:ext cx="64008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 i="0" spc="-260">
                <a:solidFill>
                  <a:srgbClr val="000000"/>
                </a:solidFill>
                <a:latin typeface="DM Sans"/>
              </a:rPr>
              <a:t>CoreMotion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054096"/>
            <a:ext cx="1691640" cy="100584"/>
          </a:xfrm>
          <a:prstGeom prst="rect">
            <a:avLst/>
          </a:prstGeom>
          <a:solidFill>
            <a:srgbClr val="FF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3346704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-40">
                <a:solidFill>
                  <a:srgbClr val="000000"/>
                </a:solidFill>
                <a:latin typeface="DM Sans"/>
              </a:rPr>
              <a:t>O ponto de encontro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40">
                <a:solidFill>
                  <a:srgbClr val="000000"/>
                </a:solidFill>
                <a:latin typeface="DM Sans"/>
              </a:rPr>
              <a:t>do esporte de alta performance.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700016"/>
            <a:ext cx="6126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333333"/>
                </a:solidFill>
                <a:latin typeface="Space Mono"/>
              </a:rPr>
              <a:t>MARKETPLACE · LOJAS VERIFICADAS · CUSTÓDIA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5760720"/>
            <a:ext cx="5989320" cy="45720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96112" y="5760720"/>
            <a:ext cx="56692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FFFFFF"/>
                </a:solidFill>
                <a:latin typeface="Space Mono"/>
              </a:rPr>
              <a:t>APRESENTADO POR [SEU NOME] · [CIDADE], 2026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CAPA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01 / 15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5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65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65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65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650" fill="hold"/>
                                        <p:tgtEl>
                                          <p:spTgt spid="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26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3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4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1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4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48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700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80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9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Quinze minutos, quatro blocos. Sem slide de história da empresa.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560320"/>
            <a:ext cx="2542032" cy="303580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9264" y="2816352"/>
            <a:ext cx="749808" cy="749808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8163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50">
                <a:solidFill>
                  <a:srgbClr val="000000"/>
                </a:solidFill>
                <a:latin typeface="Space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803904"/>
            <a:ext cx="2057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spc="-40">
                <a:solidFill>
                  <a:srgbClr val="000000"/>
                </a:solidFill>
                <a:latin typeface="DM Sans"/>
              </a:rPr>
              <a:t>O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443984"/>
            <a:ext cx="202996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Por que comprar e vender esporte ainda é inseguro.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724912" y="5230368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560320"/>
            <a:ext cx="2542032" cy="303580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12464" y="2816352"/>
            <a:ext cx="749808" cy="74980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712464" y="28163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5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3803904"/>
            <a:ext cx="2057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spc="-40">
                <a:solidFill>
                  <a:srgbClr val="000000"/>
                </a:solidFill>
                <a:latin typeface="DM Sans"/>
              </a:rPr>
              <a:t>A solução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2464" y="4443984"/>
            <a:ext cx="202996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As três camadas que fazem o CoreMotion funcionar.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468112" y="5230368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99632" y="2560320"/>
            <a:ext cx="2542032" cy="303580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55664" y="2816352"/>
            <a:ext cx="749808" cy="749808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55664" y="28163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50">
                <a:solidFill>
                  <a:srgbClr val="000000"/>
                </a:solidFill>
                <a:latin typeface="Space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803904"/>
            <a:ext cx="2057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spc="-40">
                <a:solidFill>
                  <a:srgbClr val="000000"/>
                </a:solidFill>
                <a:latin typeface="DM Sans"/>
              </a:rPr>
              <a:t>O negócio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443984"/>
            <a:ext cx="202996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Como a plataforma ganha dinheiro e escala.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8211312" y="5230368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942832" y="2560320"/>
            <a:ext cx="2542032" cy="303580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198863" y="2816352"/>
            <a:ext cx="749808" cy="74980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98863" y="28163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50">
                <a:solidFill>
                  <a:srgbClr val="000000"/>
                </a:solidFill>
                <a:latin typeface="Space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3" y="3803904"/>
            <a:ext cx="2057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 spc="-40">
                <a:solidFill>
                  <a:srgbClr val="000000"/>
                </a:solidFill>
                <a:latin typeface="DM Sans"/>
              </a:rPr>
              <a:t>A 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4443984"/>
            <a:ext cx="202996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Onde estamos e o que precisamos de você.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10954512" y="5230368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549640" y="5870448"/>
            <a:ext cx="2907792" cy="329184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49640" y="5870448"/>
            <a:ext cx="290779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000000"/>
                </a:solidFill>
                <a:latin typeface="Space Mono"/>
              </a:rPr>
              <a:t>PITCH PARA BANCA · COREMOTION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Box 170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AGENDA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02 / 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4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9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0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6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1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3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9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4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0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5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1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6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7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33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8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44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4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495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55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605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98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Comprar esporte ainda é um ato de fé.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487168"/>
            <a:ext cx="3401568" cy="2999232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13232" y="2487168"/>
            <a:ext cx="3401568" cy="164592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87552" y="2871216"/>
            <a:ext cx="896112" cy="896112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43584" y="3127248"/>
            <a:ext cx="384048" cy="3840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87552" y="4005072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spc="-40">
                <a:solidFill>
                  <a:srgbClr val="000000"/>
                </a:solidFill>
                <a:latin typeface="DM Sans"/>
              </a:rPr>
              <a:t>Falsificação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48056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Réplica vendida como original. Sem verificação de loja, de catálogo ou de histórico.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487168"/>
            <a:ext cx="3401568" cy="2999232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89120" y="2487168"/>
            <a:ext cx="3401568" cy="164592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663440" y="2871216"/>
            <a:ext cx="896112" cy="896112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Isosceles Triangle 12"/>
          <p:cNvSpPr/>
          <p:nvPr/>
        </p:nvSpPr>
        <p:spPr>
          <a:xfrm>
            <a:off x="4882896" y="3090672"/>
            <a:ext cx="457200" cy="45720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3440" y="4005072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spc="-40">
                <a:solidFill>
                  <a:srgbClr val="000000"/>
                </a:solidFill>
                <a:latin typeface="DM Sans"/>
              </a:rPr>
              <a:t>Dinheiro exposto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48056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Pix direto para o vendedor: se a peça não chega, o prejuízo inteiro é do atleta.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7" y="2487168"/>
            <a:ext cx="3401568" cy="2999232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65007" y="2487168"/>
            <a:ext cx="3401568" cy="16459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339327" y="2871216"/>
            <a:ext cx="896112" cy="89611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Diamond 18"/>
          <p:cNvSpPr/>
          <p:nvPr/>
        </p:nvSpPr>
        <p:spPr>
          <a:xfrm>
            <a:off x="8586215" y="3118104"/>
            <a:ext cx="402336" cy="402336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39327" y="4005072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spc="-40">
                <a:solidFill>
                  <a:srgbClr val="000000"/>
                </a:solidFill>
                <a:latin typeface="DM Sans"/>
              </a:rPr>
              <a:t>Atleta invisível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448056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Quem vende usado não tem canal confiável. Quem procura não sabe em quem confiar.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5705856"/>
            <a:ext cx="10762488" cy="512064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705856"/>
            <a:ext cx="1024128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FFFFFF"/>
                </a:solidFill>
                <a:latin typeface="Space Mono"/>
              </a:rPr>
              <a:t>O ATLETA COMPRA NO ESCURO. A LOJA VENDE SEM ALCANCE. O DINHEIRO FICA NO MEIO.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O PROBLEMA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03 / 15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1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7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25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8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35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9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" dur="5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00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POR QUE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Três mudanças abriram essa janela.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O mercado não precisa de mais um catálogo. Precisa de confiança.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4871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246888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esporte virou consumo de identidade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16352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Equipamento deixou de ser acessório: é pertencimento, performance e status.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solidFill>
            <a:srgbClr val="0066FF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62102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602736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atleta virou mídia e 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950208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Comunidades e redes criam demanda qualificada todos os dias, de graça.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solidFill>
            <a:srgbClr val="00CC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47548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000000"/>
                </a:solidFill>
                <a:latin typeface="Space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4736592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30">
                <a:solidFill>
                  <a:srgbClr val="000000"/>
                </a:solidFill>
                <a:latin typeface="DM Sans"/>
              </a:rPr>
              <a:t>O pagamento amadureceu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084064"/>
            <a:ext cx="4983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Pix, verificação digital e custódia permitem segurar o valor até a entrega.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5358384"/>
            <a:ext cx="4709160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967728" y="4398264"/>
            <a:ext cx="841248" cy="960120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46720" y="3877056"/>
            <a:ext cx="841248" cy="148132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25712" y="3364992"/>
            <a:ext cx="841248" cy="199339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0204704" y="2816352"/>
            <a:ext cx="841248" cy="254203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20840" y="5650992"/>
            <a:ext cx="36118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40">
                <a:solidFill>
                  <a:srgbClr val="000000"/>
                </a:solidFill>
                <a:latin typeface="Space Mono"/>
              </a:rPr>
              <a:t>CONFIANÇA É O GARGALO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POR QUE AGORA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04 / 15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6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72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6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81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7" dur="6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0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6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9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6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1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" dur="45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Uma plataforma, três camadas.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camada resolve uma das dores — e todas compartilham o mesmo checkout.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3401568" cy="3218688"/>
          </a:xfrm>
          <a:prstGeom prst="rect">
            <a:avLst/>
          </a:prstGeom>
          <a:solidFill>
            <a:srgbClr val="FF3333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87552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16152" y="2935224"/>
            <a:ext cx="329184" cy="32918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01952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Lojas verificadas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Selo em três camadas: documento, histórico e catálogo. Só loja aprovada vende.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43000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DOCUMENTO + CNPJ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HISTÓRICO DE VENDAS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CATÁLOGO AUDITADO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2432304"/>
            <a:ext cx="3401568" cy="3218688"/>
          </a:xfrm>
          <a:prstGeom prst="rect">
            <a:avLst/>
          </a:prstGeom>
          <a:solidFill>
            <a:srgbClr val="FFFF00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663440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sosceles Triangle 18"/>
          <p:cNvSpPr/>
          <p:nvPr/>
        </p:nvSpPr>
        <p:spPr>
          <a:xfrm>
            <a:off x="4855464" y="2898648"/>
            <a:ext cx="402336" cy="40233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00000"/>
                </a:solidFill>
                <a:latin typeface="Space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000000"/>
                </a:solidFill>
                <a:latin typeface="DM Sans"/>
              </a:rPr>
              <a:t>Venda entre atletas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DM Sans"/>
              </a:rPr>
              <a:t>C2C com reputação, fotos guiadas e mediação de disputa. O usado tem garantia.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5189220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818888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PERFIL COM REPUTAÇÃO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2583" y="5335524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FOTOS GUIADAS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72583" y="5481828"/>
            <a:ext cx="64008" cy="640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18888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000000"/>
                </a:solidFill>
                <a:latin typeface="Space Mono"/>
              </a:rPr>
              <a:t>MEDIAÇÃO DE DISPUTA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7" y="2432304"/>
            <a:ext cx="3401568" cy="3218688"/>
          </a:xfrm>
          <a:prstGeom prst="rect">
            <a:avLst/>
          </a:prstGeom>
          <a:solidFill>
            <a:srgbClr val="0066FF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39327" y="2706624"/>
            <a:ext cx="786384" cy="7863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Diamond 30"/>
          <p:cNvSpPr/>
          <p:nvPr/>
        </p:nvSpPr>
        <p:spPr>
          <a:xfrm>
            <a:off x="8549640" y="2916936"/>
            <a:ext cx="365760" cy="365760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53728" y="276148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Space Mon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7" y="3694176"/>
            <a:ext cx="2788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-60">
                <a:solidFill>
                  <a:srgbClr val="FFFFFF"/>
                </a:solidFill>
                <a:latin typeface="DM Sans"/>
              </a:rPr>
              <a:t>Custódia financeira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7" y="4480560"/>
            <a:ext cx="2761488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DM Sans"/>
              </a:rPr>
              <a:t>O valor fica retido até a entrega confirmada. Depois, o repasse é automático.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8471" y="5189220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94776" y="513892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VALOR RETIDO NO PIX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8471" y="5335524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94776" y="5285232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PRAZO DE CONFERÊNCIA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8471" y="5481828"/>
            <a:ext cx="64008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494776" y="5431536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80">
                <a:solidFill>
                  <a:srgbClr val="FFFFFF"/>
                </a:solidFill>
                <a:latin typeface="Space Mono"/>
              </a:rPr>
              <a:t>REPASSE AUTOMÁTICO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3232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CATÁLOGO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852928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UMA REPUTAÇÃO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735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992624" y="5852160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000000"/>
                </a:solidFill>
                <a:latin typeface="Space Mono"/>
              </a:rPr>
              <a:t>UM CAIXA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TextBox 252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A SOLUÇÃO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05 / 15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ectangle 259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Rectangle 260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ectangle 261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ectangle 262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Rectangle 263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Rectangle 264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Rectangle 265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ectangle 266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ectangle 267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ectangle 268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Rectangle 269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Rectangle 270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Rectangle 271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4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3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2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1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66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0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7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9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84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88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3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97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02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6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11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15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2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45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29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335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138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425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47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515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156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1605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1650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1695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174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1785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1830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1875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105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2" fill="hold">
                      <p:stCondLst>
                        <p:cond delay="1130"/>
                      </p:stCondLst>
                      <p:childTnLst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1210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anúncio ao repasse, em quatro passos.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615184"/>
            <a:ext cx="1001268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13232" y="2331720"/>
            <a:ext cx="585216" cy="585216"/>
          </a:xfrm>
          <a:prstGeom prst="ellipse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Anuncia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Loja verificada ou atleta publica com fotos guiadas e histórico.</a:t>
            </a:r>
          </a:p>
        </p:txBody>
      </p:sp>
      <p:sp>
        <p:nvSpPr>
          <p:cNvPr id="9" name="Oval 8"/>
          <p:cNvSpPr/>
          <p:nvPr/>
        </p:nvSpPr>
        <p:spPr>
          <a:xfrm>
            <a:off x="3438144" y="2331720"/>
            <a:ext cx="585216" cy="585216"/>
          </a:xfrm>
          <a:prstGeom prst="ellipse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38144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Checkout único: Pix ou cartão, com o valor em custódia.</a:t>
            </a:r>
          </a:p>
        </p:txBody>
      </p:sp>
      <p:sp>
        <p:nvSpPr>
          <p:cNvPr id="13" name="Oval 12"/>
          <p:cNvSpPr/>
          <p:nvPr/>
        </p:nvSpPr>
        <p:spPr>
          <a:xfrm>
            <a:off x="6163056" y="2331720"/>
            <a:ext cx="585216" cy="585216"/>
          </a:xfrm>
          <a:prstGeom prst="ellipse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63056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Recebe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Envio rastreado e prazo de conferência para o comprador.</a:t>
            </a:r>
          </a:p>
        </p:txBody>
      </p:sp>
      <p:sp>
        <p:nvSpPr>
          <p:cNvPr id="17" name="Oval 16"/>
          <p:cNvSpPr/>
          <p:nvPr/>
        </p:nvSpPr>
        <p:spPr>
          <a:xfrm>
            <a:off x="8887967" y="2331720"/>
            <a:ext cx="585216" cy="585216"/>
          </a:xfrm>
          <a:prstGeom prst="ellipse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87967" y="233172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40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3" y="3108960"/>
            <a:ext cx="23317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-30">
                <a:solidFill>
                  <a:srgbClr val="000000"/>
                </a:solidFill>
                <a:latin typeface="DM Sans"/>
              </a:rPr>
              <a:t>Libera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3" y="3474720"/>
            <a:ext cx="2267712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333333"/>
                </a:solidFill>
                <a:latin typeface="DM Sans"/>
              </a:rPr>
              <a:t>Entrega confirmada, repasse liberado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4590288"/>
            <a:ext cx="10762488" cy="132588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0976" y="477316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FF3333"/>
                </a:solidFill>
                <a:latin typeface="Space Mono"/>
              </a:rPr>
              <a:t>CUSTÓDIA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029200"/>
            <a:ext cx="13258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o dinheiro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3333"/>
                </a:solidFill>
                <a:latin typeface="DM Sans"/>
              </a:rPr>
              <a:t>anda sozinho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395728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Pix aprovado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4315968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626864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Valor retido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6547104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8000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0000"/>
                </a:solidFill>
                <a:latin typeface="DM Sans"/>
              </a:rPr>
              <a:t>Entrega confirmada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8778240" y="5221224"/>
            <a:ext cx="219456" cy="219456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89136" y="4828032"/>
            <a:ext cx="1847088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DM Sans"/>
              </a:rPr>
              <a:t>Repasse liberado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COMO FUNCIONA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06 / 15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44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50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56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6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74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80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86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92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98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1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11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22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28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90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100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0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08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14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0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6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2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1380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14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150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156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62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1680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produto por dentro.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Fluxos desenhados para reduzir dúvida em cada tela.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542032"/>
            <a:ext cx="5532120" cy="331012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5495544" cy="31089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96112" y="2670048"/>
            <a:ext cx="100584" cy="100584"/>
          </a:xfrm>
          <a:prstGeom prst="ellipse">
            <a:avLst/>
          </a:prstGeom>
          <a:solidFill>
            <a:srgbClr val="FF3333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8992" y="2670048"/>
            <a:ext cx="100584" cy="100584"/>
          </a:xfrm>
          <a:prstGeom prst="ellipse">
            <a:avLst/>
          </a:prstGeom>
          <a:solidFill>
            <a:srgbClr val="FFFF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61872" y="2670048"/>
            <a:ext cx="100584" cy="100584"/>
          </a:xfrm>
          <a:prstGeom prst="ellipse">
            <a:avLst/>
          </a:prstGeom>
          <a:solidFill>
            <a:srgbClr val="00CC0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69264" y="3108960"/>
            <a:ext cx="1143000" cy="237744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9264" y="3438144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69264" y="3694176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69264" y="3950208"/>
            <a:ext cx="1783080" cy="164592"/>
          </a:xfrm>
          <a:prstGeom prst="rect">
            <a:avLst/>
          </a:prstGeom>
          <a:solidFill>
            <a:srgbClr val="F0F0F0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69264" y="4370831"/>
            <a:ext cx="2148840" cy="292608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69264" y="4736592"/>
            <a:ext cx="2148840" cy="292608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69264" y="5102351"/>
            <a:ext cx="2148840" cy="29260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410712" y="3090672"/>
            <a:ext cx="2578608" cy="2487168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566160" y="3255263"/>
            <a:ext cx="2267712" cy="1335024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566160" y="4700016"/>
            <a:ext cx="1115568" cy="1828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566160" y="5010912"/>
            <a:ext cx="2267712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0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675120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315200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803136" y="2926080"/>
            <a:ext cx="1645920" cy="932688"/>
          </a:xfrm>
          <a:prstGeom prst="rect">
            <a:avLst/>
          </a:prstGeom>
          <a:solidFill>
            <a:srgbClr val="00CC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803136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803136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803136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803136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803136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803136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3680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PÁGINA VERIFICADA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487168"/>
            <a:ext cx="2084831" cy="35295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70848" y="2633472"/>
            <a:ext cx="1901952" cy="3236976"/>
          </a:xfrm>
          <a:prstGeom prst="rect">
            <a:avLst/>
          </a:prstGeom>
          <a:solidFill>
            <a:srgbClr val="F0F0F0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710928" y="2724912"/>
            <a:ext cx="621792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198864" y="2926080"/>
            <a:ext cx="1645920" cy="932688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198864" y="3968496"/>
            <a:ext cx="1005840" cy="146304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98864" y="4206240"/>
            <a:ext cx="1645920" cy="1371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198864" y="4480560"/>
            <a:ext cx="822960" cy="256032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198864" y="4882896"/>
            <a:ext cx="164592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198864" y="5120640"/>
            <a:ext cx="1097280" cy="1188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198864" y="5431536"/>
            <a:ext cx="1645920" cy="329184"/>
          </a:xfrm>
          <a:prstGeom prst="rect">
            <a:avLst/>
          </a:prstGeom>
          <a:solidFill>
            <a:srgbClr val="000000"/>
          </a:solidFill>
          <a:ln w="1778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79408" y="6108192"/>
            <a:ext cx="2084831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CUSTÓDIA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943600"/>
            <a:ext cx="55321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CATÁLOGO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TextBox 239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PRODUTO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07 / 15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ectangle 249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Rectangle 250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ectangle 251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ectangle 254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Rectangle 255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5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45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4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495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52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545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59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62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645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67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695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45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7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640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67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70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73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76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79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82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85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880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91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9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97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100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103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06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109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112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115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9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118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1210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124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127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115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Confiança não é um selo. É um fluxo.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68880"/>
            <a:ext cx="3931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80">
                <a:solidFill>
                  <a:srgbClr val="FF3333"/>
                </a:solidFill>
                <a:latin typeface="Space Mono"/>
              </a:rPr>
              <a:t>VERIFICAÇÃO · 3 CAMADAS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34640"/>
            <a:ext cx="493776" cy="493776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834640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0720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00000"/>
                </a:solidFill>
                <a:latin typeface="DM Sans"/>
              </a:rPr>
              <a:t>Documento e CNPJ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36392"/>
            <a:ext cx="33101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33333"/>
                </a:solidFill>
                <a:latin typeface="DM Sans"/>
              </a:rPr>
              <a:t>Existência real, sócio responsável e dados bancários.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840480"/>
            <a:ext cx="493776" cy="493776"/>
          </a:xfrm>
          <a:prstGeom prst="rect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40480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8130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00000"/>
                </a:solidFill>
                <a:latin typeface="DM Sans"/>
              </a:rPr>
              <a:t>Histórico de vendas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42232"/>
            <a:ext cx="33101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33333"/>
                </a:solidFill>
                <a:latin typeface="DM Sans"/>
              </a:rPr>
              <a:t>Tempo de operação, volume e taxa de disputa.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846320"/>
            <a:ext cx="493776" cy="493776"/>
          </a:xfrm>
          <a:prstGeom prst="rect">
            <a:avLst/>
          </a:prstGeom>
          <a:solidFill>
            <a:srgbClr val="00CC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4846320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888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00000"/>
                </a:solidFill>
                <a:latin typeface="DM Sans"/>
              </a:rPr>
              <a:t>Catálogo auditado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48072"/>
            <a:ext cx="331012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33333"/>
                </a:solidFill>
                <a:latin typeface="DM Sans"/>
              </a:rPr>
              <a:t>Marcas, procedência e amostra de produtos.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340864"/>
            <a:ext cx="3246120" cy="3712463"/>
          </a:xfrm>
          <a:prstGeom prst="rect">
            <a:avLst/>
          </a:prstGeom>
          <a:solidFill>
            <a:srgbClr val="000000"/>
          </a:solidFill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02352" y="2542032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FFFF00"/>
                </a:solidFill>
                <a:latin typeface="Space Mono"/>
              </a:rPr>
              <a:t>CUSTÓDIA · 4 ESTADOS</a:t>
            </a:r>
          </a:p>
        </p:txBody>
      </p:sp>
      <p:sp>
        <p:nvSpPr>
          <p:cNvPr id="19" name="Oval 18"/>
          <p:cNvSpPr/>
          <p:nvPr/>
        </p:nvSpPr>
        <p:spPr>
          <a:xfrm>
            <a:off x="5102352" y="2926080"/>
            <a:ext cx="164592" cy="164592"/>
          </a:xfrm>
          <a:prstGeom prst="ellipse">
            <a:avLst/>
          </a:prstGeom>
          <a:solidFill>
            <a:srgbClr val="FF3333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76672" y="2852928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Pago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3108960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CCCCCC"/>
                </a:solidFill>
                <a:latin typeface="DM Sans"/>
              </a:rPr>
              <a:t>valor entra na conta custodial</a:t>
            </a:r>
          </a:p>
        </p:txBody>
      </p:sp>
      <p:sp>
        <p:nvSpPr>
          <p:cNvPr id="22" name="Oval 21"/>
          <p:cNvSpPr/>
          <p:nvPr/>
        </p:nvSpPr>
        <p:spPr>
          <a:xfrm>
            <a:off x="5102352" y="3675888"/>
            <a:ext cx="164592" cy="164592"/>
          </a:xfrm>
          <a:prstGeom prst="ellipse">
            <a:avLst/>
          </a:prstGeom>
          <a:solidFill>
            <a:srgbClr val="FFFF00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76672" y="3602736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Retido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385876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CCCCCC"/>
                </a:solidFill>
                <a:latin typeface="DM Sans"/>
              </a:rPr>
              <a:t>comprador confirma o recebimento</a:t>
            </a:r>
          </a:p>
        </p:txBody>
      </p:sp>
      <p:sp>
        <p:nvSpPr>
          <p:cNvPr id="25" name="Oval 24"/>
          <p:cNvSpPr/>
          <p:nvPr/>
        </p:nvSpPr>
        <p:spPr>
          <a:xfrm>
            <a:off x="5102352" y="4425696"/>
            <a:ext cx="164592" cy="164592"/>
          </a:xfrm>
          <a:prstGeom prst="ellipse">
            <a:avLst/>
          </a:prstGeom>
          <a:solidFill>
            <a:srgbClr val="0066FF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376672" y="4352544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Em trânsito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608576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CCCCCC"/>
                </a:solidFill>
                <a:latin typeface="DM Sans"/>
              </a:rPr>
              <a:t>prazo de conferência aberto</a:t>
            </a:r>
          </a:p>
        </p:txBody>
      </p:sp>
      <p:sp>
        <p:nvSpPr>
          <p:cNvPr id="28" name="Oval 27"/>
          <p:cNvSpPr/>
          <p:nvPr/>
        </p:nvSpPr>
        <p:spPr>
          <a:xfrm>
            <a:off x="5102352" y="5175504"/>
            <a:ext cx="164592" cy="164592"/>
          </a:xfrm>
          <a:prstGeom prst="ellipse">
            <a:avLst/>
          </a:prstGeom>
          <a:solidFill>
            <a:srgbClr val="00CC00"/>
          </a:solidFill>
          <a:ln w="177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376672" y="5102352"/>
            <a:ext cx="2514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Liberado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6672" y="5358384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CCCCCC"/>
                </a:solidFill>
                <a:latin typeface="DM Sans"/>
              </a:rPr>
              <a:t>repasse automático ao vendedor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2340864"/>
            <a:ext cx="3200400" cy="3712463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31352" y="2578608"/>
            <a:ext cx="274320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80">
                <a:solidFill>
                  <a:srgbClr val="000000"/>
                </a:solidFill>
                <a:latin typeface="DM Sans"/>
              </a:rPr>
              <a:t>Ninguém faz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80">
                <a:solidFill>
                  <a:srgbClr val="000000"/>
                </a:solidFill>
                <a:latin typeface="DM Sans"/>
              </a:rPr>
              <a:t>os dois juntos.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31352" y="3401568"/>
            <a:ext cx="269748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333"/>
                </a:solidFill>
                <a:latin typeface="DM Sans"/>
              </a:rPr>
              <a:t>Marketplaces têm alcance e não verificam. Lojas têm confiança e não têm tráfego de atleta.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31352" y="4462272"/>
            <a:ext cx="1874519" cy="292608"/>
          </a:xfrm>
          <a:prstGeom prst="rect">
            <a:avLst/>
          </a:prstGeom>
          <a:solidFill>
            <a:srgbClr val="FF3333"/>
          </a:solidFill>
          <a:ln w="2286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531352" y="4462272"/>
            <a:ext cx="1874519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FFFFFF"/>
                </a:solidFill>
                <a:latin typeface="Space Mono"/>
              </a:rPr>
              <a:t>VERIFICAÇÃO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31352" y="4846320"/>
            <a:ext cx="1874519" cy="292608"/>
          </a:xfrm>
          <a:prstGeom prst="rect">
            <a:avLst/>
          </a:prstGeom>
          <a:solidFill>
            <a:srgbClr val="00CC00"/>
          </a:solidFill>
          <a:ln w="2286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531352" y="4846320"/>
            <a:ext cx="1874519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000000"/>
                </a:solidFill>
                <a:latin typeface="Space Mono"/>
              </a:rPr>
              <a:t>REPUTAÇÃO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31352" y="5230368"/>
            <a:ext cx="1874519" cy="292608"/>
          </a:xfrm>
          <a:prstGeom prst="rect">
            <a:avLst/>
          </a:prstGeom>
          <a:solidFill>
            <a:srgbClr val="0066FF"/>
          </a:solidFill>
          <a:ln w="2286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531352" y="5230368"/>
            <a:ext cx="1874519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FFFFFF"/>
                </a:solidFill>
                <a:latin typeface="Space Mono"/>
              </a:rPr>
              <a:t>CUSTÓDIA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31352" y="5614416"/>
            <a:ext cx="2697480" cy="310896"/>
          </a:xfrm>
          <a:prstGeom prst="rect">
            <a:avLst/>
          </a:prstGeom>
          <a:solidFill>
            <a:srgbClr val="000000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531352" y="5614416"/>
            <a:ext cx="26974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40">
                <a:solidFill>
                  <a:srgbClr val="FFFFFF"/>
                </a:solidFill>
                <a:latin typeface="Space Mono"/>
              </a:rPr>
              <a:t>OS TRÊS JUNTOS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DIFERENCIAL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08 / 15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ectangle 231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Rectangle 232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Rectangle 233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ectangle 234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ectangle 235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ectangle 236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ectangle 237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Rectangle 238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ectangle 241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1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6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6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1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6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1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6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1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6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1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6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5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60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6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72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775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83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885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940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995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1050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1105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116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1215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127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325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90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100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1060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112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1180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124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130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1360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9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142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1360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1" dur="420" fill="hold"/>
                                        <p:tgtEl>
                                          <p:spTgt spid="4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144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3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MODELO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Como o dinheiro entra.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Receita no fluxo, não em mensalidade do atleta.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2414016"/>
            <a:ext cx="3401568" cy="146304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Comissão por venda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6% a 10% do valor da transação, descontados no repasse.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9264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6–10%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9264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RECEITA 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89120" y="2414016"/>
            <a:ext cx="3401568" cy="146304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45152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Destaque de loja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Assinatura mensal para vitrine, selo e prioridade na busca.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45152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R$ 99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solidFill>
            <a:srgbClr val="FFFF00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000000"/>
                </a:solidFill>
                <a:latin typeface="Space Mono"/>
              </a:rPr>
              <a:t>RECORRENTE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007" y="2414016"/>
            <a:ext cx="3401568" cy="248716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65007" y="2414016"/>
            <a:ext cx="3401568" cy="146304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21039" y="2688336"/>
            <a:ext cx="2788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spc="-40">
                <a:solidFill>
                  <a:srgbClr val="000000"/>
                </a:solidFill>
                <a:latin typeface="DM Sans"/>
              </a:rPr>
              <a:t>Serviços esportivos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072384"/>
            <a:ext cx="278892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333"/>
                </a:solidFill>
                <a:latin typeface="DM Sans"/>
              </a:rPr>
              <a:t>Fotografia, laudo de autenticidade e eventos com parceiros.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39" y="3749039"/>
            <a:ext cx="2606040" cy="1097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21039" y="3877056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Space Mono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solidFill>
            <a:srgbClr val="0066FF"/>
          </a:solidFill>
          <a:ln w="2032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21039" y="4389120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 spc="100">
                <a:solidFill>
                  <a:srgbClr val="FFFFFF"/>
                </a:solidFill>
                <a:latin typeface="Space Mono"/>
              </a:rPr>
              <a:t>EXPANSÃO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120640"/>
            <a:ext cx="10762488" cy="1078992"/>
          </a:xfrm>
          <a:prstGeom prst="rect">
            <a:avLst/>
          </a:prstGeom>
          <a:solidFill>
            <a:srgbClr val="0000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20">
                <a:solidFill>
                  <a:srgbClr val="FFFF00"/>
                </a:solidFill>
                <a:latin typeface="Space Mono"/>
              </a:rPr>
              <a:t>EXEMPLO ILUSTRATIVO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FF"/>
                </a:solidFill>
                <a:latin typeface="DM Sans"/>
              </a:rPr>
              <a:t>R$ 480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TICKET MÉDIO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0912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FFFF00"/>
                </a:solidFill>
                <a:latin typeface="DM Sans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0912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TAKE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87183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00CC00"/>
                </a:solidFill>
                <a:latin typeface="DM Sans"/>
              </a:rPr>
              <a:t>R$ 38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87183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RECEITA / PEDIDO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5321808"/>
            <a:ext cx="1874519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spc="-50">
                <a:solidFill>
                  <a:srgbClr val="CCCCCC"/>
                </a:solidFill>
                <a:latin typeface="DM Sans"/>
              </a:rPr>
              <a:t>R$ 60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5742432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100">
                <a:solidFill>
                  <a:srgbClr val="CCCCCC"/>
                </a:solidFill>
                <a:latin typeface="Space Mono"/>
              </a:rPr>
              <a:t>CAC ALVO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TextBox 198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MODELO DE NEGÓCIO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09 / 15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5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5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5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0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5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0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5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5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1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0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4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25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3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85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2" dur="600" fill="hold"/>
                                        <p:tgtEl>
                                          <p:spTgt spid="2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95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00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105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110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1150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1200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25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130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1350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POSICIONAMENTO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Onde ninguém está.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139696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073652" y="2139696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904487"/>
            <a:ext cx="3360420" cy="176479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073652" y="3904487"/>
            <a:ext cx="336042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13232" y="2139696"/>
            <a:ext cx="6720840" cy="3529584"/>
          </a:xfrm>
          <a:prstGeom prst="rect">
            <a:avLst/>
          </a:prstGeom>
          <a:noFill/>
          <a:ln w="33020">
            <a:solidFill>
              <a:srgbClr val="000000"/>
            </a:solidFill>
          </a:ln>
          <a:effectLst>
            <a:outerShdw blurRad="0" dist="10776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064508" y="2139696"/>
            <a:ext cx="18288" cy="35295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13232" y="3895344"/>
            <a:ext cx="672084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073652" y="2139696"/>
            <a:ext cx="502920" cy="91440"/>
          </a:xfrm>
          <a:prstGeom prst="rect">
            <a:avLst/>
          </a:prstGeom>
          <a:solidFill>
            <a:srgbClr val="FFFF00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42631" y="3401568"/>
            <a:ext cx="91440" cy="502920"/>
          </a:xfrm>
          <a:prstGeom prst="rect">
            <a:avLst/>
          </a:prstGeom>
          <a:solidFill>
            <a:srgbClr val="0066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28031" y="5797295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ALCANCE E TRÁFEGO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7232903" y="5833871"/>
            <a:ext cx="201168" cy="201168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190195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333333"/>
                </a:solidFill>
                <a:latin typeface="Space Mono"/>
              </a:rPr>
              <a:t>CONFIANÇA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749808" y="1865376"/>
            <a:ext cx="182880" cy="18288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091232" y="3097987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56408" y="3079699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lojas próprias</a:t>
            </a:r>
          </a:p>
        </p:txBody>
      </p:sp>
      <p:sp>
        <p:nvSpPr>
          <p:cNvPr id="19" name="Oval 18"/>
          <p:cNvSpPr/>
          <p:nvPr/>
        </p:nvSpPr>
        <p:spPr>
          <a:xfrm>
            <a:off x="2763316" y="4862779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28492" y="4844491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classificados</a:t>
            </a:r>
          </a:p>
        </p:txBody>
      </p:sp>
      <p:sp>
        <p:nvSpPr>
          <p:cNvPr id="21" name="Oval 20"/>
          <p:cNvSpPr/>
          <p:nvPr/>
        </p:nvSpPr>
        <p:spPr>
          <a:xfrm>
            <a:off x="4510735" y="3980383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40411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75911" y="3962095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DM Sans"/>
              </a:rPr>
              <a:t>marketplaces genéricos</a:t>
            </a:r>
          </a:p>
        </p:txBody>
      </p:sp>
      <p:sp>
        <p:nvSpPr>
          <p:cNvPr id="23" name="8-Point Star 22"/>
          <p:cNvSpPr/>
          <p:nvPr/>
        </p:nvSpPr>
        <p:spPr>
          <a:xfrm>
            <a:off x="5959144" y="2792211"/>
            <a:ext cx="530352" cy="530352"/>
          </a:xfrm>
          <a:prstGeom prst="star8">
            <a:avLst/>
          </a:prstGeom>
          <a:solidFill>
            <a:srgbClr val="FFFF00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123736" y="2956803"/>
            <a:ext cx="201168" cy="201168"/>
          </a:xfrm>
          <a:prstGeom prst="ellipse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solidFill>
            <a:srgbClr val="FF3333"/>
          </a:solidFill>
          <a:ln w="2540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74512" y="2362443"/>
            <a:ext cx="1499616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2432304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156448" y="237744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Marketplaces genéricos têm alcance, mas não verificam quem vende.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3657600"/>
            <a:ext cx="164592" cy="164592"/>
          </a:xfrm>
          <a:prstGeom prst="rect">
            <a:avLst/>
          </a:prstGeom>
          <a:solidFill>
            <a:srgbClr val="FFFFFF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56448" y="3602736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DM Sans"/>
              </a:rPr>
              <a:t>Lojas próprias têm confiança, mas não têm tráfego de atleta.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4882896"/>
            <a:ext cx="164592" cy="164592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156448" y="4828032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DM Sans"/>
              </a:rPr>
              <a:t>CoreMotion junta os dois — e ainda segura o dinheiro.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POSICIONAMENTO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10 / 15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28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3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3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4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5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4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46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8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48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52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61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70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7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56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65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74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90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96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105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1120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4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120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28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136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4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144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4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152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Do MVP à escala.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Quatro fases, cada uma com uma pergunta a responder.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5614416"/>
            <a:ext cx="10762488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13232" y="3739896"/>
            <a:ext cx="2011680" cy="1874519"/>
          </a:xfrm>
          <a:prstGeom prst="rect">
            <a:avLst/>
          </a:prstGeom>
          <a:solidFill>
            <a:srgbClr val="FF3333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392277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19709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52628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MVP: catálogo, verificação manual e custódia.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3255263"/>
            <a:ext cx="2011680" cy="2359152"/>
          </a:xfrm>
          <a:prstGeom prst="rect">
            <a:avLst/>
          </a:prstGeom>
          <a:solidFill>
            <a:srgbClr val="FFFF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02736" y="3438144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PRÓXIMO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3712463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4041648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Checkout completo, reputação e painel da loja.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779775"/>
            <a:ext cx="2011680" cy="2834640"/>
          </a:xfrm>
          <a:prstGeom prst="rect">
            <a:avLst/>
          </a:prstGeom>
          <a:solidFill>
            <a:srgbClr val="00CC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2962656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000000"/>
                </a:solidFill>
                <a:latin typeface="Space Mono"/>
              </a:rPr>
              <a:t>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36975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0000"/>
                </a:solidFill>
                <a:latin typeface="DM Sans"/>
              </a:rPr>
              <a:t>Fase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566159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DM Sans"/>
              </a:rPr>
              <a:t>App do atleta, disputas e logística parceira.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3103" y="2304287"/>
            <a:ext cx="2011680" cy="3310128"/>
          </a:xfrm>
          <a:prstGeom prst="rect">
            <a:avLst/>
          </a:prstGeom>
          <a:solidFill>
            <a:srgbClr val="0066FF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015983" y="2487168"/>
            <a:ext cx="1600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60">
                <a:solidFill>
                  <a:srgbClr val="FFFFFF"/>
                </a:solidFill>
                <a:latin typeface="Space Mono"/>
              </a:rPr>
              <a:t>ESCALA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3" y="2761487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DM Sans"/>
              </a:rPr>
              <a:t>Fase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3" y="3090671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DM Sans"/>
              </a:rPr>
              <a:t>Expansão regional e serviços esportivos.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ROADMAP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11 / 15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50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62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74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80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8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86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89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92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95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98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10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04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107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10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113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ONDE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que já existe, de verdade.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432304"/>
            <a:ext cx="3401568" cy="237744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69264" y="2688336"/>
            <a:ext cx="731520" cy="731520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70432" y="2889504"/>
            <a:ext cx="329184" cy="32918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847088" y="2889504"/>
            <a:ext cx="20116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40">
                <a:solidFill>
                  <a:srgbClr val="000000"/>
                </a:solidFill>
                <a:latin typeface="DM Sans"/>
              </a:rPr>
              <a:t>Produto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657600"/>
            <a:ext cx="28346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Fluxos de catálogo, loja e checkout desenhados; identidade visual e telas definidas.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432304"/>
            <a:ext cx="3401568" cy="237744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645152" y="2688336"/>
            <a:ext cx="731520" cy="731520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Hexagon 10"/>
          <p:cNvSpPr/>
          <p:nvPr/>
        </p:nvSpPr>
        <p:spPr>
          <a:xfrm>
            <a:off x="4809744" y="2852928"/>
            <a:ext cx="402336" cy="402336"/>
          </a:xfrm>
          <a:prstGeom prst="hexagon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22976" y="2889504"/>
            <a:ext cx="20116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40">
                <a:solidFill>
                  <a:srgbClr val="000000"/>
                </a:solidFill>
                <a:latin typeface="DM Sans"/>
              </a:rPr>
              <a:t>Técnica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657600"/>
            <a:ext cx="28346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Next.js 15 + TypeScript + Supabase. Build e type-check passando no repositório.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7" y="2432304"/>
            <a:ext cx="3401568" cy="2377440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321039" y="2688336"/>
            <a:ext cx="731520" cy="731520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Diamond 15"/>
          <p:cNvSpPr/>
          <p:nvPr/>
        </p:nvSpPr>
        <p:spPr>
          <a:xfrm>
            <a:off x="8503919" y="2871216"/>
            <a:ext cx="365760" cy="365760"/>
          </a:xfrm>
          <a:prstGeom prst="diamond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98863" y="2889504"/>
            <a:ext cx="20116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40">
                <a:solidFill>
                  <a:srgbClr val="000000"/>
                </a:solidFill>
                <a:latin typeface="DM Sans"/>
              </a:rPr>
              <a:t>Operação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3657600"/>
            <a:ext cx="28346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Quatro frentes independentes, com contratos de integração escritos.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047488"/>
            <a:ext cx="10762488" cy="1078992"/>
          </a:xfrm>
          <a:prstGeom prst="rect">
            <a:avLst/>
          </a:prstGeom>
          <a:solidFill>
            <a:srgbClr val="000000"/>
          </a:solidFill>
          <a:ln w="30480">
            <a:solidFill>
              <a:srgbClr val="000000"/>
            </a:solidFill>
          </a:ln>
          <a:effectLst>
            <a:outerShdw blurRad="0" dist="94293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9264" y="521208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DM Sans"/>
              </a:rPr>
              <a:t>Ainda sem tração medida. O que existe é base técnica, produto desenhado e plano de execução — e é exatamente isso que queremos validar com você.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ONDE ESTAMOS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12 / 15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1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7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QUEM EXECUTA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Quatro frentes, uma entrega.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66543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3333"/>
                </a:solidFill>
                <a:latin typeface="DM Sans"/>
              </a:rPr>
              <a:t>Cada frente responde pelo próprio estado, sem esperar liberação.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92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Identidade &amp;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Sessão, papéis, permissões e painel administrativo.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Catálogo &amp;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Lojas, produtos, checkout e regras de comissão.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solidFill>
            <a:srgbClr val="00CC00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55664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Documento &amp; diagramas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Requisitos, arquitetura e material de apresentação.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42832" y="2432304"/>
            <a:ext cx="2542032" cy="2761488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>
            <a:outerShdw blurRad="0" dist="5388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98863" y="2688336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000000"/>
                </a:solidFill>
                <a:latin typeface="Space Mono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3" y="367588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30">
                <a:solidFill>
                  <a:srgbClr val="000000"/>
                </a:solidFill>
                <a:latin typeface="DM Sans"/>
              </a:rPr>
              <a:t>Verificação &amp; 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3" y="4352544"/>
            <a:ext cx="20574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333333"/>
                </a:solidFill>
                <a:latin typeface="DM Sans"/>
              </a:rPr>
              <a:t>Ambiente de testes, QA e critérios de aceite.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449824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333333"/>
                </a:solidFill>
                <a:latin typeface="DM Sans"/>
              </a:rPr>
              <a:t>Nomes e mini-bios entram na versão final deste slide.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QUEM EXECUTA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13 / 15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ectangle 157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ectangle 158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Rectangle 160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ectangle 161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ectangle 164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5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1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6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2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7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3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8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4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9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5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1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7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2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8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3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9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4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0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1024128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40">
                <a:solidFill>
                  <a:srgbClr val="FF3333"/>
                </a:solidFill>
                <a:latin typeface="Space Mono"/>
              </a:rPr>
              <a:t>// O PEDIDO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spc="-110">
                <a:solidFill>
                  <a:srgbClr val="000000"/>
                </a:solidFill>
                <a:latin typeface="DM Sans"/>
              </a:rPr>
              <a:t>O que precisamos para os próximos 90 dias.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432304"/>
            <a:ext cx="3401568" cy="26151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13232" y="2432304"/>
            <a:ext cx="3401568" cy="146304"/>
          </a:xfrm>
          <a:prstGeom prst="rect">
            <a:avLst/>
          </a:prstGeom>
          <a:solidFill>
            <a:srgbClr val="FF3333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9264" y="2706624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80">
                <a:solidFill>
                  <a:srgbClr val="333333"/>
                </a:solidFill>
                <a:latin typeface="Space Mono"/>
              </a:rPr>
              <a:t>REDE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980944"/>
            <a:ext cx="283464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 spc="-90">
                <a:solidFill>
                  <a:srgbClr val="000000"/>
                </a:solidFill>
                <a:latin typeface="DM Sans"/>
              </a:rPr>
              <a:t>Piloto com 5 lojas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767328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Acesso a lojas esportivas para validar verificação e custódia com vendas reais.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432304"/>
            <a:ext cx="3401568" cy="26151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89120" y="2432304"/>
            <a:ext cx="3401568" cy="146304"/>
          </a:xfrm>
          <a:prstGeom prst="rect">
            <a:avLst/>
          </a:prstGeom>
          <a:solidFill>
            <a:srgbClr val="FFFF00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5152" y="2706624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80">
                <a:solidFill>
                  <a:srgbClr val="333333"/>
                </a:solidFill>
                <a:latin typeface="Space Mono"/>
              </a:rPr>
              <a:t>INVESTIMENTO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980944"/>
            <a:ext cx="283464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 spc="-90">
                <a:solidFill>
                  <a:srgbClr val="000000"/>
                </a:solidFill>
                <a:latin typeface="DM Sans"/>
              </a:rPr>
              <a:t>R$ 300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767328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Produto, operação e marketing do piloto. Ajuste o valor ao seu plano.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7" y="2432304"/>
            <a:ext cx="3401568" cy="2615184"/>
          </a:xfrm>
          <a:prstGeom prst="rect">
            <a:avLst/>
          </a:prstGeom>
          <a:solidFill>
            <a:srgbClr val="FFFFFF"/>
          </a:solidFill>
          <a:ln w="2794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65007" y="2432304"/>
            <a:ext cx="3401568" cy="146304"/>
          </a:xfrm>
          <a:prstGeom prst="rect">
            <a:avLst/>
          </a:prstGeom>
          <a:solidFill>
            <a:srgbClr val="0066FF"/>
          </a:solidFill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21039" y="2706624"/>
            <a:ext cx="26517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80">
                <a:solidFill>
                  <a:srgbClr val="333333"/>
                </a:solidFill>
                <a:latin typeface="Space Mono"/>
              </a:rPr>
              <a:t>MENTORIA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2980944"/>
            <a:ext cx="283464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 spc="-90">
                <a:solidFill>
                  <a:srgbClr val="000000"/>
                </a:solidFill>
                <a:latin typeface="DM Sans"/>
              </a:rPr>
              <a:t>Dois conselheiros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3767328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333333"/>
                </a:solidFill>
                <a:latin typeface="DM Sans"/>
              </a:rPr>
              <a:t>Marketplace e operação de pagamentos, com uma conversa por mês.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321808"/>
            <a:ext cx="10762488" cy="566928"/>
          </a:xfrm>
          <a:prstGeom prst="rect">
            <a:avLst/>
          </a:prstGeom>
          <a:solidFill>
            <a:srgbClr val="000000"/>
          </a:solidFill>
          <a:ln w="30480">
            <a:solidFill>
              <a:srgbClr val="000000"/>
            </a:solidFill>
          </a:ln>
          <a:effectLst>
            <a:outerShdw blurRad="0" dist="80822" dir="2700000" algn="ctr" rotWithShape="0">
              <a:srgbClr val="000000">
                <a:alpha val="10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321808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 spc="80">
                <a:solidFill>
                  <a:srgbClr val="FFFFFF"/>
                </a:solidFill>
                <a:latin typeface="Space Mono"/>
              </a:rPr>
              <a:t>META DO PILOTO · 5 LOJAS · 300 PEDIDOS · 100% COM CUSTÓDIA · 90 DIAS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3333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000000"/>
                </a:solidFill>
                <a:latin typeface="Space Mono"/>
              </a:rPr>
              <a:t>COREMOTION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333333"/>
                </a:solidFill>
                <a:latin typeface="Space Mono"/>
              </a:rPr>
              <a:t>O PEDIDO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000000"/>
                </a:solidFill>
                <a:latin typeface="Space Mono"/>
              </a:rPr>
              <a:t>14 / 15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55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1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6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7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3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8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9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5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1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7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2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2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75320" y="960120"/>
            <a:ext cx="3154680" cy="3154680"/>
          </a:xfrm>
          <a:prstGeom prst="ellipse">
            <a:avLst/>
          </a:prstGeom>
          <a:solidFill>
            <a:srgbClr val="FF6666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 rot="21000000">
            <a:off x="7178040" y="4526280"/>
            <a:ext cx="1234440" cy="1234440"/>
          </a:xfrm>
          <a:prstGeom prst="rect">
            <a:avLst/>
          </a:prstGeom>
          <a:solidFill>
            <a:srgbClr val="3399FF"/>
          </a:solidFill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8-Point Star 3"/>
          <p:cNvSpPr/>
          <p:nvPr/>
        </p:nvSpPr>
        <p:spPr>
          <a:xfrm>
            <a:off x="10561320" y="4160520"/>
            <a:ext cx="868680" cy="868680"/>
          </a:xfrm>
          <a:prstGeom prst="star8">
            <a:avLst/>
          </a:prstGeom>
          <a:solidFill>
            <a:srgbClr val="FF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464040" y="5532120"/>
            <a:ext cx="566928" cy="566928"/>
          </a:xfrm>
          <a:prstGeom prst="rect">
            <a:avLst/>
          </a:prstGeom>
          <a:solidFill>
            <a:srgbClr val="00CC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4-Point Star 5"/>
          <p:cNvSpPr/>
          <p:nvPr/>
        </p:nvSpPr>
        <p:spPr>
          <a:xfrm>
            <a:off x="6903720" y="1005840"/>
            <a:ext cx="640080" cy="640080"/>
          </a:xfrm>
          <a:prstGeom prst="star4">
            <a:avLst/>
          </a:prstGeom>
          <a:solidFill>
            <a:srgbClr val="CC0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298448"/>
            <a:ext cx="59436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60">
                <a:solidFill>
                  <a:srgbClr val="FFFF33"/>
                </a:solidFill>
                <a:latin typeface="Space Mono"/>
              </a:rPr>
              <a:t>COREMOTION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37360"/>
            <a:ext cx="731520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200" b="1" i="0" spc="-320">
                <a:solidFill>
                  <a:srgbClr val="FFFFFF"/>
                </a:solidFill>
                <a:latin typeface="DM Sans"/>
              </a:rPr>
              <a:t>Obrigado.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60350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Vamos construir o ponto de encontro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CCCCC"/>
                </a:solidFill>
                <a:latin typeface="DM Sans"/>
              </a:rPr>
              <a:t>do esporte de alta performance?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" y="4261104"/>
            <a:ext cx="1417320" cy="91440"/>
          </a:xfrm>
          <a:prstGeom prst="rect">
            <a:avLst/>
          </a:prstGeom>
          <a:solidFill>
            <a:srgbClr val="FF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45537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 spc="80">
                <a:solidFill>
                  <a:srgbClr val="FFFFFF"/>
                </a:solidFill>
                <a:latin typeface="Space Mono"/>
              </a:rPr>
              <a:t>[SEU@EMAIL.COM] · [TELEFONE] · [SITE]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760720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9A9A"/>
                </a:solidFill>
                <a:latin typeface="DM Sans"/>
              </a:rPr>
              <a:t>Obrigado pela leitura. Perguntas, agora.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" y="365760"/>
            <a:ext cx="137160" cy="137160"/>
          </a:xfrm>
          <a:prstGeom prst="rect">
            <a:avLst/>
          </a:prstGeom>
          <a:solidFill>
            <a:srgbClr val="FF6666"/>
          </a:solidFill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60120" y="347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60">
                <a:solidFill>
                  <a:srgbClr val="FFFFFF"/>
                </a:solidFill>
                <a:latin typeface="Space Mono"/>
              </a:rPr>
              <a:t>COREMOTION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347472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40">
                <a:solidFill>
                  <a:srgbClr val="CCCCCC"/>
                </a:solidFill>
                <a:latin typeface="Space Mono"/>
              </a:rPr>
              <a:t>OBRIGADO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347472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FFFF"/>
                </a:solidFill>
                <a:latin typeface="Space Mono"/>
              </a:rPr>
              <a:t>15 / 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3232" y="731520"/>
            <a:ext cx="10762488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71323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125730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180136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234543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288950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43357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977639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452170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5065776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5609844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6153912" y="6419088"/>
            <a:ext cx="475488" cy="68580"/>
          </a:xfrm>
          <a:prstGeom prst="rect">
            <a:avLst/>
          </a:prstGeom>
          <a:solidFill>
            <a:srgbClr val="FF333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6697980" y="6419088"/>
            <a:ext cx="475488" cy="68580"/>
          </a:xfrm>
          <a:prstGeom prst="rect">
            <a:avLst/>
          </a:prstGeom>
          <a:solidFill>
            <a:srgbClr val="FFFF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7242048" y="6419088"/>
            <a:ext cx="475488" cy="68580"/>
          </a:xfrm>
          <a:prstGeom prst="rect">
            <a:avLst/>
          </a:prstGeom>
          <a:solidFill>
            <a:srgbClr val="0066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7786115" y="6419088"/>
            <a:ext cx="475488" cy="68580"/>
          </a:xfrm>
          <a:prstGeom prst="rect">
            <a:avLst/>
          </a:prstGeom>
          <a:solidFill>
            <a:srgbClr val="00CC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8330183" y="6419088"/>
            <a:ext cx="475488" cy="68580"/>
          </a:xfrm>
          <a:prstGeom prst="rect">
            <a:avLst/>
          </a:prstGeom>
          <a:solidFill>
            <a:srgbClr val="CC00C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0" y="6766560"/>
            <a:ext cx="12191695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7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1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20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2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0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7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86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CoreMotion — Pitch para banca</dc:title>
  <dc:subject>Marketplace esportivo de alta performance</dc:subject>
  <dc:creator>CoreMotion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