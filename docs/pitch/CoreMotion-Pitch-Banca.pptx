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(30s).</a:t>
            </a:r>
          </a:p>
          <a:p>
            <a:r>
              <a:t>• Meu nome é [nome] e o CoreMotion é um marketplace esportivo com lojas verificadas, venda entre atletas e custódia financeira.</a:t>
            </a:r>
          </a:p>
          <a:p>
            <a:r>
              <a:t>• A frase-guia: comprar esporte hoje é um ato de fé; o produto transforma confiança em fluxo.</a:t>
            </a:r>
          </a:p>
          <a:p>
            <a:r>
              <a:t>• Prometer 15 minutos e seguir a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(45s).</a:t>
            </a:r>
          </a:p>
          <a:p>
            <a:r>
              <a:t>• Quatro blocos. O primeiro é o mais importante: o problema.</a:t>
            </a:r>
          </a:p>
          <a:p>
            <a:r>
              <a:t>• Se o tempo apertar, cortamos o bloco 3 e mantemos problema, solução e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(2min).</a:t>
            </a:r>
          </a:p>
          <a:p>
            <a:r>
              <a:t>• Conte um caso concreto de compra frustrada, se tiver.</a:t>
            </a:r>
          </a:p>
          <a:p>
            <a:r>
              <a:t>• As três dores: falsificação, dinheiro exposto, atleta sem canal.</a:t>
            </a:r>
          </a:p>
          <a:p>
            <a:r>
              <a:t>• Fechamento: o problema não é oferta, é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AGORA (1min30).</a:t>
            </a:r>
          </a:p>
          <a:p>
            <a:r>
              <a:t>• Três mudanças estruturais — não é tendência passageira.</a:t>
            </a:r>
          </a:p>
          <a:p>
            <a:r>
              <a:t>• Se perguntarem de dados: o deck evita número de mercado sem fonte; ofereça o recorte do seu nicho.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(2min).</a:t>
            </a:r>
          </a:p>
          <a:p>
            <a:r>
              <a:t>• Uma plataforma, uma conta, um checkout.</a:t>
            </a:r>
          </a:p>
          <a:p>
            <a:r>
              <a:t>• A ordem importa: verificação cria confiança; C2C cria giro; custódia protege o dinheiro.</a:t>
            </a:r>
          </a:p>
          <a:p>
            <a:r>
              <a:t>• Não venda como 'mais um marketplace'. É infraestrutura de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FUNCIONA (2min).</a:t>
            </a:r>
          </a:p>
          <a:p>
            <a:r>
              <a:t>• Passo 4 é o argumento comercial: o vendedor recebe sem risco de calote e o comprador recebe antes de o dinheiro sair de fato.</a:t>
            </a:r>
          </a:p>
          <a:p>
            <a:r>
              <a:t>• A custódia é o que permite vender C2C com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PRODUTO (1min30).</a:t>
            </a:r>
          </a:p>
          <a:p>
            <a:r>
              <a:t>• As telas são wireframes: o objetivo é mostrar a lógica, não o visual final.</a:t>
            </a:r>
          </a:p>
          <a:p>
            <a:r>
              <a:t>• Destaque a tela de custódia: status do dinheiro e do envio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DIFERENCIAL (1min30).</a:t>
            </a:r>
          </a:p>
          <a:p>
            <a:r>
              <a:t>• A frase-chave: confiança não é selo, é fluxo de dinheiro e de informação.</a:t>
            </a:r>
          </a:p>
          <a:p>
            <a:r>
              <a:t>• Verificação sem custódia não protege o pagamento; custódia sem verificação não protege o produto.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MODELO (1min30).</a:t>
            </a:r>
          </a:p>
          <a:p>
            <a:r>
              <a:t>• Receita principal é comissão; assinatura de loja e serviços são alavancas.</a:t>
            </a:r>
          </a:p>
          <a:p>
            <a:r>
              <a:t>• Os números do rodapé são exemplo — troque pelos seus antes da banca.</a:t>
            </a:r>
          </a:p>
          <a:p>
            <a:r>
              <a:t>• Se perguntarem de margem: custo dominante é pagamento + suporte de disputa.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POSICIONAMENTO (1min).</a:t>
            </a:r>
          </a:p>
          <a:p>
            <a:r>
              <a:t>• O eixo vertical é confiança; o horizontal é alcance.</a:t>
            </a:r>
          </a:p>
          <a:p>
            <a:r>
              <a:t>• O quadrante superior direito está vazio — é onde o CoreMotion quer estar.</a:t>
            </a:r>
          </a:p>
          <a:p>
            <a:r>
              <a:t>• Não citar concorrentes por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(1min).</a:t>
            </a:r>
          </a:p>
          <a:p>
            <a:r>
              <a:t>• Cada fase responde uma pergunta: dá para vender? dá para confiar? dá para escalar?</a:t>
            </a:r>
          </a:p>
          <a:p>
            <a:r>
              <a:t>• A banca quer saber o que você faz nos próximos 90 dias: foque na Fase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ESTAMOS (1min).</a:t>
            </a:r>
          </a:p>
          <a:p>
            <a:r>
              <a:t>• Seja honesto: ainda não há tração medida.</a:t>
            </a:r>
          </a:p>
          <a:p>
            <a:r>
              <a:t>• O ativo é base técnica, produto desenhado e plano de execução.</a:t>
            </a:r>
          </a:p>
          <a:p>
            <a:r>
              <a:t>• O piloto existe para transformar isso em evidência.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(45s).</a:t>
            </a:r>
          </a:p>
          <a:p>
            <a:r>
              <a:t>• Não é 'somos quatro amigos': são quatro responsabilidades com entregáveis.</a:t>
            </a:r>
          </a:p>
          <a:p>
            <a:r>
              <a:t>• Cite rapidamente o que cada um já entregou.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PEDIDO (1min30).</a:t>
            </a:r>
          </a:p>
          <a:p>
            <a:r>
              <a:t>• Seja direto: 5 lojas, investimento e dois conselheiros.</a:t>
            </a:r>
          </a:p>
          <a:p>
            <a:r>
              <a:t>• Ajuste R$ 300 mil ao seu plano antes de apresentar.</a:t>
            </a:r>
          </a:p>
          <a:p>
            <a:r>
              <a:t>• Se a banca não puder investir, peça conexão com uma loja.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 (30s).</a:t>
            </a:r>
          </a:p>
          <a:p>
            <a:r>
              <a:t>• Pare de falar depois do 'obrigado'. Deixe a banca perguntar.</a:t>
            </a:r>
          </a:p>
          <a:p>
            <a:r>
              <a:t>• Tenha à mão: custo de aquisição, plano de 90 dias e a lista de lojas que já disseram 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7" name="TextBox 146"/>
          <p:cNvSpPr txBox="1"/>
          <p:nvPr/>
        </p:nvSpPr>
        <p:spPr>
          <a:xfrm>
            <a:off x="6876288" y="5925312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000000">
                    <a:alpha val="6000"/>
                  </a:srgbClr>
                </a:solidFill>
                <a:latin typeface="DM Sans"/>
              </a:rPr>
              <a:t>VELOCIDADE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212080" y="502920"/>
            <a:ext cx="2103120" cy="50292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5212080" y="640080"/>
            <a:ext cx="1303934" cy="50292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5212080" y="777240"/>
            <a:ext cx="808439" cy="50292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Oval 1"/>
          <p:cNvSpPr/>
          <p:nvPr/>
        </p:nvSpPr>
        <p:spPr>
          <a:xfrm>
            <a:off x="7726679" y="1005840"/>
            <a:ext cx="3977639" cy="3977639"/>
          </a:xfrm>
          <a:prstGeom prst="ellipse">
            <a:avLst/>
          </a:prstGeom>
          <a:solidFill>
            <a:srgbClr val="FF3333"/>
          </a:solidFill>
          <a:ln w="38100">
            <a:solidFill>
              <a:srgbClr val="000000"/>
            </a:solidFill>
          </a:ln>
          <a:effectLst>
            <a:outerShdw blurRad="0" dist="12123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 rot="18900000">
            <a:off x="9189720" y="2761488"/>
            <a:ext cx="146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 rot="2700000">
            <a:off x="9509760" y="2377440"/>
            <a:ext cx="146304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 rot="720000">
            <a:off x="10625328" y="4315968"/>
            <a:ext cx="1170432" cy="1170432"/>
          </a:xfrm>
          <a:prstGeom prst="rect">
            <a:avLst/>
          </a:prstGeom>
          <a:solidFill>
            <a:srgbClr val="0066FF"/>
          </a:solidFill>
          <a:ln w="3175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Isosceles Triangle 5"/>
          <p:cNvSpPr/>
          <p:nvPr/>
        </p:nvSpPr>
        <p:spPr>
          <a:xfrm>
            <a:off x="6967728" y="4315968"/>
            <a:ext cx="1078992" cy="932688"/>
          </a:xfrm>
          <a:prstGeom prst="triangle">
            <a:avLst/>
          </a:prstGeom>
          <a:solidFill>
            <a:srgbClr val="FFFF00"/>
          </a:solidFill>
          <a:ln w="3175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485632" y="5650992"/>
            <a:ext cx="475488" cy="475488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8-Point Star 7"/>
          <p:cNvSpPr/>
          <p:nvPr/>
        </p:nvSpPr>
        <p:spPr>
          <a:xfrm>
            <a:off x="11228832" y="932688"/>
            <a:ext cx="786384" cy="786384"/>
          </a:xfrm>
          <a:prstGeom prst="star8">
            <a:avLst/>
          </a:prstGeom>
          <a:solidFill>
            <a:srgbClr val="CC00CC"/>
          </a:solidFill>
          <a:ln w="2794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9345168" y="1225296"/>
            <a:ext cx="210312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491472" y="1357884"/>
            <a:ext cx="82296" cy="82296"/>
          </a:xfrm>
          <a:prstGeom prst="ellipse">
            <a:avLst/>
          </a:prstGeom>
          <a:solidFill>
            <a:srgbClr val="00CC0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46920" y="1225296"/>
            <a:ext cx="173736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000000"/>
                </a:solidFill>
                <a:latin typeface="Space Mono"/>
              </a:rPr>
              <a:t>LOJAS VERIFICADAS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3163824"/>
            <a:ext cx="1481328" cy="347472"/>
          </a:xfrm>
          <a:prstGeom prst="rect">
            <a:avLst/>
          </a:prstGeom>
          <a:solidFill>
            <a:srgbClr val="0066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03720" y="3163824"/>
            <a:ext cx="1481328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FFFFFF"/>
                </a:solidFill>
                <a:latin typeface="Space Mono"/>
              </a:rPr>
              <a:t>CUSTÓDIA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88752" y="3822191"/>
            <a:ext cx="777240" cy="347472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588752" y="3822191"/>
            <a:ext cx="77724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000000"/>
                </a:solidFill>
                <a:latin typeface="Space Mono"/>
              </a:rPr>
              <a:t>C2C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1481328"/>
            <a:ext cx="2331720" cy="365760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1481328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60">
                <a:solidFill>
                  <a:srgbClr val="000000"/>
                </a:solidFill>
                <a:latin typeface="Space Mono"/>
              </a:rPr>
              <a:t>PITCH · BANCA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1956816"/>
            <a:ext cx="64008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0" b="1" i="0" spc="-260">
                <a:solidFill>
                  <a:srgbClr val="000000"/>
                </a:solidFill>
                <a:latin typeface="DM Sans"/>
              </a:rPr>
              <a:t>CoreMotion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3054096"/>
            <a:ext cx="1691640" cy="100584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3232" y="3346704"/>
            <a:ext cx="612648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spc="-40">
                <a:solidFill>
                  <a:srgbClr val="000000"/>
                </a:solidFill>
                <a:latin typeface="DM Sans"/>
              </a:rPr>
              <a:t>O ponto de encontro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40">
                <a:solidFill>
                  <a:srgbClr val="000000"/>
                </a:solidFill>
                <a:latin typeface="DM Sans"/>
              </a:rPr>
              <a:t>do esporte de alta performance.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700016"/>
            <a:ext cx="61264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333333"/>
                </a:solidFill>
                <a:latin typeface="Space Mono"/>
              </a:rPr>
              <a:t>MARKETPLACE · LOJAS VERIFICADAS · CUSTÓDIA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5760720"/>
            <a:ext cx="5989320" cy="45720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96112" y="5760720"/>
            <a:ext cx="56692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20">
                <a:solidFill>
                  <a:srgbClr val="FFFFFF"/>
                </a:solidFill>
                <a:latin typeface="Space Mono"/>
              </a:rPr>
              <a:t>APRESENTADO POR [SEU NOME] · [CIDADE], 2026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0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237744" y="0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475488" y="0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713232" y="0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950976" y="0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1188720" y="0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1426464" y="0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1664208" y="0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1901952" y="0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2139696" y="0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2377440" y="0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2615184" y="0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2852928" y="0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3090672" y="0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3328416" y="0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3566160" y="0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3803904" y="0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4041648" y="0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4279392" y="0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4517136" y="0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0" y="237744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237744" y="237744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475488" y="237744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713232" y="237744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950976" y="237744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1188720" y="237744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1426464" y="237744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1664208" y="237744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1901952" y="237744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2139696" y="237744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2377440" y="237744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2615184" y="237744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2852928" y="237744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3090672" y="237744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3328416" y="237744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3566160" y="237744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3803904" y="237744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4041648" y="237744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4279392" y="237744"/>
            <a:ext cx="237744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4517136" y="237744"/>
            <a:ext cx="237744" cy="2377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Chevron 143"/>
          <p:cNvSpPr/>
          <p:nvPr/>
        </p:nvSpPr>
        <p:spPr>
          <a:xfrm>
            <a:off x="2788920" y="2962656"/>
            <a:ext cx="202082" cy="237744"/>
          </a:xfrm>
          <a:prstGeom prst="chevron">
            <a:avLst/>
          </a:prstGeom>
          <a:noFill/>
          <a:ln w="25400">
            <a:solidFill>
              <a:srgbClr val="FF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Chevron 144"/>
          <p:cNvSpPr/>
          <p:nvPr/>
        </p:nvSpPr>
        <p:spPr>
          <a:xfrm>
            <a:off x="3099815" y="2962656"/>
            <a:ext cx="202082" cy="237744"/>
          </a:xfrm>
          <a:prstGeom prst="chevron">
            <a:avLst/>
          </a:prstGeom>
          <a:noFill/>
          <a:ln w="25400">
            <a:solidFill>
              <a:srgbClr val="FF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Chevron 145"/>
          <p:cNvSpPr/>
          <p:nvPr/>
        </p:nvSpPr>
        <p:spPr>
          <a:xfrm>
            <a:off x="3410712" y="2962656"/>
            <a:ext cx="202082" cy="237744"/>
          </a:xfrm>
          <a:prstGeom prst="chevron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11082528" y="5760720"/>
            <a:ext cx="868680" cy="868680"/>
          </a:xfrm>
          <a:prstGeom prst="ellipse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11247577" y="5925769"/>
            <a:ext cx="538581" cy="538581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11055096" y="6212433"/>
            <a:ext cx="923544" cy="53858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 rot="2520000">
            <a:off x="11583106" y="5955013"/>
            <a:ext cx="65150" cy="29535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11451717" y="6147282"/>
            <a:ext cx="130301" cy="130301"/>
          </a:xfrm>
          <a:prstGeom prst="ellipse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377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CAPA   ·   01/15</a:t>
            </a:r>
          </a:p>
        </p:txBody>
      </p:sp>
      <p:sp>
        <p:nvSpPr>
          <p:cNvPr id="378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p14:dur="80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65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65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7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65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650" fill="hold"/>
                                        <p:tgtEl>
                                          <p:spTgt spid="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5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650" fill="hold"/>
                                        <p:tgtEl>
                                          <p:spTgt spid="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4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650" fill="hold"/>
                                        <p:tgtEl>
                                          <p:spTgt spid="8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26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34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42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1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18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42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480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700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800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900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4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5" dur="42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58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0" dur="42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76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5" dur="42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94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0" dur="42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112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5" dur="42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13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0" dur="4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148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5" dur="4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166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0" dur="4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84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5" dur="4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202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4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220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5" dur="4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238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0" dur="42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256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5" dur="42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274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0" dur="42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292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5" dur="42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310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0" dur="42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328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5" dur="42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346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0" dur="42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364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5" dur="42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382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0" dur="42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400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5" dur="42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418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0" dur="42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436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5" dur="42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delay="454"/>
                      </p:stCondLst>
                      <p:childTnLst>
                        <p:par>
                          <p:cTn id="217" fill="hold">
                            <p:stCondLst>
                              <p:cond delay="0"/>
                            </p:stCondLst>
                            <p:childTnLst>
                              <p:par>
                                <p:cTn id="21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0" dur="42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472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5" dur="42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490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0" dur="42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508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5" dur="42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6" fill="hold">
                      <p:stCondLst>
                        <p:cond delay="526"/>
                      </p:stCondLst>
                      <p:childTnLst>
                        <p:par>
                          <p:cTn id="237" fill="hold">
                            <p:stCondLst>
                              <p:cond delay="0"/>
                            </p:stCondLst>
                            <p:childTnLst>
                              <p:par>
                                <p:cTn id="23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0" dur="42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1" fill="hold">
                      <p:stCondLst>
                        <p:cond delay="544"/>
                      </p:stCondLst>
                      <p:childTnLst>
                        <p:par>
                          <p:cTn id="242" fill="hold">
                            <p:stCondLst>
                              <p:cond delay="0"/>
                            </p:stCondLst>
                            <p:childTnLst>
                              <p:par>
                                <p:cTn id="24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5" dur="42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6" fill="hold">
                      <p:stCondLst>
                        <p:cond delay="562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4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0" dur="42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580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5" dur="42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6" fill="hold">
                      <p:stCondLst>
                        <p:cond delay="598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0" dur="42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1" fill="hold">
                      <p:stCondLst>
                        <p:cond delay="616"/>
                      </p:stCondLst>
                      <p:childTnLst>
                        <p:par>
                          <p:cTn id="262" fill="hold">
                            <p:stCondLst>
                              <p:cond delay="0"/>
                            </p:stCondLst>
                            <p:childTnLst>
                              <p:par>
                                <p:cTn id="26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5" dur="42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6" fill="hold">
                      <p:stCondLst>
                        <p:cond delay="634"/>
                      </p:stCondLst>
                      <p:childTnLst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0" dur="42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1" fill="hold">
                      <p:stCondLst>
                        <p:cond delay="652"/>
                      </p:stCondLst>
                      <p:childTnLst>
                        <p:par>
                          <p:cTn id="272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5" dur="42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6" fill="hold">
                      <p:stCondLst>
                        <p:cond delay="67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42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1" fill="hold">
                      <p:stCondLst>
                        <p:cond delay="688"/>
                      </p:stCondLst>
                      <p:childTnLst>
                        <p:par>
                          <p:cTn id="282" fill="hold">
                            <p:stCondLst>
                              <p:cond delay="0"/>
                            </p:stCondLst>
                            <p:childTnLst>
                              <p:par>
                                <p:cTn id="28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5" dur="42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6" fill="hold">
                      <p:stCondLst>
                        <p:cond delay="706"/>
                      </p:stCondLst>
                      <p:childTnLst>
                        <p:par>
                          <p:cTn id="287" fill="hold">
                            <p:stCondLst>
                              <p:cond delay="0"/>
                            </p:stCondLst>
                            <p:childTnLst>
                              <p:par>
                                <p:cTn id="28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0" dur="42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fill="hold">
                      <p:stCondLst>
                        <p:cond delay="724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5" dur="42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6" fill="hold">
                      <p:stCondLst>
                        <p:cond delay="742"/>
                      </p:stCondLst>
                      <p:childTnLst>
                        <p:par>
                          <p:cTn id="297" fill="hold">
                            <p:stCondLst>
                              <p:cond delay="0"/>
                            </p:stCondLst>
                            <p:childTnLst>
                              <p:par>
                                <p:cTn id="29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0" dur="42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1" fill="hold">
                      <p:stCondLst>
                        <p:cond delay="200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48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6" dur="48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7" fill="hold">
                      <p:stCondLst>
                        <p:cond delay="270"/>
                      </p:stCondLst>
                      <p:childTnLst>
                        <p:par>
                          <p:cTn id="308" fill="hold">
                            <p:stCondLst>
                              <p:cond delay="0"/>
                            </p:stCondLst>
                            <p:childTnLst>
                              <p:par>
                                <p:cTn id="30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48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2" dur="48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3" fill="hold">
                      <p:stCondLst>
                        <p:cond delay="340"/>
                      </p:stCondLst>
                      <p:childTnLst>
                        <p:par>
                          <p:cTn id="314" fill="hold">
                            <p:stCondLst>
                              <p:cond delay="0"/>
                            </p:stCondLst>
                            <p:childTnLst>
                              <p:par>
                                <p:cTn id="31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48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8" dur="48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9" fill="hold">
                      <p:stCondLst>
                        <p:cond delay="420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id="32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8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4" dur="38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25" dur="380" fill="hold"/>
                                        <p:tgtEl>
                                          <p:spTgt spid="144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6" fill="hold">
                      <p:stCondLst>
                        <p:cond delay="490"/>
                      </p:stCondLst>
                      <p:childTnLst>
                        <p:par>
                          <p:cTn id="327" fill="hold">
                            <p:stCondLst>
                              <p:cond delay="0"/>
                            </p:stCondLst>
                            <p:childTnLst>
                              <p:par>
                                <p:cTn id="3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38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1" dur="38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32" dur="380" fill="hold"/>
                                        <p:tgtEl>
                                          <p:spTgt spid="14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3" fill="hold">
                      <p:stCondLst>
                        <p:cond delay="560"/>
                      </p:stCondLst>
                      <p:childTnLst>
                        <p:par>
                          <p:cTn id="334" fill="hold">
                            <p:stCondLst>
                              <p:cond delay="0"/>
                            </p:stCondLst>
                            <p:childTnLst>
                              <p:par>
                                <p:cTn id="3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38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8" dur="38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39" dur="380" fill="hold"/>
                                        <p:tgtEl>
                                          <p:spTgt spid="14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0" fill="hold">
                      <p:stCondLst>
                        <p:cond delay="620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7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5" fill="hold">
                      <p:stCondLst>
                        <p:cond delay="520"/>
                      </p:stCondLst>
                      <p:childTnLst>
                        <p:par>
                          <p:cTn id="346" fill="hold">
                            <p:stCondLst>
                              <p:cond delay="0"/>
                            </p:stCondLst>
                            <p:childTnLst>
                              <p:par>
                                <p:cTn id="34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45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0" dur="450" fill="hold"/>
                                        <p:tgtEl>
                                          <p:spTgt spid="148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1" fill="hold">
                      <p:stCondLst>
                        <p:cond delay="565"/>
                      </p:stCondLst>
                      <p:childTnLst>
                        <p:par>
                          <p:cTn id="352" fill="hold">
                            <p:stCondLst>
                              <p:cond delay="0"/>
                            </p:stCondLst>
                            <p:childTnLst>
                              <p:par>
                                <p:cTn id="35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45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6" dur="450" fill="hold"/>
                                        <p:tgtEl>
                                          <p:spTgt spid="14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7" fill="hold">
                      <p:stCondLst>
                        <p:cond delay="610"/>
                      </p:stCondLst>
                      <p:childTnLst>
                        <p:par>
                          <p:cTn id="358" fill="hold">
                            <p:stCondLst>
                              <p:cond delay="0"/>
                            </p:stCondLst>
                            <p:childTnLst>
                              <p:par>
                                <p:cTn id="35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45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2" dur="450" fill="hold"/>
                                        <p:tgtEl>
                                          <p:spTgt spid="150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3" fill="hold">
                      <p:stCondLst>
                        <p:cond delay="655"/>
                      </p:stCondLst>
                      <p:childTnLst>
                        <p:par>
                          <p:cTn id="364" fill="hold">
                            <p:stCondLst>
                              <p:cond delay="0"/>
                            </p:stCondLst>
                            <p:childTnLst>
                              <p:par>
                                <p:cTn id="36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45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8" dur="450" fill="hold"/>
                                        <p:tgtEl>
                                          <p:spTgt spid="15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9" fill="hold">
                      <p:stCondLst>
                        <p:cond delay="700"/>
                      </p:stCondLst>
                      <p:childTnLst>
                        <p:par>
                          <p:cTn id="370" fill="hold">
                            <p:stCondLst>
                              <p:cond delay="0"/>
                            </p:stCondLst>
                            <p:childTnLst>
                              <p:par>
                                <p:cTn id="37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45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4" dur="450" fill="hold"/>
                                        <p:tgtEl>
                                          <p:spTgt spid="15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8" name="TextBox 177"/>
          <p:cNvSpPr txBox="1"/>
          <p:nvPr/>
        </p:nvSpPr>
        <p:spPr>
          <a:xfrm>
            <a:off x="8796528" y="4828032"/>
            <a:ext cx="292608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FFFFFF">
                    <a:alpha val="6000"/>
                  </a:srgbClr>
                </a:solidFill>
                <a:latin typeface="DM Sans"/>
              </a:rPr>
              <a:t>GO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366760" y="932688"/>
            <a:ext cx="3108960" cy="5029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>
            <a:off x="8366760" y="1069848"/>
            <a:ext cx="1927555" cy="5029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ectangle 176"/>
          <p:cNvSpPr/>
          <p:nvPr/>
        </p:nvSpPr>
        <p:spPr>
          <a:xfrm>
            <a:off x="8366760" y="1207008"/>
            <a:ext cx="1195084" cy="5029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FF33"/>
                </a:solidFill>
                <a:latin typeface="Space Mono"/>
              </a:rPr>
              <a:t>//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FFFFFF"/>
                </a:solidFill>
                <a:latin typeface="DM Sans"/>
              </a:rPr>
              <a:t>O caminho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956816"/>
            <a:ext cx="76809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 i="0">
                <a:solidFill>
                  <a:srgbClr val="CCCCCC"/>
                </a:solidFill>
                <a:latin typeface="DM Sans"/>
              </a:rPr>
              <a:t>Quinze minutos, quatro blocos. Sem slide de história da empresa.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286000"/>
            <a:ext cx="10762488" cy="10972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2523744"/>
            <a:ext cx="68580" cy="45720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9264" y="2459736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spc="80">
                <a:solidFill>
                  <a:srgbClr val="FF3333"/>
                </a:solidFill>
                <a:latin typeface="Space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5104" y="244144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spc="-90">
                <a:solidFill>
                  <a:srgbClr val="FFFFFF"/>
                </a:solidFill>
                <a:latin typeface="DM Sans"/>
              </a:rPr>
              <a:t>O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496312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CCCCCC"/>
                </a:solidFill>
                <a:latin typeface="DM Sans"/>
              </a:rPr>
              <a:t>Por que comprar e vender esporte ainda é inseguro.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10991088" y="2606040"/>
            <a:ext cx="237744" cy="23774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13232" y="3255264"/>
            <a:ext cx="10762488" cy="10972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13232" y="3493008"/>
            <a:ext cx="68580" cy="45720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" y="3429000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spc="80">
                <a:solidFill>
                  <a:srgbClr val="FFFF00"/>
                </a:solidFill>
                <a:latin typeface="Space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341071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spc="-90">
                <a:solidFill>
                  <a:srgbClr val="FFFFFF"/>
                </a:solidFill>
                <a:latin typeface="DM Sans"/>
              </a:rPr>
              <a:t>A solução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3465576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CCCCCC"/>
                </a:solidFill>
                <a:latin typeface="DM Sans"/>
              </a:rPr>
              <a:t>As três camadas que fazem o CoreMotion funcionar.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10991088" y="3575304"/>
            <a:ext cx="237744" cy="23774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13232" y="4224528"/>
            <a:ext cx="10762488" cy="10972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13232" y="4462272"/>
            <a:ext cx="68580" cy="4572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398264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spc="80">
                <a:solidFill>
                  <a:srgbClr val="0066FF"/>
                </a:solidFill>
                <a:latin typeface="Space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379976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spc="-90">
                <a:solidFill>
                  <a:srgbClr val="FFFFFF"/>
                </a:solidFill>
                <a:latin typeface="DM Sans"/>
              </a:rPr>
              <a:t>O negócio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4434840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CCCCCC"/>
                </a:solidFill>
                <a:latin typeface="DM Sans"/>
              </a:rPr>
              <a:t>Como a plataforma ganha dinheiro e escala.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10991088" y="4544568"/>
            <a:ext cx="237744" cy="23774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13232" y="5193792"/>
            <a:ext cx="10762488" cy="10972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13232" y="5431536"/>
            <a:ext cx="68580" cy="457200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67528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spc="80">
                <a:solidFill>
                  <a:srgbClr val="00CC00"/>
                </a:solidFill>
                <a:latin typeface="Space Mono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75104" y="5349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spc="-90">
                <a:solidFill>
                  <a:srgbClr val="FFFFFF"/>
                </a:solidFill>
                <a:latin typeface="DM Sans"/>
              </a:rPr>
              <a:t>A entrega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5404104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CCCCCC"/>
                </a:solidFill>
                <a:latin typeface="DM Sans"/>
              </a:rPr>
              <a:t>Onde estamos e o que precisamos de você.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10991088" y="5513832"/>
            <a:ext cx="237744" cy="23774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13232" y="6163056"/>
            <a:ext cx="10762488" cy="10972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13232" y="630936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40">
                <a:solidFill>
                  <a:srgbClr val="CCCCCC"/>
                </a:solidFill>
                <a:latin typeface="Space Mono"/>
              </a:rPr>
              <a:t>PITCH PARA BANCA · COREMOTION 2026</a:t>
            </a:r>
          </a:p>
        </p:txBody>
      </p:sp>
      <p:sp>
        <p:nvSpPr>
          <p:cNvPr id="179" name="Chevron 178"/>
          <p:cNvSpPr/>
          <p:nvPr/>
        </p:nvSpPr>
        <p:spPr>
          <a:xfrm>
            <a:off x="8732520" y="1883664"/>
            <a:ext cx="170992" cy="201168"/>
          </a:xfrm>
          <a:prstGeom prst="chevron">
            <a:avLst/>
          </a:prstGeom>
          <a:noFill/>
          <a:ln w="25400">
            <a:solidFill>
              <a:srgbClr val="FFF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Chevron 179"/>
          <p:cNvSpPr/>
          <p:nvPr/>
        </p:nvSpPr>
        <p:spPr>
          <a:xfrm>
            <a:off x="9006840" y="1883664"/>
            <a:ext cx="170992" cy="201168"/>
          </a:xfrm>
          <a:prstGeom prst="chevron">
            <a:avLst/>
          </a:prstGeom>
          <a:noFill/>
          <a:ln w="25400">
            <a:solidFill>
              <a:srgbClr val="FFF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Chevron 180"/>
          <p:cNvSpPr/>
          <p:nvPr/>
        </p:nvSpPr>
        <p:spPr>
          <a:xfrm>
            <a:off x="9281160" y="1883664"/>
            <a:ext cx="170992" cy="201168"/>
          </a:xfrm>
          <a:prstGeom prst="chevron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221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AGENDA   ·   02/15</a:t>
            </a:r>
          </a:p>
        </p:txBody>
      </p:sp>
      <p:sp>
        <p:nvSpPr>
          <p:cNvPr id="222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p14:dur="650" spd="fast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4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7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7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385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7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7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43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7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475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7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7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52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7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7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565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7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7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61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7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65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7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0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7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745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7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79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7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835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7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88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7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925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47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97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7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7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1015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47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106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7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47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1105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47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1150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7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3" dur="47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1195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47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1240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47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1285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47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33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47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1375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47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1420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9" dur="47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1050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150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0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220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290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380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36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8" dur="36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9" dur="360" fill="hold"/>
                                        <p:tgtEl>
                                          <p:spTgt spid="17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440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6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5" dur="36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6" dur="360" fill="hold"/>
                                        <p:tgtEl>
                                          <p:spTgt spid="18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500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6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2" dur="36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3" dur="360" fill="hold"/>
                                        <p:tgtEl>
                                          <p:spTgt spid="18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560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8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2" name="TextBox 131"/>
          <p:cNvSpPr txBox="1"/>
          <p:nvPr/>
        </p:nvSpPr>
        <p:spPr>
          <a:xfrm>
            <a:off x="7360920" y="5047488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>
                    <a:alpha val="8000"/>
                  </a:srgbClr>
                </a:solidFill>
                <a:latin typeface="DM Sans"/>
              </a:rPr>
              <a:t>ATRITO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446520" y="2249424"/>
            <a:ext cx="1783080" cy="45720"/>
          </a:xfrm>
          <a:prstGeom prst="rect">
            <a:avLst/>
          </a:prstGeom>
          <a:solidFill>
            <a:srgbClr val="00000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6446520" y="2377440"/>
            <a:ext cx="1105509" cy="45720"/>
          </a:xfrm>
          <a:prstGeom prst="rect">
            <a:avLst/>
          </a:prstGeom>
          <a:solidFill>
            <a:srgbClr val="00000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6446520" y="2505456"/>
            <a:ext cx="685415" cy="45720"/>
          </a:xfrm>
          <a:prstGeom prst="rect">
            <a:avLst/>
          </a:prstGeom>
          <a:solidFill>
            <a:srgbClr val="00000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FF00"/>
                </a:solidFill>
                <a:latin typeface="Space Mono"/>
              </a:rPr>
              <a:t>// 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-110">
                <a:solidFill>
                  <a:srgbClr val="FFFFFF"/>
                </a:solidFill>
                <a:latin typeface="DM Sans"/>
              </a:rPr>
              <a:t>Comprar esporte ainda é um ato de fé.</a:t>
            </a:r>
          </a:p>
        </p:txBody>
      </p:sp>
      <p:sp>
        <p:nvSpPr>
          <p:cNvPr id="4" name="Oval 3"/>
          <p:cNvSpPr/>
          <p:nvPr/>
        </p:nvSpPr>
        <p:spPr>
          <a:xfrm>
            <a:off x="8321040" y="-1417320"/>
            <a:ext cx="5394960" cy="5394960"/>
          </a:xfrm>
          <a:prstGeom prst="ellipse">
            <a:avLst/>
          </a:prstGeom>
          <a:noFill/>
          <a:ln w="17780">
            <a:solidFill>
              <a:srgbClr val="E2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213969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60">
                <a:solidFill>
                  <a:srgbClr val="FFFFFF"/>
                </a:solidFill>
                <a:latin typeface="DM Sans"/>
              </a:rPr>
              <a:t>O problema não é oferta. É confiança.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33472"/>
            <a:ext cx="1325880" cy="685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13232" y="3054096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321868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60">
                <a:solidFill>
                  <a:srgbClr val="000000"/>
                </a:solidFill>
                <a:latin typeface="Space Mono"/>
              </a:rPr>
              <a:t>01 · FALSIFICAÇÃO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58444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50">
                <a:solidFill>
                  <a:srgbClr val="FFFFFF"/>
                </a:solidFill>
                <a:latin typeface="DM Sans"/>
              </a:rPr>
              <a:t>Falsificação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78224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ECEC"/>
                </a:solidFill>
                <a:latin typeface="DM Sans"/>
              </a:rPr>
              <a:t>Réplica vendida como original. Sem verificação de loja, de catálogo ou de histórico.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3054096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89120" y="321868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60">
                <a:solidFill>
                  <a:srgbClr val="000000"/>
                </a:solidFill>
                <a:latin typeface="Space Mono"/>
              </a:rPr>
              <a:t>02 · DINHEIRO EXPOSTO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8444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50">
                <a:solidFill>
                  <a:srgbClr val="FFFFFF"/>
                </a:solidFill>
                <a:latin typeface="DM Sans"/>
              </a:rPr>
              <a:t>Dinheiro exposto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078224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ECEC"/>
                </a:solidFill>
                <a:latin typeface="DM Sans"/>
              </a:rPr>
              <a:t>Pix direto para o vendedor: se a peça não chega, o prejuízo inteiro é do atleta.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7" y="3054096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65007" y="321868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60">
                <a:solidFill>
                  <a:srgbClr val="000000"/>
                </a:solidFill>
                <a:latin typeface="Space Mono"/>
              </a:rPr>
              <a:t>03 · ATLETA INVISÍVEL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5007" y="358444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50">
                <a:solidFill>
                  <a:srgbClr val="FFFFFF"/>
                </a:solidFill>
                <a:latin typeface="DM Sans"/>
              </a:rPr>
              <a:t>Atleta invisível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7" y="4078224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ECEC"/>
                </a:solidFill>
                <a:latin typeface="DM Sans"/>
              </a:rPr>
              <a:t>Quem vende usado não tem canal confiável. Quem procura não sabe em quem confiar.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705856"/>
            <a:ext cx="12191695" cy="11521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3232" y="59253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 spc="70">
                <a:solidFill>
                  <a:srgbClr val="FFFFFF"/>
                </a:solidFill>
                <a:latin typeface="Space Mono"/>
              </a:rPr>
              <a:t>O ATLETA COMPRA NO ESCURO. A LOJA VENDE SEM ALCANCE. O DINHEIRO FICA NO MEIO.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272784"/>
            <a:ext cx="107899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FFFF00"/>
                </a:solidFill>
                <a:latin typeface="Space Mono"/>
              </a:rPr>
              <a:t>A FÉ NÃO ESCALA — O FLUXO ESCALA.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104120" y="2048256"/>
            <a:ext cx="182880" cy="182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10287000" y="2048256"/>
            <a:ext cx="18288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10469880" y="2048256"/>
            <a:ext cx="182880" cy="182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10652760" y="2048256"/>
            <a:ext cx="18288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10835640" y="2048256"/>
            <a:ext cx="182880" cy="182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10104120" y="2231136"/>
            <a:ext cx="18288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10287000" y="2231136"/>
            <a:ext cx="182880" cy="182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10469880" y="2231136"/>
            <a:ext cx="18288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10652760" y="2231136"/>
            <a:ext cx="182880" cy="182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10835640" y="2231136"/>
            <a:ext cx="18288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214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O PROBLEMA   ·   03/15</a:t>
            </a:r>
          </a:p>
        </p:txBody>
      </p:sp>
      <p:sp>
        <p:nvSpPr>
          <p:cNvPr id="215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fast" p14:dur="600">
        <p14:flash/>
      </p:transition>
    </mc:Choice>
    <mc:Fallback>
      <p:transition spd="fast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4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7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4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4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2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34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395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45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505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56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61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67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725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78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835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89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945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104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8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1180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130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20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8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48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270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8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48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34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8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48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42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8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38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3" dur="380" fill="hold"/>
                                        <p:tgtEl>
                                          <p:spTgt spid="122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45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8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38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50" dur="380" fill="hold"/>
                                        <p:tgtEl>
                                          <p:spTgt spid="123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480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8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38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57" dur="380" fill="hold"/>
                                        <p:tgtEl>
                                          <p:spTgt spid="124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51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38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38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4" dur="380" fill="hold"/>
                                        <p:tgtEl>
                                          <p:spTgt spid="12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540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8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0" dur="38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1" dur="380" fill="hold"/>
                                        <p:tgtEl>
                                          <p:spTgt spid="12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57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38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7" dur="38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8" dur="380" fill="hold"/>
                                        <p:tgtEl>
                                          <p:spTgt spid="127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600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8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4" dur="38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85" dur="380" fill="hold"/>
                                        <p:tgtEl>
                                          <p:spTgt spid="12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630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8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38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2" dur="380" fill="hold"/>
                                        <p:tgtEl>
                                          <p:spTgt spid="12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660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38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8" dur="38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9" dur="380" fill="hold"/>
                                        <p:tgtEl>
                                          <p:spTgt spid="13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690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8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5" dur="38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6" dur="380" fill="hold"/>
                                        <p:tgtEl>
                                          <p:spTgt spid="13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620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7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4" name="Rectangle 123"/>
          <p:cNvSpPr/>
          <p:nvPr/>
        </p:nvSpPr>
        <p:spPr>
          <a:xfrm>
            <a:off x="9555480" y="1133856"/>
            <a:ext cx="1874519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9555480" y="1271016"/>
            <a:ext cx="1162202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9555480" y="1408176"/>
            <a:ext cx="720565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POR QUE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Três mudanças abriram essa janela.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O mercado não precisa de mais um catálogo. Precisa de confiança.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87168"/>
            <a:ext cx="548640" cy="548640"/>
          </a:xfrm>
          <a:prstGeom prst="rect">
            <a:avLst/>
          </a:prstGeom>
          <a:solidFill>
            <a:srgbClr val="FF3333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4871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000000"/>
                </a:solidFill>
                <a:latin typeface="Space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246888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30">
                <a:solidFill>
                  <a:srgbClr val="000000"/>
                </a:solidFill>
                <a:latin typeface="DM Sans"/>
              </a:rPr>
              <a:t>O esporte virou consumo de identidade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16352"/>
            <a:ext cx="4983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Equipamento deixou de ser acessório: é pertencimento, performance e status.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621024"/>
            <a:ext cx="548640" cy="548640"/>
          </a:xfrm>
          <a:prstGeom prst="rect">
            <a:avLst/>
          </a:prstGeom>
          <a:solidFill>
            <a:srgbClr val="0066FF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62102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000000"/>
                </a:solidFill>
                <a:latin typeface="Space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602736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30">
                <a:solidFill>
                  <a:srgbClr val="000000"/>
                </a:solidFill>
                <a:latin typeface="DM Sans"/>
              </a:rPr>
              <a:t>O atleta virou mídia e canal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3950208"/>
            <a:ext cx="4983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Comunidades e redes criam demanda qualificada todos os dias, de graça.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754880"/>
            <a:ext cx="548640" cy="548640"/>
          </a:xfrm>
          <a:prstGeom prst="rect">
            <a:avLst/>
          </a:prstGeom>
          <a:solidFill>
            <a:srgbClr val="00CC00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47548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000000"/>
                </a:solidFill>
                <a:latin typeface="Space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4736592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30">
                <a:solidFill>
                  <a:srgbClr val="000000"/>
                </a:solidFill>
                <a:latin typeface="DM Sans"/>
              </a:rPr>
              <a:t>O pagamento amadureceu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5084064"/>
            <a:ext cx="4983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Pix, verificação digital e custódia permitem segurar o valor até a entrega.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5358384"/>
            <a:ext cx="4709160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967728" y="4398264"/>
            <a:ext cx="841248" cy="960120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46720" y="3877056"/>
            <a:ext cx="841248" cy="1481328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125712" y="3364992"/>
            <a:ext cx="841248" cy="1993392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0204704" y="2816352"/>
            <a:ext cx="841248" cy="2542032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720840" y="5650992"/>
            <a:ext cx="3611880" cy="347472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20840" y="5650992"/>
            <a:ext cx="36118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40">
                <a:solidFill>
                  <a:srgbClr val="000000"/>
                </a:solidFill>
                <a:latin typeface="Space Mono"/>
              </a:rPr>
              <a:t>CONFIANÇA É O GARGALO</a:t>
            </a:r>
          </a:p>
        </p:txBody>
      </p:sp>
      <p:sp>
        <p:nvSpPr>
          <p:cNvPr id="127" name="Right Arrow 126"/>
          <p:cNvSpPr/>
          <p:nvPr/>
        </p:nvSpPr>
        <p:spPr>
          <a:xfrm rot="19680000">
            <a:off x="10314432" y="2121408"/>
            <a:ext cx="1417320" cy="438912"/>
          </a:xfrm>
          <a:prstGeom prst="rightArrow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Chevron 127"/>
          <p:cNvSpPr/>
          <p:nvPr/>
        </p:nvSpPr>
        <p:spPr>
          <a:xfrm>
            <a:off x="10561320" y="5687568"/>
            <a:ext cx="170992" cy="201168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Chevron 128"/>
          <p:cNvSpPr/>
          <p:nvPr/>
        </p:nvSpPr>
        <p:spPr>
          <a:xfrm>
            <a:off x="10835640" y="5687568"/>
            <a:ext cx="170992" cy="201168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Chevron 129"/>
          <p:cNvSpPr/>
          <p:nvPr/>
        </p:nvSpPr>
        <p:spPr>
          <a:xfrm>
            <a:off x="11109960" y="5687568"/>
            <a:ext cx="170992" cy="201168"/>
          </a:xfrm>
          <a:prstGeom prst="chevron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72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POR QUE AGORA   ·   04/15</a:t>
            </a:r>
          </a:p>
        </p:txBody>
      </p:sp>
      <p:sp>
        <p:nvSpPr>
          <p:cNvPr id="173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14:pan dir="l"/>
      </p:transition>
    </mc:Choice>
    <mc:Fallback>
      <p:transition spd="med">
        <p:push dir="l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8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0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6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8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4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62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72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81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90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99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115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" dur="450" fill="hold"/>
                                        <p:tgtEl>
                                          <p:spTgt spid="2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180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250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32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52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2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2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8" dur="520" fill="hold"/>
                                        <p:tgtEl>
                                          <p:spTgt spid="127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720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6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36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55" dur="360" fill="hold"/>
                                        <p:tgtEl>
                                          <p:spTgt spid="12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78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6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36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2" dur="360" fill="hold"/>
                                        <p:tgtEl>
                                          <p:spTgt spid="12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84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36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36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9" dur="360" fill="hold"/>
                                        <p:tgtEl>
                                          <p:spTgt spid="13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7" name="TextBox 256"/>
          <p:cNvSpPr txBox="1"/>
          <p:nvPr/>
        </p:nvSpPr>
        <p:spPr>
          <a:xfrm>
            <a:off x="7882127" y="587044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0000">
                    <a:alpha val="7000"/>
                  </a:srgbClr>
                </a:solidFill>
                <a:latin typeface="DM Sans"/>
              </a:rPr>
              <a:t>TRÊS CAMADAS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9555480" y="1133856"/>
            <a:ext cx="1874519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Rectangle 252"/>
          <p:cNvSpPr/>
          <p:nvPr/>
        </p:nvSpPr>
        <p:spPr>
          <a:xfrm>
            <a:off x="9555480" y="1271016"/>
            <a:ext cx="1162202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Rectangle 253"/>
          <p:cNvSpPr/>
          <p:nvPr/>
        </p:nvSpPr>
        <p:spPr>
          <a:xfrm>
            <a:off x="9555480" y="1408176"/>
            <a:ext cx="720565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Uma plataforma, três camadas.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Cada camada resolve uma das dores — e todas compartilham o mesmo checkout.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32304"/>
            <a:ext cx="3401568" cy="3218688"/>
          </a:xfrm>
          <a:prstGeom prst="rect">
            <a:avLst/>
          </a:prstGeom>
          <a:solidFill>
            <a:srgbClr val="FF3333"/>
          </a:solidFill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87552" y="2706624"/>
            <a:ext cx="786384" cy="7863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16152" y="2935224"/>
            <a:ext cx="329184" cy="32918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901952" y="276148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FFFFFF"/>
                </a:solidFill>
                <a:latin typeface="Space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694176"/>
            <a:ext cx="2788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60">
                <a:solidFill>
                  <a:srgbClr val="FFFFFF"/>
                </a:solidFill>
                <a:latin typeface="DM Sans"/>
              </a:rPr>
              <a:t>Lojas verificadas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480560"/>
            <a:ext cx="2761488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DM Sans"/>
              </a:rPr>
              <a:t>Selo em três camadas: documento, histórico e catálogo. Só loja aprovada vende.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" y="5189220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43000" y="513892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DOCUMENTO + CNPJ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6696" y="5335524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5285232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HISTÓRICO DE VENDAS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" y="5481828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43000" y="5431536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CATÁLOGO AUDITADO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2432304"/>
            <a:ext cx="3401568" cy="3218688"/>
          </a:xfrm>
          <a:prstGeom prst="rect">
            <a:avLst/>
          </a:prstGeom>
          <a:solidFill>
            <a:srgbClr val="FFFF00"/>
          </a:solidFill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663440" y="2706624"/>
            <a:ext cx="786384" cy="7863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sosceles Triangle 18"/>
          <p:cNvSpPr/>
          <p:nvPr/>
        </p:nvSpPr>
        <p:spPr>
          <a:xfrm>
            <a:off x="4855464" y="2898648"/>
            <a:ext cx="402336" cy="40233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577840" y="276148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00000"/>
                </a:solidFill>
                <a:latin typeface="Space Mono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694176"/>
            <a:ext cx="2788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60">
                <a:solidFill>
                  <a:srgbClr val="000000"/>
                </a:solidFill>
                <a:latin typeface="DM Sans"/>
              </a:rPr>
              <a:t>Venda entre atletas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480560"/>
            <a:ext cx="2761488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DM Sans"/>
              </a:rPr>
              <a:t>C2C com reputação, fotos guiadas e mediação de disputa. O usado tem garantia.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5189220"/>
            <a:ext cx="64008" cy="640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818888" y="513892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000000"/>
                </a:solidFill>
                <a:latin typeface="Space Mono"/>
              </a:rPr>
              <a:t>PERFIL COM REPUTAÇÃO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72583" y="5335524"/>
            <a:ext cx="64008" cy="640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18888" y="5285232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000000"/>
                </a:solidFill>
                <a:latin typeface="Space Mono"/>
              </a:rPr>
              <a:t>FOTOS GUIADAS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72583" y="5481828"/>
            <a:ext cx="64008" cy="640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18888" y="5431536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000000"/>
                </a:solidFill>
                <a:latin typeface="Space Mono"/>
              </a:rPr>
              <a:t>MEDIAÇÃO DE DISPUTA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5007" y="2432304"/>
            <a:ext cx="3401568" cy="3218688"/>
          </a:xfrm>
          <a:prstGeom prst="rect">
            <a:avLst/>
          </a:prstGeom>
          <a:solidFill>
            <a:srgbClr val="0066FF"/>
          </a:solidFill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339327" y="2706624"/>
            <a:ext cx="786384" cy="7863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Diamond 30"/>
          <p:cNvSpPr/>
          <p:nvPr/>
        </p:nvSpPr>
        <p:spPr>
          <a:xfrm>
            <a:off x="8549640" y="2916936"/>
            <a:ext cx="365760" cy="365760"/>
          </a:xfrm>
          <a:prstGeom prst="diamond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253728" y="276148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FFFFFF"/>
                </a:solidFill>
                <a:latin typeface="Space Mono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7" y="3694176"/>
            <a:ext cx="2788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60">
                <a:solidFill>
                  <a:srgbClr val="FFFFFF"/>
                </a:solidFill>
                <a:latin typeface="DM Sans"/>
              </a:rPr>
              <a:t>Custódia financeira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7" y="4480560"/>
            <a:ext cx="2761488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DM Sans"/>
              </a:rPr>
              <a:t>O valor fica retido até a entrega confirmada. Depois, o repasse é automático.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8471" y="5189220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94776" y="513892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VALOR RETIDO NO PIX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48471" y="5335524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94776" y="5285232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PRAZO DE CONFERÊNCIA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48471" y="5481828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494776" y="5431536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REPASSE AUTOMÁTICO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5852160"/>
            <a:ext cx="2011680" cy="329184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13232" y="5852160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000000"/>
                </a:solidFill>
                <a:latin typeface="Space Mono"/>
              </a:rPr>
              <a:t>UM CATÁLOGO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52928" y="5852160"/>
            <a:ext cx="2011680" cy="329184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2852928" y="5852160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000000"/>
                </a:solidFill>
                <a:latin typeface="Space Mono"/>
              </a:rPr>
              <a:t>UMA REPUTAÇÃO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92624" y="5852160"/>
            <a:ext cx="2011680" cy="329184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992624" y="5852160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000000"/>
                </a:solidFill>
                <a:latin typeface="Space Mono"/>
              </a:rPr>
              <a:t>UM CAIXA</a:t>
            </a:r>
          </a:p>
        </p:txBody>
      </p:sp>
      <p:sp>
        <p:nvSpPr>
          <p:cNvPr id="255" name="Chevron 254"/>
          <p:cNvSpPr/>
          <p:nvPr/>
        </p:nvSpPr>
        <p:spPr>
          <a:xfrm>
            <a:off x="4123944" y="3913632"/>
            <a:ext cx="256032" cy="274320"/>
          </a:xfrm>
          <a:prstGeom prst="chevron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Chevron 255"/>
          <p:cNvSpPr/>
          <p:nvPr/>
        </p:nvSpPr>
        <p:spPr>
          <a:xfrm>
            <a:off x="7799831" y="3913632"/>
            <a:ext cx="256032" cy="274320"/>
          </a:xfrm>
          <a:prstGeom prst="chevron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91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A SOLUÇÃO   ·   05/15</a:t>
            </a:r>
          </a:p>
        </p:txBody>
      </p:sp>
      <p:sp>
        <p:nvSpPr>
          <p:cNvPr id="292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p14:dur="650" spd="fast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45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9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35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8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25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57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15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66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05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75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795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84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885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93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975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02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065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11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155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2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245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129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1335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1380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1425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1470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1515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1560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1605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1650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1695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1740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1785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1830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1875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fill="hold">
                      <p:stCondLst>
                        <p:cond delay="105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2" fill="hold">
                      <p:stCondLst>
                        <p:cond delay="1130"/>
                      </p:stCondLst>
                      <p:childTnLst>
                        <p:par>
                          <p:cTn id="243" fill="hold">
                            <p:stCondLst>
                              <p:cond delay="0"/>
                            </p:stCondLst>
                            <p:childTnLst>
                              <p:par>
                                <p:cTn id="2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1210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2" fill="hold">
                      <p:stCondLst>
                        <p:cond delay="180"/>
                      </p:stCondLst>
                      <p:childTnLst>
                        <p:par>
                          <p:cTn id="253" fill="hold">
                            <p:stCondLst>
                              <p:cond delay="0"/>
                            </p:stCondLst>
                            <p:childTnLst>
                              <p:par>
                                <p:cTn id="25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6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7" dur="5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8" fill="hold">
                      <p:stCondLst>
                        <p:cond delay="250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6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3" dur="5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320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9" dur="5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620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38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5" dur="38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76" dur="380" fill="hold"/>
                                        <p:tgtEl>
                                          <p:spTgt spid="25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7" fill="hold">
                      <p:stCondLst>
                        <p:cond delay="700"/>
                      </p:stCondLst>
                      <p:childTnLst>
                        <p:par>
                          <p:cTn id="278" fill="hold">
                            <p:stCondLst>
                              <p:cond delay="0"/>
                            </p:stCondLst>
                            <p:childTnLst>
                              <p:par>
                                <p:cTn id="27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8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2" dur="38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83" dur="380" fill="hold"/>
                                        <p:tgtEl>
                                          <p:spTgt spid="25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4" fill="hold">
                      <p:stCondLst>
                        <p:cond delay="800"/>
                      </p:stCondLst>
                      <p:childTnLst>
                        <p:par>
                          <p:cTn id="285" fill="hold">
                            <p:stCondLst>
                              <p:cond delay="0"/>
                            </p:stCondLst>
                            <p:childTnLst>
                              <p:par>
                                <p:cTn id="2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8" dur="7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6" name="TextBox 205"/>
          <p:cNvSpPr txBox="1"/>
          <p:nvPr/>
        </p:nvSpPr>
        <p:spPr>
          <a:xfrm>
            <a:off x="9464040" y="605332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0000">
                    <a:alpha val="7000"/>
                  </a:srgbClr>
                </a:solidFill>
                <a:latin typeface="DM Sans"/>
              </a:rPr>
              <a:t>GO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COMO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Do anúncio ao repasse, em quatro passos.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615184"/>
            <a:ext cx="1001268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13232" y="2331720"/>
            <a:ext cx="585216" cy="585216"/>
          </a:xfrm>
          <a:prstGeom prst="ellipse">
            <a:avLst/>
          </a:prstGeom>
          <a:solidFill>
            <a:srgbClr val="FF3333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Anuncia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Loja verificada ou atleta publica com fotos guiadas e histórico.</a:t>
            </a:r>
          </a:p>
        </p:txBody>
      </p:sp>
      <p:sp>
        <p:nvSpPr>
          <p:cNvPr id="9" name="Oval 8"/>
          <p:cNvSpPr/>
          <p:nvPr/>
        </p:nvSpPr>
        <p:spPr>
          <a:xfrm>
            <a:off x="3438144" y="2331720"/>
            <a:ext cx="585216" cy="585216"/>
          </a:xfrm>
          <a:prstGeom prst="ellipse">
            <a:avLst/>
          </a:prstGeom>
          <a:solidFill>
            <a:srgbClr val="FFFF00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38144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Compra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Checkout único: Pix ou cartão, com o valor em custódia.</a:t>
            </a:r>
          </a:p>
        </p:txBody>
      </p:sp>
      <p:sp>
        <p:nvSpPr>
          <p:cNvPr id="13" name="Oval 12"/>
          <p:cNvSpPr/>
          <p:nvPr/>
        </p:nvSpPr>
        <p:spPr>
          <a:xfrm>
            <a:off x="6163056" y="2331720"/>
            <a:ext cx="585216" cy="585216"/>
          </a:xfrm>
          <a:prstGeom prst="ellipse">
            <a:avLst/>
          </a:prstGeom>
          <a:solidFill>
            <a:srgbClr val="00CC00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63056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Recebe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Envio rastreado e prazo de conferência para o comprador.</a:t>
            </a:r>
          </a:p>
        </p:txBody>
      </p:sp>
      <p:sp>
        <p:nvSpPr>
          <p:cNvPr id="17" name="Oval 16"/>
          <p:cNvSpPr/>
          <p:nvPr/>
        </p:nvSpPr>
        <p:spPr>
          <a:xfrm>
            <a:off x="8887967" y="2331720"/>
            <a:ext cx="585216" cy="585216"/>
          </a:xfrm>
          <a:prstGeom prst="ellipse">
            <a:avLst/>
          </a:prstGeom>
          <a:solidFill>
            <a:srgbClr val="0066FF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87967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3103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Libera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3103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Entrega confirmada, repasse liberado automaticamente.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4590288"/>
            <a:ext cx="10762488" cy="1325880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0976" y="4773168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FF3333"/>
                </a:solidFill>
                <a:latin typeface="Space Mono"/>
              </a:rPr>
              <a:t>CUSTÓDIA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5029200"/>
            <a:ext cx="13258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3333"/>
                </a:solidFill>
                <a:latin typeface="DM Sans"/>
              </a:rPr>
              <a:t>o dinheiro não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3333"/>
                </a:solidFill>
                <a:latin typeface="DM Sans"/>
              </a:rPr>
              <a:t>anda sozinho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95728" y="4828032"/>
            <a:ext cx="1847088" cy="804672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395728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DM Sans"/>
              </a:rPr>
              <a:t>Pix aprovado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4315968" y="5221224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626864" y="4828032"/>
            <a:ext cx="1847088" cy="804672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626864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DM Sans"/>
              </a:rPr>
              <a:t>Valor retido</a:t>
            </a:r>
          </a:p>
        </p:txBody>
      </p:sp>
      <p:sp>
        <p:nvSpPr>
          <p:cNvPr id="29" name="Isosceles Triangle 28"/>
          <p:cNvSpPr/>
          <p:nvPr/>
        </p:nvSpPr>
        <p:spPr>
          <a:xfrm rot="5400000">
            <a:off x="6547104" y="5221224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858000" y="4828032"/>
            <a:ext cx="1847088" cy="804672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58000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DM Sans"/>
              </a:rPr>
              <a:t>Entrega confirmada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8778240" y="5221224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89136" y="4828032"/>
            <a:ext cx="1847088" cy="804672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89136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DM Sans"/>
              </a:rPr>
              <a:t>Repasse liberado</a:t>
            </a:r>
          </a:p>
        </p:txBody>
      </p:sp>
      <p:sp>
        <p:nvSpPr>
          <p:cNvPr id="187" name="Oval 186"/>
          <p:cNvSpPr/>
          <p:nvPr/>
        </p:nvSpPr>
        <p:spPr>
          <a:xfrm>
            <a:off x="932688" y="2487168"/>
            <a:ext cx="274320" cy="274320"/>
          </a:xfrm>
          <a:prstGeom prst="ellipse">
            <a:avLst/>
          </a:prstGeom>
          <a:solidFill>
            <a:srgbClr val="FF3333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Rectangle 187"/>
          <p:cNvSpPr/>
          <p:nvPr/>
        </p:nvSpPr>
        <p:spPr>
          <a:xfrm>
            <a:off x="11100816" y="2249424"/>
            <a:ext cx="141732" cy="1417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Rectangle 188"/>
          <p:cNvSpPr/>
          <p:nvPr/>
        </p:nvSpPr>
        <p:spPr>
          <a:xfrm>
            <a:off x="11242548" y="2249424"/>
            <a:ext cx="141732" cy="1417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Rectangle 189"/>
          <p:cNvSpPr/>
          <p:nvPr/>
        </p:nvSpPr>
        <p:spPr>
          <a:xfrm>
            <a:off x="11384280" y="2249424"/>
            <a:ext cx="141732" cy="1417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Rectangle 190"/>
          <p:cNvSpPr/>
          <p:nvPr/>
        </p:nvSpPr>
        <p:spPr>
          <a:xfrm>
            <a:off x="11100816" y="2391156"/>
            <a:ext cx="141732" cy="1417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11242548" y="2391156"/>
            <a:ext cx="141732" cy="1417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11384280" y="2391156"/>
            <a:ext cx="141732" cy="1417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11100816" y="2532888"/>
            <a:ext cx="141732" cy="1417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11242548" y="2532888"/>
            <a:ext cx="141732" cy="1417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11384280" y="2532888"/>
            <a:ext cx="141732" cy="1417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11100816" y="2674620"/>
            <a:ext cx="141732" cy="1417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11242548" y="2674620"/>
            <a:ext cx="141732" cy="1417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11384280" y="2674620"/>
            <a:ext cx="141732" cy="1417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Chevron 199"/>
          <p:cNvSpPr/>
          <p:nvPr/>
        </p:nvSpPr>
        <p:spPr>
          <a:xfrm>
            <a:off x="1993392" y="2523744"/>
            <a:ext cx="147675" cy="173736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Chevron 200"/>
          <p:cNvSpPr/>
          <p:nvPr/>
        </p:nvSpPr>
        <p:spPr>
          <a:xfrm>
            <a:off x="2221992" y="2523744"/>
            <a:ext cx="147675" cy="173736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Chevron 201"/>
          <p:cNvSpPr/>
          <p:nvPr/>
        </p:nvSpPr>
        <p:spPr>
          <a:xfrm>
            <a:off x="4718304" y="2523744"/>
            <a:ext cx="147675" cy="173736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Chevron 202"/>
          <p:cNvSpPr/>
          <p:nvPr/>
        </p:nvSpPr>
        <p:spPr>
          <a:xfrm>
            <a:off x="4946904" y="2523744"/>
            <a:ext cx="147675" cy="173736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Chevron 203"/>
          <p:cNvSpPr/>
          <p:nvPr/>
        </p:nvSpPr>
        <p:spPr>
          <a:xfrm>
            <a:off x="7443216" y="2523744"/>
            <a:ext cx="147675" cy="173736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Chevron 204"/>
          <p:cNvSpPr/>
          <p:nvPr/>
        </p:nvSpPr>
        <p:spPr>
          <a:xfrm>
            <a:off x="7671816" y="2523744"/>
            <a:ext cx="147675" cy="173736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325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COMO FUNCIONA   ·   06/15</a:t>
            </a:r>
          </a:p>
        </p:txBody>
      </p:sp>
      <p:sp>
        <p:nvSpPr>
          <p:cNvPr id="326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850">
        <p14:conveyor dir="l"/>
      </p:transition>
    </mc:Choice>
    <mc:Fallback>
      <p:transition spd="med">
        <p:push dir="l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8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44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50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56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62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68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74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80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86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92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98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104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10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116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122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1280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90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" dur="6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100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104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108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114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120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26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32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1380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1440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1500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156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1620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1680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620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822 0 E" pathEditMode="relative" rCtr="0">
                                      <p:cBhvr>
                                        <p:cTn id="191" dur="1700" fill="hold"/>
                                        <p:tgtEl>
                                          <p:spTgt spid="187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900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7" dur="35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8" dur="350" fill="hold"/>
                                        <p:tgtEl>
                                          <p:spTgt spid="20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955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35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4" dur="35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5" dur="350" fill="hold"/>
                                        <p:tgtEl>
                                          <p:spTgt spid="20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1010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5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1" dur="35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2" dur="350" fill="hold"/>
                                        <p:tgtEl>
                                          <p:spTgt spid="202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1065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5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8" dur="35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9" dur="350" fill="hold"/>
                                        <p:tgtEl>
                                          <p:spTgt spid="203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1120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35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5" dur="35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26" dur="350" fill="hold"/>
                                        <p:tgtEl>
                                          <p:spTgt spid="204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1175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5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2" dur="35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33" dur="350" fill="hold"/>
                                        <p:tgtEl>
                                          <p:spTgt spid="20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delay="232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38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9" dur="38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40" dur="380" fill="hold"/>
                                        <p:tgtEl>
                                          <p:spTgt spid="18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1" fill="hold">
                      <p:stCondLst>
                        <p:cond delay="2345"/>
                      </p:stCondLst>
                      <p:childTnLst>
                        <p:par>
                          <p:cTn id="242" fill="hold">
                            <p:stCondLst>
                              <p:cond delay="0"/>
                            </p:stCondLst>
                            <p:childTnLst>
                              <p:par>
                                <p:cTn id="2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38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6" dur="38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47" dur="380" fill="hold"/>
                                        <p:tgtEl>
                                          <p:spTgt spid="18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8" fill="hold">
                      <p:stCondLst>
                        <p:cond delay="2370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38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3" dur="380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54" dur="380" fill="hold"/>
                                        <p:tgtEl>
                                          <p:spTgt spid="19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5" fill="hold">
                      <p:stCondLst>
                        <p:cond delay="2395"/>
                      </p:stCondLst>
                      <p:childTnLst>
                        <p:par>
                          <p:cTn id="256" fill="hold">
                            <p:stCondLst>
                              <p:cond delay="0"/>
                            </p:stCondLst>
                            <p:childTnLst>
                              <p:par>
                                <p:cTn id="25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38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0" dur="38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61" dur="380" fill="hold"/>
                                        <p:tgtEl>
                                          <p:spTgt spid="19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2" fill="hold">
                      <p:stCondLst>
                        <p:cond delay="2420"/>
                      </p:stCondLst>
                      <p:childTnLst>
                        <p:par>
                          <p:cTn id="263" fill="hold">
                            <p:stCondLst>
                              <p:cond delay="0"/>
                            </p:stCondLst>
                            <p:childTnLst>
                              <p:par>
                                <p:cTn id="2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38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7" dur="38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68" dur="380" fill="hold"/>
                                        <p:tgtEl>
                                          <p:spTgt spid="192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9" fill="hold">
                      <p:stCondLst>
                        <p:cond delay="2445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id="2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8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4" dur="380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75" dur="380" fill="hold"/>
                                        <p:tgtEl>
                                          <p:spTgt spid="193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6" fill="hold">
                      <p:stCondLst>
                        <p:cond delay="247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0" dur="38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1" dur="380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82" dur="380" fill="hold"/>
                                        <p:tgtEl>
                                          <p:spTgt spid="194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3" fill="hold">
                      <p:stCondLst>
                        <p:cond delay="2495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id="28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8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8" dur="38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89" dur="380" fill="hold"/>
                                        <p:tgtEl>
                                          <p:spTgt spid="19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0" fill="hold">
                      <p:stCondLst>
                        <p:cond delay="2520"/>
                      </p:stCondLst>
                      <p:childTnLst>
                        <p:par>
                          <p:cTn id="291" fill="hold">
                            <p:stCondLst>
                              <p:cond delay="0"/>
                            </p:stCondLst>
                            <p:childTnLst>
                              <p:par>
                                <p:cTn id="29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38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5" dur="38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6" dur="380" fill="hold"/>
                                        <p:tgtEl>
                                          <p:spTgt spid="19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>
                      <p:stCondLst>
                        <p:cond delay="2545"/>
                      </p:stCondLst>
                      <p:childTnLst>
                        <p:par>
                          <p:cTn id="298" fill="hold">
                            <p:stCondLst>
                              <p:cond delay="0"/>
                            </p:stCondLst>
                            <p:childTnLst>
                              <p:par>
                                <p:cTn id="29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38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2" dur="38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03" dur="380" fill="hold"/>
                                        <p:tgtEl>
                                          <p:spTgt spid="197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4" fill="hold">
                      <p:stCondLst>
                        <p:cond delay="2570"/>
                      </p:stCondLst>
                      <p:childTnLst>
                        <p:par>
                          <p:cTn id="305" fill="hold">
                            <p:stCondLst>
                              <p:cond delay="0"/>
                            </p:stCondLst>
                            <p:childTnLst>
                              <p:par>
                                <p:cTn id="3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38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9" dur="38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0" dur="380" fill="hold"/>
                                        <p:tgtEl>
                                          <p:spTgt spid="19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1" fill="hold">
                      <p:stCondLst>
                        <p:cond delay="2595"/>
                      </p:stCondLst>
                      <p:childTnLst>
                        <p:par>
                          <p:cTn id="312" fill="hold">
                            <p:stCondLst>
                              <p:cond delay="0"/>
                            </p:stCondLst>
                            <p:childTnLst>
                              <p:par>
                                <p:cTn id="3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8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6" dur="38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7" dur="380" fill="hold"/>
                                        <p:tgtEl>
                                          <p:spTgt spid="19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8" fill="hold">
                      <p:stCondLst>
                        <p:cond delay="2500"/>
                      </p:stCondLst>
                      <p:childTnLst>
                        <p:par>
                          <p:cTn id="319" fill="hold">
                            <p:stCondLst>
                              <p:cond delay="0"/>
                            </p:stCondLst>
                            <p:childTnLst>
                              <p:par>
                                <p:cTn id="3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6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0" name="TextBox 249"/>
          <p:cNvSpPr txBox="1"/>
          <p:nvPr/>
        </p:nvSpPr>
        <p:spPr>
          <a:xfrm>
            <a:off x="6629400" y="6382512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>
                    <a:alpha val="8000"/>
                  </a:srgbClr>
                </a:solidFill>
                <a:latin typeface="DM Sans"/>
              </a:rPr>
              <a:t>FAST CHECKOUT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555480" y="1133856"/>
            <a:ext cx="1874519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Rectangle 239"/>
          <p:cNvSpPr/>
          <p:nvPr/>
        </p:nvSpPr>
        <p:spPr>
          <a:xfrm>
            <a:off x="9555480" y="1271016"/>
            <a:ext cx="1162202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Rectangle 240"/>
          <p:cNvSpPr/>
          <p:nvPr/>
        </p:nvSpPr>
        <p:spPr>
          <a:xfrm>
            <a:off x="9555480" y="1408176"/>
            <a:ext cx="720565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PRODUTO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O produto por dentro.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Fluxos desenhados para reduzir dúvida em cada tela.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542032"/>
            <a:ext cx="5532120" cy="331012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5495544" cy="310896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96112" y="2670048"/>
            <a:ext cx="100584" cy="100584"/>
          </a:xfrm>
          <a:prstGeom prst="ellipse">
            <a:avLst/>
          </a:prstGeom>
          <a:solidFill>
            <a:srgbClr val="FF3333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78992" y="2670048"/>
            <a:ext cx="100584" cy="100584"/>
          </a:xfrm>
          <a:prstGeom prst="ellipse">
            <a:avLst/>
          </a:prstGeom>
          <a:solidFill>
            <a:srgbClr val="FFFF0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261872" y="2670048"/>
            <a:ext cx="100584" cy="100584"/>
          </a:xfrm>
          <a:prstGeom prst="ellipse">
            <a:avLst/>
          </a:prstGeom>
          <a:solidFill>
            <a:srgbClr val="00CC0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69264" y="3108960"/>
            <a:ext cx="1143000" cy="237744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69264" y="3438144"/>
            <a:ext cx="1783080" cy="164592"/>
          </a:xfrm>
          <a:prstGeom prst="rect">
            <a:avLst/>
          </a:prstGeom>
          <a:solidFill>
            <a:srgbClr val="F0F0F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969264" y="3694176"/>
            <a:ext cx="1783080" cy="164592"/>
          </a:xfrm>
          <a:prstGeom prst="rect">
            <a:avLst/>
          </a:prstGeom>
          <a:solidFill>
            <a:srgbClr val="F0F0F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69264" y="3950208"/>
            <a:ext cx="1783080" cy="164592"/>
          </a:xfrm>
          <a:prstGeom prst="rect">
            <a:avLst/>
          </a:prstGeom>
          <a:solidFill>
            <a:srgbClr val="F0F0F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69264" y="4370831"/>
            <a:ext cx="2148840" cy="292608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969264" y="4736592"/>
            <a:ext cx="2148840" cy="292608"/>
          </a:xfrm>
          <a:prstGeom prst="rect">
            <a:avLst/>
          </a:prstGeom>
          <a:solidFill>
            <a:srgbClr val="FFFF00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969264" y="5102351"/>
            <a:ext cx="2148840" cy="292608"/>
          </a:xfrm>
          <a:prstGeom prst="rect">
            <a:avLst/>
          </a:prstGeom>
          <a:solidFill>
            <a:srgbClr val="0066FF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410712" y="3090672"/>
            <a:ext cx="2578608" cy="2487168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566160" y="3255263"/>
            <a:ext cx="2267712" cy="1335024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566160" y="4700016"/>
            <a:ext cx="1115568" cy="18288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566160" y="5010912"/>
            <a:ext cx="2267712" cy="329184"/>
          </a:xfrm>
          <a:prstGeom prst="rect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0" y="2487168"/>
            <a:ext cx="2084831" cy="35295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675120" y="2633472"/>
            <a:ext cx="1901952" cy="3236976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315200" y="2724912"/>
            <a:ext cx="621792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803136" y="2926080"/>
            <a:ext cx="1645920" cy="932688"/>
          </a:xfrm>
          <a:prstGeom prst="rect">
            <a:avLst/>
          </a:prstGeom>
          <a:solidFill>
            <a:srgbClr val="00CC00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803136" y="3968496"/>
            <a:ext cx="1005840" cy="146304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803136" y="4206240"/>
            <a:ext cx="1645920" cy="1371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803136" y="4480560"/>
            <a:ext cx="822960" cy="256032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803136" y="4882896"/>
            <a:ext cx="164592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803136" y="5120640"/>
            <a:ext cx="109728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803136" y="5431536"/>
            <a:ext cx="1645920" cy="329184"/>
          </a:xfrm>
          <a:prstGeom prst="rect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83680" y="6108192"/>
            <a:ext cx="2084831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PÁGINA VERIFICADA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487168"/>
            <a:ext cx="2084831" cy="35295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70848" y="2633472"/>
            <a:ext cx="1901952" cy="3236976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710928" y="2724912"/>
            <a:ext cx="621792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9198864" y="2926080"/>
            <a:ext cx="1645920" cy="932688"/>
          </a:xfrm>
          <a:prstGeom prst="rect">
            <a:avLst/>
          </a:prstGeom>
          <a:solidFill>
            <a:srgbClr val="0066FF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198864" y="3968496"/>
            <a:ext cx="1005840" cy="146304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98864" y="4206240"/>
            <a:ext cx="1645920" cy="1371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198864" y="4480560"/>
            <a:ext cx="822960" cy="256032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9198864" y="4882896"/>
            <a:ext cx="164592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9198864" y="5120640"/>
            <a:ext cx="109728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9198864" y="5431536"/>
            <a:ext cx="1645920" cy="329184"/>
          </a:xfrm>
          <a:prstGeom prst="rect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979408" y="6108192"/>
            <a:ext cx="2084831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CUSTÓDIA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943600"/>
            <a:ext cx="55321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CATÁLOGO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5504688" y="2596896"/>
            <a:ext cx="118872" cy="1188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Rectangle 242"/>
          <p:cNvSpPr/>
          <p:nvPr/>
        </p:nvSpPr>
        <p:spPr>
          <a:xfrm>
            <a:off x="5623559" y="2596896"/>
            <a:ext cx="118872" cy="118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Rectangle 243"/>
          <p:cNvSpPr/>
          <p:nvPr/>
        </p:nvSpPr>
        <p:spPr>
          <a:xfrm>
            <a:off x="5742431" y="2596896"/>
            <a:ext cx="118872" cy="1188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Rectangle 244"/>
          <p:cNvSpPr/>
          <p:nvPr/>
        </p:nvSpPr>
        <p:spPr>
          <a:xfrm>
            <a:off x="5861303" y="2596896"/>
            <a:ext cx="118872" cy="118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Rectangle 245"/>
          <p:cNvSpPr/>
          <p:nvPr/>
        </p:nvSpPr>
        <p:spPr>
          <a:xfrm>
            <a:off x="5504688" y="2715768"/>
            <a:ext cx="118872" cy="118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Rectangle 246"/>
          <p:cNvSpPr/>
          <p:nvPr/>
        </p:nvSpPr>
        <p:spPr>
          <a:xfrm>
            <a:off x="5623559" y="2715768"/>
            <a:ext cx="118872" cy="1188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Rectangle 247"/>
          <p:cNvSpPr/>
          <p:nvPr/>
        </p:nvSpPr>
        <p:spPr>
          <a:xfrm>
            <a:off x="5742431" y="2715768"/>
            <a:ext cx="118872" cy="118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Rectangle 248"/>
          <p:cNvSpPr/>
          <p:nvPr/>
        </p:nvSpPr>
        <p:spPr>
          <a:xfrm>
            <a:off x="5861303" y="2715768"/>
            <a:ext cx="118872" cy="1188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320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PRODUTO   ·   07/15</a:t>
            </a:r>
          </a:p>
        </p:txBody>
      </p:sp>
      <p:sp>
        <p:nvSpPr>
          <p:cNvPr id="321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p14:dur="700"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65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445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4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495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52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545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57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59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62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645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670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695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72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745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77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640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67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70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73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76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79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820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85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880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91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940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97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3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1000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103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1060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1090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7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112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3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1150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9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118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5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delay="1210"/>
                      </p:stCondLst>
                      <p:childTnLst>
                        <p:par>
                          <p:cTn id="217" fill="hold">
                            <p:stCondLst>
                              <p:cond delay="0"/>
                            </p:stCondLst>
                            <p:childTnLst>
                              <p:par>
                                <p:cTn id="21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1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124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7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1270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3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delay="115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180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4" dur="50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5" fill="hold">
                      <p:stCondLst>
                        <p:cond delay="250"/>
                      </p:stCondLst>
                      <p:childTnLst>
                        <p:par>
                          <p:cTn id="246" fill="hold">
                            <p:stCondLst>
                              <p:cond delay="0"/>
                            </p:stCondLst>
                            <p:childTnLst>
                              <p:par>
                                <p:cTn id="2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0" dur="5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320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6" dur="5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7" fill="hold">
                      <p:stCondLst>
                        <p:cond delay="480"/>
                      </p:stCondLst>
                      <p:childTnLst>
                        <p:par>
                          <p:cTn id="258" fill="hold">
                            <p:stCondLst>
                              <p:cond delay="0"/>
                            </p:stCondLst>
                            <p:childTnLst>
                              <p:par>
                                <p:cTn id="2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8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2" dur="38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63" dur="380" fill="hold"/>
                                        <p:tgtEl>
                                          <p:spTgt spid="242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510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38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9" dur="38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70" dur="380" fill="hold"/>
                                        <p:tgtEl>
                                          <p:spTgt spid="243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1" fill="hold">
                      <p:stCondLst>
                        <p:cond delay="540"/>
                      </p:stCondLst>
                      <p:childTnLst>
                        <p:par>
                          <p:cTn id="272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8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6" dur="38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77" dur="380" fill="hold"/>
                                        <p:tgtEl>
                                          <p:spTgt spid="244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8" fill="hold">
                      <p:stCondLst>
                        <p:cond delay="570"/>
                      </p:stCondLst>
                      <p:childTnLst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id="28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38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3" dur="38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84" dur="380" fill="hold"/>
                                        <p:tgtEl>
                                          <p:spTgt spid="24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5" fill="hold">
                      <p:stCondLst>
                        <p:cond delay="600"/>
                      </p:stCondLst>
                      <p:childTnLst>
                        <p:par>
                          <p:cTn id="286" fill="hold">
                            <p:stCondLst>
                              <p:cond delay="0"/>
                            </p:stCondLst>
                            <p:childTnLst>
                              <p:par>
                                <p:cTn id="28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38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0" dur="38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1" dur="380" fill="hold"/>
                                        <p:tgtEl>
                                          <p:spTgt spid="24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2" fill="hold">
                      <p:stCondLst>
                        <p:cond delay="630"/>
                      </p:stCondLst>
                      <p:childTnLst>
                        <p:par>
                          <p:cTn id="293" fill="hold">
                            <p:stCondLst>
                              <p:cond delay="0"/>
                            </p:stCondLst>
                            <p:childTnLst>
                              <p:par>
                                <p:cTn id="2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38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7" dur="38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8" dur="380" fill="hold"/>
                                        <p:tgtEl>
                                          <p:spTgt spid="247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9" fill="hold">
                      <p:stCondLst>
                        <p:cond delay="660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id="3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8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4" dur="38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05" dur="380" fill="hold"/>
                                        <p:tgtEl>
                                          <p:spTgt spid="24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6" fill="hold">
                      <p:stCondLst>
                        <p:cond delay="690"/>
                      </p:stCondLst>
                      <p:childTnLst>
                        <p:par>
                          <p:cTn id="307" fill="hold">
                            <p:stCondLst>
                              <p:cond delay="0"/>
                            </p:stCondLst>
                            <p:childTnLst>
                              <p:par>
                                <p:cTn id="30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38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1" dur="38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2" dur="380" fill="hold"/>
                                        <p:tgtEl>
                                          <p:spTgt spid="24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3" fill="hold">
                      <p:stCondLst>
                        <p:cond delay="900"/>
                      </p:stCondLst>
                      <p:childTnLst>
                        <p:par>
                          <p:cTn id="314" fill="hold">
                            <p:stCondLst>
                              <p:cond delay="0"/>
                            </p:stCondLst>
                            <p:childTnLst>
                              <p:par>
                                <p:cTn id="3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6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9" name="TextBox 218"/>
          <p:cNvSpPr txBox="1"/>
          <p:nvPr/>
        </p:nvSpPr>
        <p:spPr>
          <a:xfrm>
            <a:off x="731520" y="638251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>
                    <a:alpha val="7000"/>
                  </a:srgbClr>
                </a:solidFill>
                <a:latin typeface="DM Sans"/>
              </a:rPr>
              <a:t>FLUXO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646920" y="1152144"/>
            <a:ext cx="1828800" cy="50292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9646920" y="1289304"/>
            <a:ext cx="1133856" cy="50292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9646920" y="1426464"/>
            <a:ext cx="702990" cy="50292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FF33"/>
                </a:solidFill>
                <a:latin typeface="Space Mono"/>
              </a:rPr>
              <a:t>// 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FFFFFF"/>
                </a:solidFill>
                <a:latin typeface="DM Sans"/>
              </a:rPr>
              <a:t>Confiança não é um selo. É um fluxo.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212848"/>
            <a:ext cx="42062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80">
                <a:solidFill>
                  <a:srgbClr val="FFFF33"/>
                </a:solidFill>
                <a:latin typeface="Space Mono"/>
              </a:rPr>
              <a:t>VERIFICAÇÃO · 3 CAMADAS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633472"/>
            <a:ext cx="475488" cy="475488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63347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261518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spc="-30">
                <a:solidFill>
                  <a:srgbClr val="FFFFFF"/>
                </a:solidFill>
                <a:latin typeface="DM Sans"/>
              </a:rPr>
              <a:t>Documento e CNPJ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8176" y="2926079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CCCCCC"/>
                </a:solidFill>
                <a:latin typeface="DM Sans"/>
              </a:rPr>
              <a:t>Existência real, sócio responsável e dados bancários.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511296"/>
            <a:ext cx="4709160" cy="9144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13232" y="3749039"/>
            <a:ext cx="475488" cy="475488"/>
          </a:xfrm>
          <a:prstGeom prst="rect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374903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373075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spc="-30">
                <a:solidFill>
                  <a:srgbClr val="FFFFFF"/>
                </a:solidFill>
                <a:latin typeface="DM Sans"/>
              </a:rPr>
              <a:t>Histórico de vendas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4041648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CCCCCC"/>
                </a:solidFill>
                <a:latin typeface="DM Sans"/>
              </a:rPr>
              <a:t>Tempo de operação, volume e taxa de disputa.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626864"/>
            <a:ext cx="4709160" cy="9144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13232" y="4864608"/>
            <a:ext cx="475488" cy="475488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486460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8176" y="484632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spc="-30">
                <a:solidFill>
                  <a:srgbClr val="FFFFFF"/>
                </a:solidFill>
                <a:latin typeface="DM Sans"/>
              </a:rPr>
              <a:t>Catálogo auditado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5157216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CCCCCC"/>
                </a:solidFill>
                <a:latin typeface="DM Sans"/>
              </a:rPr>
              <a:t>Marcas, procedência e amostra de produtos.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157984"/>
            <a:ext cx="5431536" cy="329184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27648" y="2359152"/>
            <a:ext cx="40233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60">
                <a:solidFill>
                  <a:srgbClr val="FFFF00"/>
                </a:solidFill>
                <a:latin typeface="Space Mono"/>
              </a:rPr>
              <a:t>CUSTÓDIA · 4 ESTADOS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7648" y="2788920"/>
            <a:ext cx="155448" cy="155448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38544" y="2734056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Pago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276148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CCCCCC"/>
                </a:solidFill>
                <a:latin typeface="DM Sans"/>
              </a:rPr>
              <a:t>valor entra na conta custodial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3273552"/>
            <a:ext cx="4846320" cy="7315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327648" y="3428999"/>
            <a:ext cx="155448" cy="155448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638544" y="3374136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Retido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340156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CCCCCC"/>
                </a:solidFill>
                <a:latin typeface="DM Sans"/>
              </a:rPr>
              <a:t>comprador confirma o recebimento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3913631"/>
            <a:ext cx="4846320" cy="7315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327648" y="4069080"/>
            <a:ext cx="155448" cy="1554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38544" y="4014215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Em trânsito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404164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CCCCCC"/>
                </a:solidFill>
                <a:latin typeface="DM Sans"/>
              </a:rPr>
              <a:t>prazo de conferência aberto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7648" y="4553712"/>
            <a:ext cx="4846320" cy="7315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327648" y="4709159"/>
            <a:ext cx="155448" cy="155448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38544" y="4654295"/>
            <a:ext cx="1508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Liberado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4681727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CCCCCC"/>
                </a:solidFill>
                <a:latin typeface="DM Sans"/>
              </a:rPr>
              <a:t>repasse automático ao vendedor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58521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90">
                <a:solidFill>
                  <a:srgbClr val="FFFFFF"/>
                </a:solidFill>
                <a:latin typeface="DM Sans"/>
              </a:rPr>
              <a:t>Ninguém faz os dois juntos.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888736"/>
            <a:ext cx="50749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CCCCCC"/>
                </a:solidFill>
                <a:latin typeface="DM Sans"/>
              </a:rPr>
              <a:t>Marketplaces têm alcance e não verificam. Lojas têm confiança e não têm tráfego de atleta.</a:t>
            </a:r>
          </a:p>
        </p:txBody>
      </p:sp>
      <p:sp>
        <p:nvSpPr>
          <p:cNvPr id="205" name="Chevron 204"/>
          <p:cNvSpPr/>
          <p:nvPr/>
        </p:nvSpPr>
        <p:spPr>
          <a:xfrm>
            <a:off x="5870448" y="5943600"/>
            <a:ext cx="170992" cy="201168"/>
          </a:xfrm>
          <a:prstGeom prst="chevron">
            <a:avLst/>
          </a:prstGeom>
          <a:noFill/>
          <a:ln w="25400">
            <a:solidFill>
              <a:srgbClr val="FFF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Chevron 205"/>
          <p:cNvSpPr/>
          <p:nvPr/>
        </p:nvSpPr>
        <p:spPr>
          <a:xfrm>
            <a:off x="6126480" y="5943600"/>
            <a:ext cx="170992" cy="201168"/>
          </a:xfrm>
          <a:prstGeom prst="chevron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11612880" y="2926080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11759184" y="2926080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11612880" y="3072384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11759184" y="3072384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11612880" y="3218688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11759184" y="3218688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11612880" y="3364992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11759184" y="3364992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Rectangle 214"/>
          <p:cNvSpPr/>
          <p:nvPr/>
        </p:nvSpPr>
        <p:spPr>
          <a:xfrm>
            <a:off x="11612880" y="3511296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Rectangle 215"/>
          <p:cNvSpPr/>
          <p:nvPr/>
        </p:nvSpPr>
        <p:spPr>
          <a:xfrm>
            <a:off x="11759184" y="3511296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Rectangle 216"/>
          <p:cNvSpPr/>
          <p:nvPr/>
        </p:nvSpPr>
        <p:spPr>
          <a:xfrm>
            <a:off x="11612880" y="3657600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Rectangle 217"/>
          <p:cNvSpPr/>
          <p:nvPr/>
        </p:nvSpPr>
        <p:spPr>
          <a:xfrm>
            <a:off x="11759184" y="3657600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301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DIFERENCIAL   ·   08/15</a:t>
            </a:r>
          </a:p>
        </p:txBody>
      </p:sp>
      <p:sp>
        <p:nvSpPr>
          <p:cNvPr id="302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50">
        <p14:vortex dir="l"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4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7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4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4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6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35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6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6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9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6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6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4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6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0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5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6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1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6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6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7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6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3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6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8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6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4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6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95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6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5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6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62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0" dur="620" fill="hold"/>
                                        <p:tgtEl>
                                          <p:spTgt spid="1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74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78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835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89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945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100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055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111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1165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122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1275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1330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1385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1440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1495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1550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1120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6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6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1240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180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7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250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3" dur="5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320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9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520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36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5" dur="36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26" dur="360" fill="hold"/>
                                        <p:tgtEl>
                                          <p:spTgt spid="20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580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6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2" dur="36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33" dur="360" fill="hold"/>
                                        <p:tgtEl>
                                          <p:spTgt spid="20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delay="70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8" dur="38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722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3" dur="38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744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8" dur="38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9" fill="hold">
                      <p:stCondLst>
                        <p:cond delay="766"/>
                      </p:stCondLst>
                      <p:childTnLst>
                        <p:par>
                          <p:cTn id="250" fill="hold">
                            <p:stCondLst>
                              <p:cond delay="0"/>
                            </p:stCondLst>
                            <p:childTnLst>
                              <p:par>
                                <p:cTn id="25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3" dur="38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788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8" dur="38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810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3" dur="38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832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8" dur="38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9" fill="hold">
                      <p:stCondLst>
                        <p:cond delay="854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id="27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3" dur="38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4" fill="hold">
                      <p:stCondLst>
                        <p:cond delay="876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8" dur="38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898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3" dur="38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4" fill="hold">
                      <p:stCondLst>
                        <p:cond delay="920"/>
                      </p:stCondLst>
                      <p:childTnLst>
                        <p:par>
                          <p:cTn id="285" fill="hold">
                            <p:stCondLst>
                              <p:cond delay="0"/>
                            </p:stCondLst>
                            <p:childTnLst>
                              <p:par>
                                <p:cTn id="28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8" dur="38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9" fill="hold">
                      <p:stCondLst>
                        <p:cond delay="942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3" dur="38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4" fill="hold">
                      <p:stCondLst>
                        <p:cond delay="880"/>
                      </p:stCondLst>
                      <p:childTnLst>
                        <p:par>
                          <p:cTn id="295" fill="hold">
                            <p:stCondLst>
                              <p:cond delay="0"/>
                            </p:stCondLst>
                            <p:childTnLst>
                              <p:par>
                                <p:cTn id="2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6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4" name="Rectangle 203"/>
          <p:cNvSpPr/>
          <p:nvPr/>
        </p:nvSpPr>
        <p:spPr>
          <a:xfrm>
            <a:off x="9006840" y="1115568"/>
            <a:ext cx="1417320" cy="45720"/>
          </a:xfrm>
          <a:prstGeom prst="rect">
            <a:avLst/>
          </a:prstGeom>
          <a:solidFill>
            <a:srgbClr val="00000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9006840" y="1243584"/>
            <a:ext cx="878738" cy="45720"/>
          </a:xfrm>
          <a:prstGeom prst="rect">
            <a:avLst/>
          </a:prstGeom>
          <a:solidFill>
            <a:srgbClr val="00000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9006840" y="1371600"/>
            <a:ext cx="544817" cy="45720"/>
          </a:xfrm>
          <a:prstGeom prst="rect">
            <a:avLst/>
          </a:prstGeom>
          <a:solidFill>
            <a:srgbClr val="00000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MODELO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Como o dinheiro entra.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Receita no fluxo, não em mensalidade do atleta.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14016"/>
            <a:ext cx="3401568" cy="248716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2414016"/>
            <a:ext cx="3401568" cy="146304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9264" y="2688336"/>
            <a:ext cx="2788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40">
                <a:solidFill>
                  <a:srgbClr val="000000"/>
                </a:solidFill>
                <a:latin typeface="DM Sans"/>
              </a:rPr>
              <a:t>Comissão por venda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072384"/>
            <a:ext cx="278892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333"/>
                </a:solidFill>
                <a:latin typeface="DM Sans"/>
              </a:rPr>
              <a:t>6% a 10% do valor da transação, descontados no repasse.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3749039"/>
            <a:ext cx="2606040" cy="109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9264" y="3877056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Space Mono"/>
              </a:rPr>
              <a:t>6–10%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4389120"/>
            <a:ext cx="1572768" cy="256032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9264" y="4389120"/>
            <a:ext cx="1572768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 spc="100">
                <a:solidFill>
                  <a:srgbClr val="FFFFFF"/>
                </a:solidFill>
                <a:latin typeface="Space Mono"/>
              </a:rPr>
              <a:t>RECEITA 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414016"/>
            <a:ext cx="3401568" cy="248716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89120" y="2414016"/>
            <a:ext cx="3401568" cy="146304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45152" y="2688336"/>
            <a:ext cx="2788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40">
                <a:solidFill>
                  <a:srgbClr val="000000"/>
                </a:solidFill>
                <a:latin typeface="DM Sans"/>
              </a:rPr>
              <a:t>Destaque de loja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072384"/>
            <a:ext cx="278892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333"/>
                </a:solidFill>
                <a:latin typeface="DM Sans"/>
              </a:rPr>
              <a:t>Assinatura mensal para vitrine, selo e prioridade na busca.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5152" y="3749039"/>
            <a:ext cx="2606040" cy="109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45152" y="3877056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Space Mono"/>
              </a:rPr>
              <a:t>R$ 99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5152" y="4389120"/>
            <a:ext cx="1572768" cy="256032"/>
          </a:xfrm>
          <a:prstGeom prst="rect">
            <a:avLst/>
          </a:prstGeom>
          <a:solidFill>
            <a:srgbClr val="FFFF00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45152" y="4389120"/>
            <a:ext cx="1572768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 spc="100">
                <a:solidFill>
                  <a:srgbClr val="000000"/>
                </a:solidFill>
                <a:latin typeface="Space Mono"/>
              </a:rPr>
              <a:t>RECORRENTE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65007" y="2414016"/>
            <a:ext cx="3401568" cy="248716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65007" y="2414016"/>
            <a:ext cx="3401568" cy="146304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21039" y="2688336"/>
            <a:ext cx="2788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40">
                <a:solidFill>
                  <a:srgbClr val="000000"/>
                </a:solidFill>
                <a:latin typeface="DM Sans"/>
              </a:rPr>
              <a:t>Serviços esportivos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3072384"/>
            <a:ext cx="278892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333"/>
                </a:solidFill>
                <a:latin typeface="DM Sans"/>
              </a:rPr>
              <a:t>Fotografia, laudo de autenticidade e eventos com parceiros.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39" y="3749039"/>
            <a:ext cx="2606040" cy="109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21039" y="3877056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Space Mono"/>
              </a:rPr>
              <a:t>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9" y="4389120"/>
            <a:ext cx="1572768" cy="256032"/>
          </a:xfrm>
          <a:prstGeom prst="rect">
            <a:avLst/>
          </a:prstGeom>
          <a:solidFill>
            <a:srgbClr val="0066FF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21039" y="4389120"/>
            <a:ext cx="1572768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 spc="100">
                <a:solidFill>
                  <a:srgbClr val="FFFFFF"/>
                </a:solidFill>
                <a:latin typeface="Space Mono"/>
              </a:rPr>
              <a:t>EXPANSÃO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5120640"/>
            <a:ext cx="10762488" cy="1078992"/>
          </a:xfrm>
          <a:prstGeom prst="rect">
            <a:avLst/>
          </a:prstGeom>
          <a:solidFill>
            <a:srgbClr val="000000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50976" y="5303520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20">
                <a:solidFill>
                  <a:srgbClr val="FFFF00"/>
                </a:solidFill>
                <a:latin typeface="Space Mono"/>
              </a:rPr>
              <a:t>EXEMPLO ILUSTRATIVO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FFFFFF"/>
                </a:solidFill>
                <a:latin typeface="DM Sans"/>
              </a:rPr>
              <a:t>R$ 480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TICKET MÉDIO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10912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FFFF00"/>
                </a:solidFill>
                <a:latin typeface="DM Sans"/>
              </a:rPr>
              <a:t>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10912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TAKE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87183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00CC00"/>
                </a:solidFill>
                <a:latin typeface="DM Sans"/>
              </a:rPr>
              <a:t>R$ 38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87183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RECEITA / PEDIDO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63456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CCCCCC"/>
                </a:solidFill>
                <a:latin typeface="DM Sans"/>
              </a:rPr>
              <a:t>R$ 60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3456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CAC ALVO</a:t>
            </a:r>
          </a:p>
        </p:txBody>
      </p:sp>
      <p:sp>
        <p:nvSpPr>
          <p:cNvPr id="198" name="Oval 197"/>
          <p:cNvSpPr/>
          <p:nvPr/>
        </p:nvSpPr>
        <p:spPr>
          <a:xfrm>
            <a:off x="10588752" y="1078992"/>
            <a:ext cx="1170432" cy="1170432"/>
          </a:xfrm>
          <a:prstGeom prst="ellipse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10811134" y="1301374"/>
            <a:ext cx="725667" cy="725667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10561320" y="1687616"/>
            <a:ext cx="1225296" cy="7256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Rectangle 200"/>
          <p:cNvSpPr/>
          <p:nvPr/>
        </p:nvSpPr>
        <p:spPr>
          <a:xfrm rot="2640000">
            <a:off x="11268295" y="1345513"/>
            <a:ext cx="87782" cy="39794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11086185" y="1599834"/>
            <a:ext cx="175564" cy="175564"/>
          </a:xfrm>
          <a:prstGeom prst="ellipse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TextBox 202"/>
          <p:cNvSpPr txBox="1"/>
          <p:nvPr/>
        </p:nvSpPr>
        <p:spPr>
          <a:xfrm>
            <a:off x="10378440" y="786384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20">
                <a:solidFill>
                  <a:srgbClr val="333333"/>
                </a:solidFill>
                <a:latin typeface="Space Mono"/>
              </a:rPr>
              <a:t>TAKE RATE · 8%</a:t>
            </a:r>
          </a:p>
        </p:txBody>
      </p:sp>
      <p:sp>
        <p:nvSpPr>
          <p:cNvPr id="249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51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MODELO DE NEGÓCIO   ·   09/15</a:t>
            </a:r>
          </a:p>
        </p:txBody>
      </p:sp>
      <p:sp>
        <p:nvSpPr>
          <p:cNvPr id="252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p14:dur="700"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5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5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0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5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0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5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0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5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85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0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95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0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5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10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15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20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25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3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85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2" dur="600" fill="hold"/>
                                        <p:tgtEl>
                                          <p:spTgt spid="2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95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100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105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110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1150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1200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1250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1300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1350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3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22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2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3" dur="520" fill="hold"/>
                                        <p:tgtEl>
                                          <p:spTgt spid="198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280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2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9" dur="520" fill="hold"/>
                                        <p:tgtEl>
                                          <p:spTgt spid="19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30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380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6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Rot>
                                      <p:cBhvr>
                                        <p:cTn id="220" dur="560" fill="hold"/>
                                        <p:tgtEl>
                                          <p:spTgt spid="201"/>
                                        </p:tgtEl>
                                      </p:cBhvr>
                                      <p:from x="0" y="0" z="1320000"/>
                                      <p:to x="0" y="0" z="2640000"/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380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4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200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42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180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6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fill="hold">
                      <p:stCondLst>
                        <p:cond delay="25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2" dur="500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320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8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6" name="Rectangle 165"/>
          <p:cNvSpPr/>
          <p:nvPr/>
        </p:nvSpPr>
        <p:spPr>
          <a:xfrm rot="21120000">
            <a:off x="4498848" y="3017520"/>
            <a:ext cx="1417320" cy="45720"/>
          </a:xfrm>
          <a:prstGeom prst="rect">
            <a:avLst/>
          </a:prstGeom>
          <a:solidFill>
            <a:srgbClr val="000000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Rectangle 166"/>
          <p:cNvSpPr/>
          <p:nvPr/>
        </p:nvSpPr>
        <p:spPr>
          <a:xfrm rot="21120000">
            <a:off x="4498848" y="3136391"/>
            <a:ext cx="878738" cy="45720"/>
          </a:xfrm>
          <a:prstGeom prst="rect">
            <a:avLst/>
          </a:prstGeom>
          <a:solidFill>
            <a:srgbClr val="000000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Rectangle 167"/>
          <p:cNvSpPr/>
          <p:nvPr/>
        </p:nvSpPr>
        <p:spPr>
          <a:xfrm rot="21120000">
            <a:off x="4498848" y="3255263"/>
            <a:ext cx="544817" cy="45720"/>
          </a:xfrm>
          <a:prstGeom prst="rect">
            <a:avLst/>
          </a:prstGeom>
          <a:solidFill>
            <a:srgbClr val="000000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POSICIONAMENTO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Onde ninguém está.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139696"/>
            <a:ext cx="3360420" cy="1764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073652" y="2139696"/>
            <a:ext cx="3360420" cy="176479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3904487"/>
            <a:ext cx="3360420" cy="176479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4073652" y="3904487"/>
            <a:ext cx="3360420" cy="1764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13232" y="2139696"/>
            <a:ext cx="6720840" cy="3529584"/>
          </a:xfrm>
          <a:prstGeom prst="rect">
            <a:avLst/>
          </a:prstGeom>
          <a:noFill/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064508" y="2139696"/>
            <a:ext cx="18288" cy="352958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13232" y="3895344"/>
            <a:ext cx="672084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073652" y="2139696"/>
            <a:ext cx="502920" cy="91440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42631" y="3401568"/>
            <a:ext cx="91440" cy="502920"/>
          </a:xfrm>
          <a:prstGeom prst="rect">
            <a:avLst/>
          </a:prstGeom>
          <a:solidFill>
            <a:srgbClr val="0066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28031" y="5797295"/>
            <a:ext cx="23317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ALCANCE E TRÁFEGO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7232903" y="5833871"/>
            <a:ext cx="201168" cy="201168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1901952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CONFIANÇA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749808" y="1865376"/>
            <a:ext cx="182880" cy="18288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091232" y="3097987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56408" y="3079699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DM Sans"/>
              </a:rPr>
              <a:t>lojas próprias</a:t>
            </a:r>
          </a:p>
        </p:txBody>
      </p:sp>
      <p:sp>
        <p:nvSpPr>
          <p:cNvPr id="19" name="Oval 18"/>
          <p:cNvSpPr/>
          <p:nvPr/>
        </p:nvSpPr>
        <p:spPr>
          <a:xfrm>
            <a:off x="2763316" y="4862779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028492" y="4844491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DM Sans"/>
              </a:rPr>
              <a:t>classificados</a:t>
            </a:r>
          </a:p>
        </p:txBody>
      </p:sp>
      <p:sp>
        <p:nvSpPr>
          <p:cNvPr id="21" name="Oval 20"/>
          <p:cNvSpPr/>
          <p:nvPr/>
        </p:nvSpPr>
        <p:spPr>
          <a:xfrm>
            <a:off x="4510735" y="3980383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775911" y="3962095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DM Sans"/>
              </a:rPr>
              <a:t>marketplaces genéricos</a:t>
            </a:r>
          </a:p>
        </p:txBody>
      </p:sp>
      <p:sp>
        <p:nvSpPr>
          <p:cNvPr id="23" name="8-Point Star 22"/>
          <p:cNvSpPr/>
          <p:nvPr/>
        </p:nvSpPr>
        <p:spPr>
          <a:xfrm>
            <a:off x="5959144" y="2792211"/>
            <a:ext cx="530352" cy="530352"/>
          </a:xfrm>
          <a:prstGeom prst="star8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123736" y="2956803"/>
            <a:ext cx="201168" cy="201168"/>
          </a:xfrm>
          <a:prstGeom prst="ellipse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474512" y="2362443"/>
            <a:ext cx="1499616" cy="292608"/>
          </a:xfrm>
          <a:prstGeom prst="rect">
            <a:avLst/>
          </a:prstGeom>
          <a:solidFill>
            <a:srgbClr val="FF3333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74512" y="2362443"/>
            <a:ext cx="1499616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2432304"/>
            <a:ext cx="164592" cy="164592"/>
          </a:xfrm>
          <a:prstGeom prst="rect">
            <a:avLst/>
          </a:prstGeom>
          <a:solidFill>
            <a:srgbClr val="FFFFFF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156448" y="237744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Marketplaces genéricos têm alcance, mas não verificam quem vende.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18120" y="3657600"/>
            <a:ext cx="164592" cy="164592"/>
          </a:xfrm>
          <a:prstGeom prst="rect">
            <a:avLst/>
          </a:prstGeom>
          <a:solidFill>
            <a:srgbClr val="FFFFFF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56448" y="3602736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Lojas próprias têm confiança, mas não têm tráfego de atleta.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4882896"/>
            <a:ext cx="164592" cy="164592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156448" y="4828032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0000"/>
                </a:solidFill>
                <a:latin typeface="DM Sans"/>
              </a:rPr>
              <a:t>CoreMotion junta os dois — e ainda segura o dinheiro.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0442448" y="1097280"/>
            <a:ext cx="155448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Rectangle 169"/>
          <p:cNvSpPr/>
          <p:nvPr/>
        </p:nvSpPr>
        <p:spPr>
          <a:xfrm>
            <a:off x="10597896" y="1097280"/>
            <a:ext cx="155448" cy="155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ectangle 170"/>
          <p:cNvSpPr/>
          <p:nvPr/>
        </p:nvSpPr>
        <p:spPr>
          <a:xfrm>
            <a:off x="10753344" y="1097280"/>
            <a:ext cx="155448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Rectangle 171"/>
          <p:cNvSpPr/>
          <p:nvPr/>
        </p:nvSpPr>
        <p:spPr>
          <a:xfrm>
            <a:off x="10908792" y="1097280"/>
            <a:ext cx="155448" cy="155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Rectangle 172"/>
          <p:cNvSpPr/>
          <p:nvPr/>
        </p:nvSpPr>
        <p:spPr>
          <a:xfrm>
            <a:off x="11064240" y="1097280"/>
            <a:ext cx="155448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Rectangle 173"/>
          <p:cNvSpPr/>
          <p:nvPr/>
        </p:nvSpPr>
        <p:spPr>
          <a:xfrm>
            <a:off x="11219688" y="1097280"/>
            <a:ext cx="155448" cy="155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ectangle 174"/>
          <p:cNvSpPr/>
          <p:nvPr/>
        </p:nvSpPr>
        <p:spPr>
          <a:xfrm>
            <a:off x="10442448" y="1252728"/>
            <a:ext cx="155448" cy="155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>
            <a:off x="10597896" y="1252728"/>
            <a:ext cx="155448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ectangle 176"/>
          <p:cNvSpPr/>
          <p:nvPr/>
        </p:nvSpPr>
        <p:spPr>
          <a:xfrm>
            <a:off x="10753344" y="1252728"/>
            <a:ext cx="155448" cy="155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Rectangle 177"/>
          <p:cNvSpPr/>
          <p:nvPr/>
        </p:nvSpPr>
        <p:spPr>
          <a:xfrm>
            <a:off x="10908792" y="1252728"/>
            <a:ext cx="155448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Rectangle 178"/>
          <p:cNvSpPr/>
          <p:nvPr/>
        </p:nvSpPr>
        <p:spPr>
          <a:xfrm>
            <a:off x="11064240" y="1252728"/>
            <a:ext cx="155448" cy="155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ectangle 179"/>
          <p:cNvSpPr/>
          <p:nvPr/>
        </p:nvSpPr>
        <p:spPr>
          <a:xfrm>
            <a:off x="11219688" y="1252728"/>
            <a:ext cx="155448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Chevron 180"/>
          <p:cNvSpPr/>
          <p:nvPr/>
        </p:nvSpPr>
        <p:spPr>
          <a:xfrm>
            <a:off x="7498079" y="1133856"/>
            <a:ext cx="170992" cy="201168"/>
          </a:xfrm>
          <a:prstGeom prst="chevron">
            <a:avLst/>
          </a:prstGeom>
          <a:noFill/>
          <a:ln w="25400">
            <a:solidFill>
              <a:srgbClr val="FF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Chevron 181"/>
          <p:cNvSpPr/>
          <p:nvPr/>
        </p:nvSpPr>
        <p:spPr>
          <a:xfrm>
            <a:off x="7772400" y="1133856"/>
            <a:ext cx="170992" cy="201168"/>
          </a:xfrm>
          <a:prstGeom prst="chevron">
            <a:avLst/>
          </a:prstGeom>
          <a:noFill/>
          <a:ln w="25400">
            <a:solidFill>
              <a:srgbClr val="FF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Chevron 182"/>
          <p:cNvSpPr/>
          <p:nvPr/>
        </p:nvSpPr>
        <p:spPr>
          <a:xfrm>
            <a:off x="8046719" y="1133856"/>
            <a:ext cx="170992" cy="201168"/>
          </a:xfrm>
          <a:prstGeom prst="chevron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91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POSICIONAMENTO   ·   10/15</a:t>
            </a:r>
          </a:p>
        </p:txBody>
      </p:sp>
      <p:sp>
        <p:nvSpPr>
          <p:cNvPr id="292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p14:dur="650"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24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28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32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36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40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48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52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46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46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48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48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52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5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61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70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7" dur="42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56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65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74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90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96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1050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1120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120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128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4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4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1360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4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4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1440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4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4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1520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48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220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2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2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29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2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7" dur="52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360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2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52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>
                      <p:stCondLst>
                        <p:cond delay="420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38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9" dur="38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0" dur="380" fill="hold"/>
                                        <p:tgtEl>
                                          <p:spTgt spid="16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448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8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38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7" dur="380" fill="hold"/>
                                        <p:tgtEl>
                                          <p:spTgt spid="17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476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8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3" dur="38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4" dur="380" fill="hold"/>
                                        <p:tgtEl>
                                          <p:spTgt spid="17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504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38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0" dur="38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1" dur="380" fill="hold"/>
                                        <p:tgtEl>
                                          <p:spTgt spid="172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2" fill="hold">
                      <p:stCondLst>
                        <p:cond delay="532"/>
                      </p:stCondLst>
                      <p:childTnLst>
                        <p:par>
                          <p:cTn id="213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38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7" dur="38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8" dur="380" fill="hold"/>
                                        <p:tgtEl>
                                          <p:spTgt spid="173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560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38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4" dur="38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25" dur="380" fill="hold"/>
                                        <p:tgtEl>
                                          <p:spTgt spid="174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588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38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1" dur="38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32" dur="380" fill="hold"/>
                                        <p:tgtEl>
                                          <p:spTgt spid="17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3" fill="hold">
                      <p:stCondLst>
                        <p:cond delay="616"/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id="2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8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8" dur="38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39" dur="380" fill="hold"/>
                                        <p:tgtEl>
                                          <p:spTgt spid="17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0" fill="hold">
                      <p:stCondLst>
                        <p:cond delay="644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38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5" dur="38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46" dur="380" fill="hold"/>
                                        <p:tgtEl>
                                          <p:spTgt spid="177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672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38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2" dur="38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53" dur="380" fill="hold"/>
                                        <p:tgtEl>
                                          <p:spTgt spid="17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700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38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9" dur="38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60" dur="380" fill="hold"/>
                                        <p:tgtEl>
                                          <p:spTgt spid="17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1" fill="hold">
                      <p:stCondLst>
                        <p:cond delay="728"/>
                      </p:stCondLst>
                      <p:childTnLst>
                        <p:par>
                          <p:cTn id="262" fill="hold">
                            <p:stCondLst>
                              <p:cond delay="0"/>
                            </p:stCondLst>
                            <p:childTnLst>
                              <p:par>
                                <p:cTn id="26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38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6" dur="38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67" dur="380" fill="hold"/>
                                        <p:tgtEl>
                                          <p:spTgt spid="18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8" fill="hold">
                      <p:stCondLst>
                        <p:cond delay="640"/>
                      </p:stCondLst>
                      <p:childTnLst>
                        <p:par>
                          <p:cTn id="269" fill="hold">
                            <p:stCondLst>
                              <p:cond delay="0"/>
                            </p:stCondLst>
                            <p:childTnLst>
                              <p:par>
                                <p:cTn id="2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36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3" dur="36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74" dur="360" fill="hold"/>
                                        <p:tgtEl>
                                          <p:spTgt spid="18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700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6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0" dur="36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81" dur="360" fill="hold"/>
                                        <p:tgtEl>
                                          <p:spTgt spid="182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2" fill="hold">
                      <p:stCondLst>
                        <p:cond delay="760"/>
                      </p:stCondLst>
                      <p:childTnLst>
                        <p:par>
                          <p:cTn id="283" fill="hold">
                            <p:stCondLst>
                              <p:cond delay="0"/>
                            </p:stCondLst>
                            <p:childTnLst>
                              <p:par>
                                <p:cTn id="28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36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7" dur="36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88" dur="360" fill="hold"/>
                                        <p:tgtEl>
                                          <p:spTgt spid="183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7" name="TextBox 116"/>
          <p:cNvSpPr txBox="1"/>
          <p:nvPr/>
        </p:nvSpPr>
        <p:spPr>
          <a:xfrm>
            <a:off x="731520" y="5870448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0000">
                    <a:alpha val="7000"/>
                  </a:srgbClr>
                </a:solidFill>
                <a:latin typeface="DM Sans"/>
              </a:rPr>
              <a:t>90 DIAS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555480" y="1133856"/>
            <a:ext cx="1874519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9555480" y="1271016"/>
            <a:ext cx="1162202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9555480" y="1408176"/>
            <a:ext cx="720565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Do MVP à escala.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Quatro fases, cada uma com uma pergunta a responder.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5614416"/>
            <a:ext cx="10762488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3739896"/>
            <a:ext cx="2011680" cy="1874519"/>
          </a:xfrm>
          <a:prstGeom prst="rect">
            <a:avLst/>
          </a:prstGeom>
          <a:solidFill>
            <a:srgbClr val="FF3333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3922776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FFFFFF"/>
                </a:solidFill>
                <a:latin typeface="Space Mono"/>
              </a:rPr>
              <a:t>AGORA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4197096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52628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DM Sans"/>
              </a:rPr>
              <a:t>MVP: catálogo, verificação manual e custódia.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3255263"/>
            <a:ext cx="2011680" cy="2359152"/>
          </a:xfrm>
          <a:prstGeom prst="rect">
            <a:avLst/>
          </a:prstGeom>
          <a:solidFill>
            <a:srgbClr val="FFFF00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02736" y="3438144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000000"/>
                </a:solidFill>
                <a:latin typeface="Space Mono"/>
              </a:rPr>
              <a:t>PRÓXIMO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3712463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0000"/>
                </a:solidFill>
                <a:latin typeface="DM Sans"/>
              </a:rPr>
              <a:t>Fase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4041648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DM Sans"/>
              </a:rPr>
              <a:t>Checkout completo, reputação e painel da loja.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779775"/>
            <a:ext cx="2011680" cy="2834640"/>
          </a:xfrm>
          <a:prstGeom prst="rect">
            <a:avLst/>
          </a:prstGeom>
          <a:solidFill>
            <a:srgbClr val="00CC00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2962656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000000"/>
                </a:solidFill>
                <a:latin typeface="Space Mono"/>
              </a:rPr>
              <a:t>DEPOIS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236975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0000"/>
                </a:solidFill>
                <a:latin typeface="DM Sans"/>
              </a:rPr>
              <a:t>Fase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566159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DM Sans"/>
              </a:rPr>
              <a:t>App do atleta, disputas e logística parceira.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3103" y="2304287"/>
            <a:ext cx="2011680" cy="3310128"/>
          </a:xfrm>
          <a:prstGeom prst="rect">
            <a:avLst/>
          </a:prstGeom>
          <a:solidFill>
            <a:srgbClr val="0066FF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015983" y="2487168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FFFFFF"/>
                </a:solidFill>
                <a:latin typeface="Space Mono"/>
              </a:rPr>
              <a:t>ESCALA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3" y="2761487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Fase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3" y="3090671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DM Sans"/>
              </a:rPr>
              <a:t>Expansão regional e serviços esportivos.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1521440" y="5321808"/>
            <a:ext cx="150876" cy="1508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11672315" y="5321808"/>
            <a:ext cx="150876" cy="1508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11521440" y="5472684"/>
            <a:ext cx="150876" cy="1508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11672315" y="5472684"/>
            <a:ext cx="150876" cy="1508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11521440" y="5623560"/>
            <a:ext cx="150876" cy="1508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11672315" y="5623560"/>
            <a:ext cx="150876" cy="1508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11521440" y="5774436"/>
            <a:ext cx="150876" cy="1508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11672315" y="5774436"/>
            <a:ext cx="150876" cy="1508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Chevron 113"/>
          <p:cNvSpPr/>
          <p:nvPr/>
        </p:nvSpPr>
        <p:spPr>
          <a:xfrm>
            <a:off x="10716768" y="5760720"/>
            <a:ext cx="170992" cy="201168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Chevron 114"/>
          <p:cNvSpPr/>
          <p:nvPr/>
        </p:nvSpPr>
        <p:spPr>
          <a:xfrm>
            <a:off x="10972800" y="5760720"/>
            <a:ext cx="170992" cy="201168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Chevron 115"/>
          <p:cNvSpPr/>
          <p:nvPr/>
        </p:nvSpPr>
        <p:spPr>
          <a:xfrm>
            <a:off x="11228832" y="5760720"/>
            <a:ext cx="170992" cy="201168"/>
          </a:xfrm>
          <a:prstGeom prst="chevron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08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ROADMAP   ·   11/15</a:t>
            </a:r>
          </a:p>
        </p:txBody>
      </p:sp>
      <p:sp>
        <p:nvSpPr>
          <p:cNvPr id="209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p14:dur="600" spd="fast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38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50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62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74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80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83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86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89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92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95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98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101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104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1070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1100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113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26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8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38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12" dur="380" fill="hold"/>
                                        <p:tgtEl>
                                          <p:spTgt spid="10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286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8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38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19" dur="380" fill="hold"/>
                                        <p:tgtEl>
                                          <p:spTgt spid="107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312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8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38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26" dur="380" fill="hold"/>
                                        <p:tgtEl>
                                          <p:spTgt spid="10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338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8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38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3" dur="380" fill="hold"/>
                                        <p:tgtEl>
                                          <p:spTgt spid="10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364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38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38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0" dur="380" fill="hold"/>
                                        <p:tgtEl>
                                          <p:spTgt spid="11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39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8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38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7" dur="380" fill="hold"/>
                                        <p:tgtEl>
                                          <p:spTgt spid="11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416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38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38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54" dur="380" fill="hold"/>
                                        <p:tgtEl>
                                          <p:spTgt spid="112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442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8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38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1" dur="380" fill="hold"/>
                                        <p:tgtEl>
                                          <p:spTgt spid="113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720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3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8" dur="350" fill="hold"/>
                                        <p:tgtEl>
                                          <p:spTgt spid="114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775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3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4" dur="3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5" dur="350" fill="hold"/>
                                        <p:tgtEl>
                                          <p:spTgt spid="11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830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35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35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82" dur="350" fill="hold"/>
                                        <p:tgtEl>
                                          <p:spTgt spid="11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900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5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180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3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4" fill="hold">
                      <p:stCondLst>
                        <p:cond delay="250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320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5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ONDE ESTAMOS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spc="-110">
                <a:solidFill>
                  <a:srgbClr val="000000"/>
                </a:solidFill>
                <a:latin typeface="DM Sans"/>
              </a:rPr>
              <a:t>O que já existe, de verdade.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651760"/>
            <a:ext cx="5760720" cy="10972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13232" y="2907792"/>
            <a:ext cx="128016" cy="128016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8163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Produto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63824"/>
            <a:ext cx="5349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Fluxos de catálogo, loja e checkout desenhados; identidade visual e telas definidas.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712463"/>
            <a:ext cx="5760720" cy="10972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13232" y="3968496"/>
            <a:ext cx="128016" cy="128016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3877055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24528"/>
            <a:ext cx="5349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Next.js 15 + TypeScript + Supabase. Build e type-check passando no repositório.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773168"/>
            <a:ext cx="5760720" cy="10972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13232" y="5029200"/>
            <a:ext cx="128016" cy="128016"/>
          </a:xfrm>
          <a:prstGeom prst="rect">
            <a:avLst/>
          </a:prstGeom>
          <a:solidFill>
            <a:srgbClr val="00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05840" y="493775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Operação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285232"/>
            <a:ext cx="5349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Quatro frentes independentes, com contratos de integração escritos.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0"/>
            <a:ext cx="542513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269480" y="1481328"/>
            <a:ext cx="1783080" cy="310896"/>
          </a:xfrm>
          <a:prstGeom prst="rect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269480" y="1481328"/>
            <a:ext cx="17830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40">
                <a:solidFill>
                  <a:srgbClr val="FFFFFF"/>
                </a:solidFill>
                <a:latin typeface="Space Mono"/>
              </a:rPr>
              <a:t>TRANSPARÊNCIA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2048256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110">
                <a:solidFill>
                  <a:srgbClr val="FFFFFF"/>
                </a:solidFill>
                <a:latin typeface="DM Sans"/>
              </a:rPr>
              <a:t>Ainda sem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110">
                <a:solidFill>
                  <a:srgbClr val="FFFFFF"/>
                </a:solidFill>
                <a:latin typeface="DM Sans"/>
              </a:rPr>
              <a:t>tração medida.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3346704"/>
            <a:ext cx="1188720" cy="82296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69480" y="3675887"/>
            <a:ext cx="4224528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CCCCCC"/>
                </a:solidFill>
                <a:latin typeface="DM Sans"/>
              </a:rPr>
              <a:t>O que existe é base técnica, produto desenhado e plano de execução. É exatamente isso que queremos validar com você — com vendas reais, em 90 dias.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5989320"/>
            <a:ext cx="42062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888888"/>
                </a:solidFill>
                <a:latin typeface="Space Mono"/>
              </a:rPr>
              <a:t>// SEM VANITY METRICS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ONDE ESTAMOS   ·   12/15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803136"/>
            <a:ext cx="6766560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766560" y="6803136"/>
            <a:ext cx="542513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10222992" y="1024128"/>
            <a:ext cx="1417320" cy="45720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10222992" y="1152144"/>
            <a:ext cx="878738" cy="45720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10222992" y="1280160"/>
            <a:ext cx="544817" cy="45720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0076688" y="5047488"/>
            <a:ext cx="201168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FFFFF">
                    <a:alpha val="6000"/>
                  </a:srgbClr>
                </a:solidFill>
                <a:latin typeface="DM Sans"/>
              </a:rPr>
              <a:t>90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1210544" y="6272784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11356848" y="6272784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11503152" y="6272784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11649456" y="6272784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11795760" y="6272784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11210544" y="6419088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11356848" y="6419088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11503152" y="6419088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11649456" y="6419088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11795760" y="6419088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xmlns:p14="http://schemas.microsoft.com/office/powerpoint/2010/main" p14:dur="700"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4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7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4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4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7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7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55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7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7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1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7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7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6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7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2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7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7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7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7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7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3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7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7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8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7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4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7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9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7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5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7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7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42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1" dur="7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76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80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840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6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98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108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124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8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25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32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48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7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70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38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38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52" dur="380" fill="hold"/>
                                        <p:tgtEl>
                                          <p:spTgt spid="127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728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8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38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59" dur="380" fill="hold"/>
                                        <p:tgtEl>
                                          <p:spTgt spid="12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756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38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38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6" dur="380" fill="hold"/>
                                        <p:tgtEl>
                                          <p:spTgt spid="12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784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8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2" dur="38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3" dur="380" fill="hold"/>
                                        <p:tgtEl>
                                          <p:spTgt spid="13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812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8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38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80" dur="380" fill="hold"/>
                                        <p:tgtEl>
                                          <p:spTgt spid="13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840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38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38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87" dur="380" fill="hold"/>
                                        <p:tgtEl>
                                          <p:spTgt spid="132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868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8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3" dur="38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4" dur="380" fill="hold"/>
                                        <p:tgtEl>
                                          <p:spTgt spid="133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896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8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38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1" dur="380" fill="hold"/>
                                        <p:tgtEl>
                                          <p:spTgt spid="134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924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38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7" dur="38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8" dur="380" fill="hold"/>
                                        <p:tgtEl>
                                          <p:spTgt spid="13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952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8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4" dur="38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5" dur="380" fill="hold"/>
                                        <p:tgtEl>
                                          <p:spTgt spid="13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 145"/>
          <p:cNvSpPr/>
          <p:nvPr/>
        </p:nvSpPr>
        <p:spPr>
          <a:xfrm>
            <a:off x="9555480" y="1133856"/>
            <a:ext cx="1874519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Rectangle 146"/>
          <p:cNvSpPr/>
          <p:nvPr/>
        </p:nvSpPr>
        <p:spPr>
          <a:xfrm>
            <a:off x="9555480" y="1271016"/>
            <a:ext cx="1162202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ectangle 147"/>
          <p:cNvSpPr/>
          <p:nvPr/>
        </p:nvSpPr>
        <p:spPr>
          <a:xfrm>
            <a:off x="9555480" y="1408176"/>
            <a:ext cx="720565" cy="50292"/>
          </a:xfrm>
          <a:prstGeom prst="rect">
            <a:avLst/>
          </a:prstGeom>
          <a:solidFill>
            <a:srgbClr val="0000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QUEM EXECUTA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Quatro frentes, uma entrega.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Cada frente responde pelo próprio estado, sem esperar liberação.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69264" y="2688336"/>
            <a:ext cx="749808" cy="749808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9264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Identidade &amp; acesso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Sessão, papéis, permissões e painel administrativo.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12464" y="2688336"/>
            <a:ext cx="749808" cy="749808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Catálogo &amp; negócio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Lojas, produtos, checkout e regras de comissão.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55664" y="2688336"/>
            <a:ext cx="749808" cy="749808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55664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Documento &amp; diagramas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Requisitos, arquitetura e material de apresentação.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428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198863" y="2688336"/>
            <a:ext cx="749808" cy="749808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98863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3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Verificação &amp; entrega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3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Ambiente de testes, QA e critérios de aceite.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449824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333333"/>
                </a:solidFill>
                <a:latin typeface="DM Sans"/>
              </a:rPr>
              <a:t>Nomes e mini-bios entram na versão final deste slide.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0591" y="2615184"/>
            <a:ext cx="548640" cy="274320"/>
          </a:xfrm>
          <a:prstGeom prst="rect">
            <a:avLst/>
          </a:prstGeom>
          <a:solidFill>
            <a:srgbClr val="FF3333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2450591" y="2615184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00">
                <a:solidFill>
                  <a:srgbClr val="000000"/>
                </a:solidFill>
                <a:latin typeface="Space Mono"/>
              </a:rPr>
              <a:t>01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193792" y="2615184"/>
            <a:ext cx="548640" cy="274320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5193792" y="2615184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00">
                <a:solidFill>
                  <a:srgbClr val="000000"/>
                </a:solidFill>
                <a:latin typeface="Space Mono"/>
              </a:rPr>
              <a:t>02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36992" y="2615184"/>
            <a:ext cx="548640" cy="274320"/>
          </a:xfrm>
          <a:prstGeom prst="rect">
            <a:avLst/>
          </a:prstGeom>
          <a:solidFill>
            <a:srgbClr val="00CC00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7936992" y="2615184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00">
                <a:solidFill>
                  <a:srgbClr val="000000"/>
                </a:solidFill>
                <a:latin typeface="Space Mono"/>
              </a:rPr>
              <a:t>03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80192" y="2615184"/>
            <a:ext cx="548640" cy="274320"/>
          </a:xfrm>
          <a:prstGeom prst="rect">
            <a:avLst/>
          </a:prstGeom>
          <a:solidFill>
            <a:srgbClr val="0066FF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10680192" y="2615184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00">
                <a:solidFill>
                  <a:srgbClr val="000000"/>
                </a:solidFill>
                <a:latin typeface="Space Mono"/>
              </a:rPr>
              <a:t>04</a:t>
            </a:r>
          </a:p>
        </p:txBody>
      </p:sp>
      <p:sp>
        <p:nvSpPr>
          <p:cNvPr id="157" name="Chevron 156"/>
          <p:cNvSpPr/>
          <p:nvPr/>
        </p:nvSpPr>
        <p:spPr>
          <a:xfrm>
            <a:off x="8183879" y="5468112"/>
            <a:ext cx="170992" cy="201168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Chevron 157"/>
          <p:cNvSpPr/>
          <p:nvPr/>
        </p:nvSpPr>
        <p:spPr>
          <a:xfrm>
            <a:off x="8458200" y="5468112"/>
            <a:ext cx="170992" cy="201168"/>
          </a:xfrm>
          <a:prstGeom prst="chevron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Chevron 158"/>
          <p:cNvSpPr/>
          <p:nvPr/>
        </p:nvSpPr>
        <p:spPr>
          <a:xfrm>
            <a:off x="8732519" y="5468112"/>
            <a:ext cx="170992" cy="201168"/>
          </a:xfrm>
          <a:prstGeom prst="chevron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11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333333"/>
                </a:solidFill>
                <a:latin typeface="Space Mono"/>
              </a:rPr>
              <a:t>QUEM EXECUTA   ·   13/15</a:t>
            </a:r>
          </a:p>
        </p:txBody>
      </p:sp>
      <p:sp>
        <p:nvSpPr>
          <p:cNvPr id="212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800">
        <p14:gallery dir="l"/>
      </p:transition>
    </mc:Choice>
    <mc:Fallback>
      <p:transition spd="med">
        <p:cover dir="l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55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1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65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2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75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3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85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4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95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5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05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6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15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7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125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18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235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29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345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0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18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25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32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620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2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710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2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800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2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890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42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980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5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3" dur="35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4" dur="350" fill="hold"/>
                                        <p:tgtEl>
                                          <p:spTgt spid="157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1035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35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1" dur="350" fill="hold"/>
                                        <p:tgtEl>
                                          <p:spTgt spid="15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1090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35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7" dur="35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8" dur="350" fill="hold"/>
                                        <p:tgtEl>
                                          <p:spTgt spid="15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7" name="TextBox 136"/>
          <p:cNvSpPr txBox="1"/>
          <p:nvPr/>
        </p:nvSpPr>
        <p:spPr>
          <a:xfrm>
            <a:off x="9006840" y="2450592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1" i="0">
                <a:solidFill>
                  <a:srgbClr val="FFFFFF">
                    <a:alpha val="7000"/>
                  </a:srgbClr>
                </a:solidFill>
                <a:latin typeface="DM Sans"/>
              </a:rPr>
              <a:t>90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9555480" y="1133856"/>
            <a:ext cx="1874519" cy="50292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ectangle 148"/>
          <p:cNvSpPr/>
          <p:nvPr/>
        </p:nvSpPr>
        <p:spPr>
          <a:xfrm>
            <a:off x="9555480" y="1271016"/>
            <a:ext cx="1162202" cy="50292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9555480" y="1408176"/>
            <a:ext cx="720565" cy="50292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FF00"/>
                </a:solidFill>
                <a:latin typeface="Space Mono"/>
              </a:rPr>
              <a:t>// O PEDIDO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110">
                <a:solidFill>
                  <a:srgbClr val="FFFFFF"/>
                </a:solidFill>
                <a:latin typeface="DM Sans"/>
              </a:rPr>
              <a:t>O que precisamos para os próximos 90 dias.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542032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270662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80">
                <a:solidFill>
                  <a:srgbClr val="000000"/>
                </a:solidFill>
                <a:latin typeface="Space Mono"/>
              </a:rPr>
              <a:t>REDE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99232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50">
                <a:solidFill>
                  <a:srgbClr val="FFFFFF"/>
                </a:solidFill>
                <a:latin typeface="DM Sans"/>
              </a:rPr>
              <a:t>5 lojas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986784"/>
            <a:ext cx="3145536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FFECEC"/>
                </a:solidFill>
                <a:latin typeface="DM Sans"/>
              </a:rPr>
              <a:t>Piloto com lojas esportivas para validar verificação e custódia com vendas reais.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542032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389120" y="270662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80">
                <a:solidFill>
                  <a:srgbClr val="000000"/>
                </a:solidFill>
                <a:latin typeface="Space Mono"/>
              </a:rPr>
              <a:t>INVESTIMENTO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999232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50">
                <a:solidFill>
                  <a:srgbClr val="FFFFFF"/>
                </a:solidFill>
                <a:latin typeface="DM Sans"/>
              </a:rPr>
              <a:t>R$ 300 mil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986784"/>
            <a:ext cx="3145536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FFECEC"/>
                </a:solidFill>
                <a:latin typeface="DM Sans"/>
              </a:rPr>
              <a:t>Produto, operação e marketing do piloto. Ajuste o valor ao seu plano.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5007" y="2542032"/>
            <a:ext cx="3364992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65007" y="270662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80">
                <a:solidFill>
                  <a:srgbClr val="000000"/>
                </a:solidFill>
                <a:latin typeface="Space Mono"/>
              </a:rPr>
              <a:t>MENTORIA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7" y="2999232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50">
                <a:solidFill>
                  <a:srgbClr val="FFFFFF"/>
                </a:solidFill>
                <a:latin typeface="DM Sans"/>
              </a:rPr>
              <a:t>2 conselheiros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7" y="3986784"/>
            <a:ext cx="3145536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FFECEC"/>
                </a:solidFill>
                <a:latin typeface="DM Sans"/>
              </a:rPr>
              <a:t>Marketplace e operação de pagamentos, com uma conversa por mês.</a:t>
            </a:r>
          </a:p>
        </p:txBody>
      </p:sp>
      <p:sp>
        <p:nvSpPr>
          <p:cNvPr id="16" name="CM!!band"/>
          <p:cNvSpPr/>
          <p:nvPr/>
        </p:nvSpPr>
        <p:spPr>
          <a:xfrm>
            <a:off x="0" y="5138928"/>
            <a:ext cx="12191695" cy="17190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M!!kick"/>
          <p:cNvSpPr txBox="1"/>
          <p:nvPr/>
        </p:nvSpPr>
        <p:spPr>
          <a:xfrm>
            <a:off x="713232" y="5340096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80">
                <a:solidFill>
                  <a:srgbClr val="FFFF33"/>
                </a:solidFill>
                <a:latin typeface="Space Mono"/>
              </a:rPr>
              <a:t>META DO PILOTO · 90 DIAS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614416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-120">
                <a:solidFill>
                  <a:srgbClr val="FFFFFF"/>
                </a:solidFill>
                <a:latin typeface="DM San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181344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CCCCCC"/>
                </a:solidFill>
                <a:latin typeface="Space Mono"/>
              </a:rPr>
              <a:t>LOJAS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5614416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-120">
                <a:solidFill>
                  <a:srgbClr val="FFFFFF"/>
                </a:solidFill>
                <a:latin typeface="DM Sans"/>
              </a:rPr>
              <a:t>300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6181344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CCCCCC"/>
                </a:solidFill>
                <a:latin typeface="Space Mono"/>
              </a:rPr>
              <a:t>PEDIDOS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5614416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-120">
                <a:solidFill>
                  <a:srgbClr val="FFFFFF"/>
                </a:solidFill>
                <a:latin typeface="DM Sans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6181344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CCCCCC"/>
                </a:solidFill>
                <a:latin typeface="Space Mono"/>
              </a:rPr>
              <a:t>COM CUSTÓDIA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5614416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-120">
                <a:solidFill>
                  <a:srgbClr val="FFFFFF"/>
                </a:solidFill>
                <a:latin typeface="DM Sans"/>
              </a:rPr>
              <a:t>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6181344"/>
            <a:ext cx="24688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CCCCCC"/>
                </a:solidFill>
                <a:latin typeface="Space Mono"/>
              </a:rPr>
              <a:t>DIAS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156448" y="5285232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8302752" y="5285232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8449056" y="5285232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8595360" y="5285232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8741664" y="5285232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8156448" y="5431536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8302752" y="5431536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ectangle 144"/>
          <p:cNvSpPr/>
          <p:nvPr/>
        </p:nvSpPr>
        <p:spPr>
          <a:xfrm>
            <a:off x="8449056" y="5431536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ectangle 145"/>
          <p:cNvSpPr/>
          <p:nvPr/>
        </p:nvSpPr>
        <p:spPr>
          <a:xfrm>
            <a:off x="8595360" y="5431536"/>
            <a:ext cx="146304" cy="1463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Rectangle 146"/>
          <p:cNvSpPr/>
          <p:nvPr/>
        </p:nvSpPr>
        <p:spPr>
          <a:xfrm>
            <a:off x="8741664" y="5431536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232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O PEDIDO   ·   14/15</a:t>
            </a:r>
          </a:p>
        </p:txBody>
      </p:sp>
      <p:sp>
        <p:nvSpPr>
          <p:cNvPr id="233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fast" p14:dur="550">
        <p14:flash/>
      </p:transition>
    </mc:Choice>
    <mc:Fallback>
      <p:transition spd="fast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4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7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4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4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55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1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6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2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7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3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8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4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9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5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8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1" dur="6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12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118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1240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130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136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42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148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154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160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12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8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20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270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340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700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38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38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6" dur="380" fill="hold"/>
                                        <p:tgtEl>
                                          <p:spTgt spid="13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728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8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2" dur="38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3" dur="380" fill="hold"/>
                                        <p:tgtEl>
                                          <p:spTgt spid="13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756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8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38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80" dur="380" fill="hold"/>
                                        <p:tgtEl>
                                          <p:spTgt spid="14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784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38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38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87" dur="380" fill="hold"/>
                                        <p:tgtEl>
                                          <p:spTgt spid="14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812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8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3" dur="38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4" dur="380" fill="hold"/>
                                        <p:tgtEl>
                                          <p:spTgt spid="142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840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8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38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1" dur="380" fill="hold"/>
                                        <p:tgtEl>
                                          <p:spTgt spid="143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868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38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7" dur="38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08" dur="380" fill="hold"/>
                                        <p:tgtEl>
                                          <p:spTgt spid="144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896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8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4" dur="38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5" dur="380" fill="hold"/>
                                        <p:tgtEl>
                                          <p:spTgt spid="14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delay="924"/>
                      </p:stCondLst>
                      <p:childTnLst>
                        <p:par>
                          <p:cTn id="217" fill="hold">
                            <p:stCondLst>
                              <p:cond delay="0"/>
                            </p:stCondLst>
                            <p:childTnLst>
                              <p:par>
                                <p:cTn id="21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38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1" dur="38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22" dur="380" fill="hold"/>
                                        <p:tgtEl>
                                          <p:spTgt spid="14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952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8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8" dur="38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29" dur="380" fill="hold"/>
                                        <p:tgtEl>
                                          <p:spTgt spid="147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5" name="CM!!ba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8549640" y="4919472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i="0">
                <a:solidFill>
                  <a:srgbClr val="FFFFFF">
                    <a:alpha val="6000"/>
                  </a:srgbClr>
                </a:solidFill>
                <a:latin typeface="DM Sans"/>
              </a:rPr>
              <a:t>GO!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49808" y="932688"/>
            <a:ext cx="2926080" cy="5029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749808" y="1060704"/>
            <a:ext cx="1814169" cy="5029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9808" y="1188720"/>
            <a:ext cx="1124785" cy="5029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Oval 1"/>
          <p:cNvSpPr/>
          <p:nvPr/>
        </p:nvSpPr>
        <p:spPr>
          <a:xfrm>
            <a:off x="8275320" y="960120"/>
            <a:ext cx="3154680" cy="3154680"/>
          </a:xfrm>
          <a:prstGeom prst="ellipse">
            <a:avLst/>
          </a:prstGeom>
          <a:solidFill>
            <a:srgbClr val="FF6666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 rot="21000000">
            <a:off x="7178040" y="4526280"/>
            <a:ext cx="1234440" cy="1234440"/>
          </a:xfrm>
          <a:prstGeom prst="rect">
            <a:avLst/>
          </a:prstGeom>
          <a:solidFill>
            <a:srgbClr val="3399FF"/>
          </a:solidFill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8-Point Star 3"/>
          <p:cNvSpPr/>
          <p:nvPr/>
        </p:nvSpPr>
        <p:spPr>
          <a:xfrm>
            <a:off x="10561320" y="4160520"/>
            <a:ext cx="868680" cy="868680"/>
          </a:xfrm>
          <a:prstGeom prst="star8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464040" y="5532120"/>
            <a:ext cx="566928" cy="566928"/>
          </a:xfrm>
          <a:prstGeom prst="rect">
            <a:avLst/>
          </a:prstGeom>
          <a:solidFill>
            <a:srgbClr val="00CC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4-Point Star 5"/>
          <p:cNvSpPr/>
          <p:nvPr/>
        </p:nvSpPr>
        <p:spPr>
          <a:xfrm>
            <a:off x="6903720" y="1005840"/>
            <a:ext cx="640080" cy="640080"/>
          </a:xfrm>
          <a:prstGeom prst="star4">
            <a:avLst/>
          </a:prstGeom>
          <a:solidFill>
            <a:srgbClr val="CC0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M!!kick"/>
          <p:cNvSpPr txBox="1"/>
          <p:nvPr/>
        </p:nvSpPr>
        <p:spPr>
          <a:xfrm>
            <a:off x="713232" y="1298448"/>
            <a:ext cx="59436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60">
                <a:solidFill>
                  <a:srgbClr val="FFFF33"/>
                </a:solidFill>
                <a:latin typeface="Space Mono"/>
              </a:rPr>
              <a:t>COREMOTION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737360"/>
            <a:ext cx="7315200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200" b="1" i="0" spc="-320">
                <a:solidFill>
                  <a:srgbClr val="FFFFFF"/>
                </a:solidFill>
                <a:latin typeface="DM Sans"/>
              </a:rPr>
              <a:t>Obrigado.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27248"/>
            <a:ext cx="60350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CCCCC"/>
                </a:solidFill>
                <a:latin typeface="DM Sans"/>
              </a:rPr>
              <a:t>Vamos construir o ponto de encontro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CCCCC"/>
                </a:solidFill>
                <a:latin typeface="DM Sans"/>
              </a:rPr>
              <a:t>do esporte de alta performance?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" y="4261104"/>
            <a:ext cx="1417320" cy="91440"/>
          </a:xfrm>
          <a:prstGeom prst="rect">
            <a:avLst/>
          </a:prstGeom>
          <a:solidFill>
            <a:srgbClr val="FF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45537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 spc="80">
                <a:solidFill>
                  <a:srgbClr val="FFFFFF"/>
                </a:solidFill>
                <a:latin typeface="Space Mono"/>
              </a:rPr>
              <a:t>[SEU@EMAIL.COM] · [TELEFONE] · [SITE]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760720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9A9A"/>
                </a:solidFill>
                <a:latin typeface="DM Sans"/>
              </a:rPr>
              <a:t>Obrigado pela leitura. Perguntas, agora.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018520" y="658368"/>
            <a:ext cx="164592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11183112" y="658368"/>
            <a:ext cx="164592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11347704" y="658368"/>
            <a:ext cx="164592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11512296" y="658368"/>
            <a:ext cx="164592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11676888" y="658368"/>
            <a:ext cx="164592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11018520" y="822959"/>
            <a:ext cx="164592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11183112" y="822959"/>
            <a:ext cx="164592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11347704" y="822959"/>
            <a:ext cx="164592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1512296" y="822959"/>
            <a:ext cx="164592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1676888" y="822959"/>
            <a:ext cx="164592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Chevron 78"/>
          <p:cNvSpPr/>
          <p:nvPr/>
        </p:nvSpPr>
        <p:spPr>
          <a:xfrm>
            <a:off x="6876288" y="3675887"/>
            <a:ext cx="233172" cy="274320"/>
          </a:xfrm>
          <a:prstGeom prst="chevron">
            <a:avLst/>
          </a:prstGeom>
          <a:noFill/>
          <a:ln w="25400">
            <a:solidFill>
              <a:srgbClr val="FF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Chevron 79"/>
          <p:cNvSpPr/>
          <p:nvPr/>
        </p:nvSpPr>
        <p:spPr>
          <a:xfrm>
            <a:off x="7242048" y="3675887"/>
            <a:ext cx="233172" cy="274320"/>
          </a:xfrm>
          <a:prstGeom prst="chevron">
            <a:avLst/>
          </a:prstGeom>
          <a:noFill/>
          <a:ln w="25400">
            <a:solidFill>
              <a:srgbClr val="FF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Chevron 80"/>
          <p:cNvSpPr/>
          <p:nvPr/>
        </p:nvSpPr>
        <p:spPr>
          <a:xfrm>
            <a:off x="7607808" y="3675887"/>
            <a:ext cx="233172" cy="274320"/>
          </a:xfrm>
          <a:prstGeom prst="chevron">
            <a:avLst/>
          </a:prstGeom>
          <a:solidFill>
            <a:srgbClr val="FF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11018520" y="5742432"/>
            <a:ext cx="868680" cy="868680"/>
          </a:xfrm>
          <a:prstGeom prst="ellipse">
            <a:avLst/>
          </a:prstGeom>
          <a:solidFill>
            <a:srgbClr val="FF6666"/>
          </a:solidFill>
          <a:ln w="2794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11183569" y="5907481"/>
            <a:ext cx="538581" cy="538581"/>
          </a:xfrm>
          <a:prstGeom prst="ellipse">
            <a:avLst/>
          </a:prstGeom>
          <a:solidFill>
            <a:srgbClr val="000000"/>
          </a:solidFill>
          <a:ln w="2286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10991088" y="6194145"/>
            <a:ext cx="923544" cy="53858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 rot="2880000">
            <a:off x="11530028" y="5947655"/>
            <a:ext cx="65150" cy="2953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11387709" y="6128994"/>
            <a:ext cx="130301" cy="130301"/>
          </a:xfrm>
          <a:prstGeom prst="ellipse">
            <a:avLst/>
          </a:prstGeom>
          <a:solidFill>
            <a:srgbClr val="FFFF33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CM!!dot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CM!!brand"/>
          <p:cNvSpPr txBox="1"/>
          <p:nvPr/>
        </p:nvSpPr>
        <p:spPr>
          <a:xfrm>
            <a:off x="950976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209" name="CM!!count"/>
          <p:cNvSpPr txBox="1"/>
          <p:nvPr/>
        </p:nvSpPr>
        <p:spPr>
          <a:xfrm>
            <a:off x="6675120" y="347472"/>
            <a:ext cx="4800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CCCCCC"/>
                </a:solidFill>
                <a:latin typeface="Space Mono"/>
              </a:rPr>
              <a:t>OBRIGADO   ·   15/15</a:t>
            </a:r>
          </a:p>
        </p:txBody>
      </p:sp>
      <p:sp>
        <p:nvSpPr>
          <p:cNvPr id="210" name="CM!!rule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70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7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7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700" fill="hold"/>
                                        <p:tgtEl>
                                          <p:spTgt spid="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1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20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42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60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72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86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15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22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290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500"/>
                                          </p:val>
                                        </p:tav>
                                        <p:tav tm="62000">
                                          <p:val>
                                            <p:strVal val="#ppt_x-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42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8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38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89" dur="380" fill="hold"/>
                                        <p:tgtEl>
                                          <p:spTgt spid="6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450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8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38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96" dur="380" fill="hold"/>
                                        <p:tgtEl>
                                          <p:spTgt spid="7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48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8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38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03" dur="380" fill="hold"/>
                                        <p:tgtEl>
                                          <p:spTgt spid="7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51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38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38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10" dur="380" fill="hold"/>
                                        <p:tgtEl>
                                          <p:spTgt spid="72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54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8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38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17" dur="380" fill="hold"/>
                                        <p:tgtEl>
                                          <p:spTgt spid="73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57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8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38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24" dur="380" fill="hold"/>
                                        <p:tgtEl>
                                          <p:spTgt spid="74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600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8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38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1" dur="380" fill="hold"/>
                                        <p:tgtEl>
                                          <p:spTgt spid="75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63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8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38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8" dur="380" fill="hold"/>
                                        <p:tgtEl>
                                          <p:spTgt spid="76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660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8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38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5" dur="380" fill="hold"/>
                                        <p:tgtEl>
                                          <p:spTgt spid="77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69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38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38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52" dur="380" fill="hold"/>
                                        <p:tgtEl>
                                          <p:spTgt spid="78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62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8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38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59" dur="380" fill="hold"/>
                                        <p:tgtEl>
                                          <p:spTgt spid="79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690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38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38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6" dur="380" fill="hold"/>
                                        <p:tgtEl>
                                          <p:spTgt spid="80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760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8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2" dur="38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4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3" dur="380" fill="hold"/>
                                        <p:tgtEl>
                                          <p:spTgt spid="81"/>
                                        </p:tgtEl>
                                      </p:cBhvr>
                                      <p:from x="42000" y="10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760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48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9" dur="480" fill="hold"/>
                                        <p:tgtEl>
                                          <p:spTgt spid="8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80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8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5" dur="480" fill="hold"/>
                                        <p:tgtEl>
                                          <p:spTgt spid="8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820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8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880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2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Rot>
                                      <p:cBhvr>
                                        <p:cTn id="196" dur="520" fill="hold"/>
                                        <p:tgtEl>
                                          <p:spTgt spid="85"/>
                                        </p:tgtEl>
                                      </p:cBhvr>
                                      <p:from x="0" y="0" z="1560000"/>
                                      <p:to x="0" y="0" z="2880000"/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880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8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980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7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CoreMotion — Pitch para banca</dc:title>
  <dc:subject>Marketplace esportivo de alta performance</dc:subject>
  <dc:creator>CoreMotion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