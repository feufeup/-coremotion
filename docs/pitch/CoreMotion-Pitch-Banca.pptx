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 (30s).</a:t>
            </a:r>
          </a:p>
          <a:p>
            <a:r>
              <a:t>• Meu nome é [nome] e o CoreMotion é um marketplace esportivo com lojas verificadas, venda entre atletas e custódia financeira.</a:t>
            </a:r>
          </a:p>
          <a:p>
            <a:r>
              <a:t>• A frase-guia da apresentação: hoje comprar esporte é um ato de fé. Nosso produto transforma confiança em fluxo.</a:t>
            </a:r>
          </a:p>
          <a:p>
            <a:r>
              <a:t>• Prometer 15 minutos e seguir o roteiro da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(45s).</a:t>
            </a:r>
          </a:p>
          <a:p>
            <a:r>
              <a:t>• Quatro blocos. O primeiro é o mais importante: o problema.</a:t>
            </a:r>
          </a:p>
          <a:p>
            <a:r>
              <a:t>• Se o tempo apertar, cortamos o bloco 3 e mantemos problema, solução e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PROBLEMA (2min).</a:t>
            </a:r>
          </a:p>
          <a:p>
            <a:r>
              <a:t>• Conte um caso concreto de compra frustrada (se tiver).</a:t>
            </a:r>
          </a:p>
          <a:p>
            <a:r>
              <a:t>• As três dores: falsificação, dinheiro exposto, atleta sem canal.</a:t>
            </a:r>
          </a:p>
          <a:p>
            <a:r>
              <a:t>• Fechamento: o problema não é oferta, é confiança.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QUE AGORA (1min30).</a:t>
            </a:r>
          </a:p>
          <a:p>
            <a:r>
              <a:t>• Três mudanças estruturais — não é tendência passageira.</a:t>
            </a:r>
          </a:p>
          <a:p>
            <a:r>
              <a:t>• Se a banca perguntar de dados: diga que o deck evita números de mercado sem fonte; ofereça o recorte do seu nicho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SOLUÇÃO (2min).</a:t>
            </a:r>
          </a:p>
          <a:p>
            <a:r>
              <a:t>• Uma plataforma, uma conta, um checkout.</a:t>
            </a:r>
          </a:p>
          <a:p>
            <a:r>
              <a:t>• A ordem importa: verificação cria confiança; C2C cria giro; custódia protege o dinheiro.</a:t>
            </a:r>
          </a:p>
          <a:p>
            <a:r>
              <a:t>• Não venda como 'mais um marketplace'. É infraestrutura de confiança.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FUNCIONA (2min).</a:t>
            </a:r>
          </a:p>
          <a:p>
            <a:r>
              <a:t>• Passo 4 é o argumento comercial: o vendedor recebe sem correr risco de calote, o comprador recebe antes de pagar de fato.</a:t>
            </a:r>
          </a:p>
          <a:p>
            <a:r>
              <a:t>• Enfatize que a custódia é o que permite vender C2C com segurança.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PRODUTO (1min30).</a:t>
            </a:r>
          </a:p>
          <a:p>
            <a:r>
              <a:t>• As telas são wireframes: o objetivo é mostrar a lógica, não o visual final.</a:t>
            </a:r>
          </a:p>
          <a:p>
            <a:r>
              <a:t>• Destaque a tela de custódia: status do dinheiro e do envio juntos.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DIFERENCIAL (1min30).</a:t>
            </a:r>
          </a:p>
          <a:p>
            <a:r>
              <a:t>• A frase-chave: confiança não é selo, é fluxo de dinheiro e de informação.</a:t>
            </a:r>
          </a:p>
          <a:p>
            <a:r>
              <a:t>• Verificação sem custódia não protege o pagamento; custódia sem verificação não protege o produto.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MODELO (1min30).</a:t>
            </a:r>
          </a:p>
          <a:p>
            <a:r>
              <a:t>• Receita principal é comissão; assinatura de loja e serviços são alavancas.</a:t>
            </a:r>
          </a:p>
          <a:p>
            <a:r>
              <a:t>• Os números do rodapé são exemplo — troque pelos seus antes da banca.</a:t>
            </a:r>
          </a:p>
          <a:p>
            <a:r>
              <a:t>• Se perguntarem de margem: custo dominante é pagamento + suporte de disputa.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POSICIONAMENTO (1min).</a:t>
            </a:r>
          </a:p>
          <a:p>
            <a:r>
              <a:t>• O eixo vertical é confiança; o horizontal é alcance.</a:t>
            </a:r>
          </a:p>
          <a:p>
            <a:r>
              <a:t>• O quadrante superior direito está vazio — é onde o CoreMotion quer estar.</a:t>
            </a:r>
          </a:p>
          <a:p>
            <a:r>
              <a:t>• Não citar concorrentes por nome.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(1min).</a:t>
            </a:r>
          </a:p>
          <a:p>
            <a:r>
              <a:t>• Cada fase responde uma pergunta: dá para vender? dá para confiar? dá para escalar?</a:t>
            </a:r>
          </a:p>
          <a:p>
            <a:r>
              <a:t>• A banca quer saber o que você faz nos próximos 90 dias: foque na Fase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ONDE ESTAMOS (1min).</a:t>
            </a:r>
          </a:p>
          <a:p>
            <a:r>
              <a:t>• Transparência total: sem métricas de tração ainda.</a:t>
            </a:r>
          </a:p>
          <a:p>
            <a:r>
              <a:t>• O ativo atual é a base técnica e o desenho de produto — isso reduz risco de execução.</a:t>
            </a:r>
          </a:p>
          <a:p>
            <a:r>
              <a:t>• Se a banca valorizar time, emende 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 (45s).</a:t>
            </a:r>
          </a:p>
          <a:p>
            <a:r>
              <a:t>• Não é 'somos quatro amigos': são quatro responsabilidades com entregáveis.</a:t>
            </a:r>
          </a:p>
          <a:p>
            <a:r>
              <a:t>• Cite rapidamente o que cada um já entregou.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PEDIDO (1min30).</a:t>
            </a:r>
          </a:p>
          <a:p>
            <a:r>
              <a:t>• Seja direto: 5 lojas, investimento e dois conselheiros.</a:t>
            </a:r>
          </a:p>
          <a:p>
            <a:r>
              <a:t>• Ajuste R$ 300 mil ao seu plano antes de apresentar.</a:t>
            </a:r>
          </a:p>
          <a:p>
            <a:r>
              <a:t>• Se a banca não puder investir, peça a conexão com uma loja — o pedido tem três portas de entrada.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FECHAMENTO (30s).</a:t>
            </a:r>
          </a:p>
          <a:p>
            <a:r>
              <a:t>• Pare de falar depois do 'obrigado'. Deixe a banca perguntar.</a:t>
            </a:r>
          </a:p>
          <a:p>
            <a:r>
              <a:t>• Tenha à mão: custo de aquisição, plano de 90 dias e a lista de lojas que já disseram sim.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543800" y="-1874519"/>
            <a:ext cx="6583680" cy="6583680"/>
          </a:xfrm>
          <a:prstGeom prst="ellipse">
            <a:avLst/>
          </a:prstGeom>
          <a:solidFill>
            <a:srgbClr val="C7C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0561320" y="3703320"/>
            <a:ext cx="2788920" cy="2788920"/>
          </a:xfrm>
          <a:prstGeom prst="ellipse">
            <a:avLst/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7059168" y="5138928"/>
            <a:ext cx="960120" cy="960120"/>
          </a:xfrm>
          <a:prstGeom prst="ellipse">
            <a:avLst/>
          </a:prstGeom>
          <a:solidFill>
            <a:srgbClr val="FFE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882127" y="868680"/>
            <a:ext cx="3310128" cy="3310128"/>
          </a:xfrm>
          <a:prstGeom prst="ellipse">
            <a:avLst/>
          </a:prstGeom>
          <a:noFill/>
          <a:ln w="88900">
            <a:solidFill>
              <a:srgbClr val="F26D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430768" y="1417320"/>
            <a:ext cx="2212848" cy="2212848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Isosceles Triangle 6"/>
          <p:cNvSpPr/>
          <p:nvPr/>
        </p:nvSpPr>
        <p:spPr>
          <a:xfrm rot="840000">
            <a:off x="6967728" y="1481328"/>
            <a:ext cx="475488" cy="475488"/>
          </a:xfrm>
          <a:prstGeom prst="triangle">
            <a:avLst/>
          </a:prstGeom>
          <a:solidFill>
            <a:srgbClr val="FFC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9052560" y="2249424"/>
            <a:ext cx="256032" cy="292608"/>
          </a:xfrm>
          <a:prstGeom prst="line">
            <a:avLst/>
          </a:prstGeom>
          <a:ln w="88900">
            <a:solidFill>
              <a:srgbClr val="F26D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9308592" y="1938528"/>
            <a:ext cx="493776" cy="603504"/>
          </a:xfrm>
          <a:prstGeom prst="line">
            <a:avLst/>
          </a:prstGeom>
          <a:ln w="88900">
            <a:solidFill>
              <a:srgbClr val="F26D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0076688" y="1298448"/>
            <a:ext cx="19385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0241280" y="1463040"/>
            <a:ext cx="82296" cy="82296"/>
          </a:xfrm>
          <a:prstGeom prst="ellipse">
            <a:avLst/>
          </a:prstGeom>
          <a:solidFill>
            <a:srgbClr val="6FC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424160" y="1298448"/>
            <a:ext cx="1481328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2E3447"/>
                </a:solidFill>
                <a:latin typeface="Arial"/>
              </a:rPr>
              <a:t>LOJAS VERIFICADAS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99248" y="4133087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863840" y="4297680"/>
            <a:ext cx="82296" cy="82296"/>
          </a:xfrm>
          <a:prstGeom prst="ellipse">
            <a:avLst/>
          </a:prstGeom>
          <a:solidFill>
            <a:srgbClr val="8E9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046720" y="4133087"/>
            <a:ext cx="1024128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2E3447"/>
                </a:solidFill>
                <a:latin typeface="Arial"/>
              </a:rPr>
              <a:t>CUSTÓDIA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42448" y="42245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442448" y="4224528"/>
            <a:ext cx="868680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2E3447"/>
                </a:solidFill>
                <a:latin typeface="Arial"/>
              </a:rPr>
              <a:t>C2C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1078992"/>
            <a:ext cx="2212848" cy="329184"/>
          </a:xfrm>
          <a:prstGeom prst="roundRect">
            <a:avLst>
              <a:gd name="adj" fmla="val 50000"/>
            </a:avLst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1078992"/>
            <a:ext cx="22128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2E3447"/>
                </a:solidFill>
                <a:latin typeface="Arial"/>
              </a:rPr>
              <a:t>PITCH · BANCA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1664208"/>
            <a:ext cx="630936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 spc="-1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" y="2889504"/>
            <a:ext cx="1417320" cy="50292"/>
          </a:xfrm>
          <a:prstGeom prst="roundRect">
            <a:avLst>
              <a:gd name="adj" fmla="val 5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60" y="3163824"/>
            <a:ext cx="5806440" cy="1234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555D73"/>
                </a:solidFill>
                <a:latin typeface="Arial"/>
              </a:rPr>
              <a:t>O ponto de encontro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E3447"/>
                </a:solidFill>
                <a:latin typeface="Arial"/>
              </a:rPr>
              <a:t>do esporte de alta performance.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59028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 spc="170">
                <a:solidFill>
                  <a:srgbClr val="8B92A6"/>
                </a:solidFill>
                <a:latin typeface="Arial"/>
              </a:rPr>
              <a:t>MARKETPLACE ESPORTIVO  ·  LOJAS VERIFICADAS  ·  CUSTÓDIA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7044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92A6"/>
                </a:solidFill>
                <a:latin typeface="Arial"/>
              </a:rPr>
              <a:t>Apresentado por [seu nome]  ·  [cidade], 2026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01 / 15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Rectangle 92"/>
          <p:cNvSpPr/>
          <p:nvPr/>
        </p:nvSpPr>
        <p:spPr>
          <a:xfrm>
            <a:off x="566928" y="6510528"/>
            <a:ext cx="737616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700" fill="hold"/>
                                        <p:tgtEl>
                                          <p:spTgt spid="3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18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700" fill="hold"/>
                                        <p:tgtEl>
                                          <p:spTgt spid="4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7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700" fill="hold"/>
                                        <p:tgtEl>
                                          <p:spTgt spid="5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6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700" fill="hold"/>
                                        <p:tgtEl>
                                          <p:spTgt spid="6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5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700" fill="hold"/>
                                        <p:tgtEl>
                                          <p:spTgt spid="7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26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38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46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12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18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42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50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720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820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234440"/>
            <a:ext cx="3108960" cy="3108960"/>
          </a:xfrm>
          <a:prstGeom prst="ellipse">
            <a:avLst/>
          </a:prstGeom>
          <a:solidFill>
            <a:srgbClr val="B5EAD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-777240" y="5349240"/>
            <a:ext cx="2286000" cy="2286000"/>
          </a:xfrm>
          <a:prstGeom prst="ellipse">
            <a:avLst/>
          </a:prstGeom>
          <a:solidFill>
            <a:srgbClr val="FF9AA2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O caminho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01368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D73"/>
                </a:solidFill>
                <a:latin typeface="Arial"/>
              </a:rPr>
              <a:t>Quinze minutos, quatro blocos. Sem slide de história da empresa.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450592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097280" y="2606040"/>
            <a:ext cx="713232" cy="713232"/>
          </a:xfrm>
          <a:prstGeom prst="ellipse">
            <a:avLst/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97280" y="2606040"/>
            <a:ext cx="713232" cy="7132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E3447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9584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E3447"/>
                </a:solidFill>
                <a:latin typeface="Arial"/>
              </a:rPr>
              <a:t>O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78224"/>
            <a:ext cx="192024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D73"/>
                </a:solidFill>
                <a:latin typeface="Arial"/>
              </a:rPr>
              <a:t>Por que comprar e vender esporte ainda é inseguro.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296" y="2331720"/>
            <a:ext cx="2450592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3785615" y="2606040"/>
            <a:ext cx="713232" cy="713232"/>
          </a:xfrm>
          <a:prstGeom prst="ellipse">
            <a:avLst/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785615" y="2606040"/>
            <a:ext cx="713232" cy="7132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E3447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5615" y="3529584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E3447"/>
                </a:solidFill>
                <a:latin typeface="Arial"/>
              </a:rPr>
              <a:t>A solução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5615" y="4078224"/>
            <a:ext cx="192024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D73"/>
                </a:solidFill>
                <a:latin typeface="Arial"/>
              </a:rPr>
              <a:t>As três camadas que fazem o CoreMotion funcionar.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2331720"/>
            <a:ext cx="2450592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73952" y="2606040"/>
            <a:ext cx="713232" cy="713232"/>
          </a:xfrm>
          <a:prstGeom prst="ellipse">
            <a:avLst/>
          </a:prstGeom>
          <a:solidFill>
            <a:srgbClr val="C7C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73952" y="2606040"/>
            <a:ext cx="713232" cy="7132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E3447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529584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E3447"/>
                </a:solidFill>
                <a:latin typeface="Arial"/>
              </a:rPr>
              <a:t>O negócio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4078224"/>
            <a:ext cx="192024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D73"/>
                </a:solidFill>
                <a:latin typeface="Arial"/>
              </a:rPr>
              <a:t>Como a plataforma ganha dinheiro e escala.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87968" y="2331720"/>
            <a:ext cx="2450592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9162288" y="2606040"/>
            <a:ext cx="713232" cy="713232"/>
          </a:xfrm>
          <a:prstGeom prst="ellipse">
            <a:avLst/>
          </a:prstGeom>
          <a:solidFill>
            <a:srgbClr val="FFE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62288" y="2606040"/>
            <a:ext cx="713232" cy="7132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E3447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3529584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E3447"/>
                </a:solidFill>
                <a:latin typeface="Arial"/>
              </a:rPr>
              <a:t>A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2288" y="4078224"/>
            <a:ext cx="192024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D73"/>
                </a:solidFill>
                <a:latin typeface="Arial"/>
              </a:rPr>
              <a:t>Onde estamos e o que precisamos de você.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20" y="5742432"/>
            <a:ext cx="309067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75320" y="5742432"/>
            <a:ext cx="30906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 i="0" spc="150">
                <a:solidFill>
                  <a:srgbClr val="555D73"/>
                </a:solidFill>
                <a:latin typeface="Arial"/>
              </a:rPr>
              <a:t>PITCH PARA BANCA · COREMOTION 2026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02 / 15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Rectangle 149"/>
          <p:cNvSpPr/>
          <p:nvPr/>
        </p:nvSpPr>
        <p:spPr>
          <a:xfrm>
            <a:off x="566928" y="6510528"/>
            <a:ext cx="1475232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8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9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3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8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35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9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545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60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55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71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65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82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875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93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85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104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1095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15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205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26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315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137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1425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90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4937760"/>
            <a:ext cx="2377440" cy="2377440"/>
          </a:xfrm>
          <a:prstGeom prst="ellipse">
            <a:avLst/>
          </a:prstGeom>
          <a:solidFill>
            <a:srgbClr val="FF9AA2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Isosceles Triangle 2"/>
          <p:cNvSpPr/>
          <p:nvPr/>
        </p:nvSpPr>
        <p:spPr>
          <a:xfrm rot="20880000">
            <a:off x="-411480" y="5074920"/>
            <a:ext cx="1371600" cy="1371600"/>
          </a:xfrm>
          <a:prstGeom prst="triangle">
            <a:avLst/>
          </a:prstGeom>
          <a:solidFill>
            <a:srgbClr val="FFE2A8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Comprar esporte ainda é um ato de fé.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21408"/>
            <a:ext cx="324612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133856" y="2395728"/>
            <a:ext cx="841248" cy="841248"/>
          </a:xfrm>
          <a:prstGeom prst="ellipse">
            <a:avLst/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325880" y="2587752"/>
            <a:ext cx="457200" cy="457200"/>
          </a:xfrm>
          <a:prstGeom prst="ellipse">
            <a:avLst/>
          </a:prstGeom>
          <a:solidFill>
            <a:srgbClr val="6FC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33856" y="3438144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3447"/>
                </a:solidFill>
                <a:latin typeface="Arial"/>
              </a:rPr>
              <a:t>Falsificação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849624"/>
            <a:ext cx="260604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D73"/>
                </a:solidFill>
                <a:latin typeface="Arial"/>
              </a:rPr>
              <a:t>Réplica vendida como original. Não há verificação de loja, de catálogo nem de histórico.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2121408"/>
            <a:ext cx="324612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636008" y="2395728"/>
            <a:ext cx="841248" cy="841248"/>
          </a:xfrm>
          <a:prstGeom prst="ellipse">
            <a:avLst/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Isosceles Triangle 12"/>
          <p:cNvSpPr/>
          <p:nvPr/>
        </p:nvSpPr>
        <p:spPr>
          <a:xfrm>
            <a:off x="4828032" y="2587752"/>
            <a:ext cx="457200" cy="457200"/>
          </a:xfrm>
          <a:prstGeom prst="triangle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36008" y="3438144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3447"/>
                </a:solidFill>
                <a:latin typeface="Arial"/>
              </a:rPr>
              <a:t>Dinheiro exposto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3849624"/>
            <a:ext cx="260604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D73"/>
                </a:solidFill>
                <a:latin typeface="Arial"/>
              </a:rPr>
              <a:t>Pix direto para o vendedor: se a peça não chega, o prejuízo inteiro é do atleta.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27264" y="2121408"/>
            <a:ext cx="324612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138160" y="2395728"/>
            <a:ext cx="841248" cy="841248"/>
          </a:xfrm>
          <a:prstGeom prst="ellipse">
            <a:avLst/>
          </a:prstGeom>
          <a:solidFill>
            <a:srgbClr val="C7C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Diamond 17"/>
          <p:cNvSpPr/>
          <p:nvPr/>
        </p:nvSpPr>
        <p:spPr>
          <a:xfrm>
            <a:off x="8330184" y="2587752"/>
            <a:ext cx="457200" cy="457200"/>
          </a:xfrm>
          <a:prstGeom prst="diamond">
            <a:avLst/>
          </a:prstGeom>
          <a:solidFill>
            <a:srgbClr val="8E9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138160" y="3438144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3447"/>
                </a:solidFill>
                <a:latin typeface="Arial"/>
              </a:rPr>
              <a:t>Atleta invisível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849624"/>
            <a:ext cx="260604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D73"/>
                </a:solidFill>
                <a:latin typeface="Arial"/>
              </a:rPr>
              <a:t>Quem vende usado não tem canal confiável. Quem procura não sabe em quem confiar.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440680"/>
            <a:ext cx="10543032" cy="713232"/>
          </a:xfrm>
          <a:prstGeom prst="roundRect">
            <a:avLst>
              <a:gd name="adj" fmla="val 18000"/>
            </a:avLst>
          </a:prstGeom>
          <a:solidFill>
            <a:srgbClr val="2E3447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43000" y="5440680"/>
            <a:ext cx="9966960" cy="7132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O atleta compra no escuro. A loja vende sem alcance. O dinheiro fica no meio.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03 / 15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ectangle 119"/>
          <p:cNvSpPr/>
          <p:nvPr/>
        </p:nvSpPr>
        <p:spPr>
          <a:xfrm>
            <a:off x="566928" y="6510528"/>
            <a:ext cx="2212848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3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6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2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8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54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60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6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72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8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84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90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96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102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108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114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90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0" dur="600" fill="hold"/>
                                        <p:tgtEl>
                                          <p:spTgt spid="21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00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POR QUE AGORA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Três mudanças abriram essa janela.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01368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D73"/>
                </a:solidFill>
                <a:latin typeface="Arial"/>
              </a:rPr>
              <a:t>O mercado não precisa de mais um catálogo. Precisa de confiança.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76272"/>
            <a:ext cx="91440" cy="868680"/>
          </a:xfrm>
          <a:prstGeom prst="roundRect">
            <a:avLst>
              <a:gd name="adj" fmla="val 50000"/>
            </a:avLst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70432" y="2157984"/>
            <a:ext cx="557784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E3447"/>
                </a:solidFill>
                <a:latin typeface="Arial"/>
              </a:rPr>
              <a:t>O esporte virou consumo de identidade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523744"/>
            <a:ext cx="54864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D73"/>
                </a:solidFill>
                <a:latin typeface="Arial"/>
              </a:rPr>
              <a:t>Equipamento deixou de ser acessório: é pertencimento, performance e status.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383280"/>
            <a:ext cx="91440" cy="868680"/>
          </a:xfrm>
          <a:prstGeom prst="roundRect">
            <a:avLst>
              <a:gd name="adj" fmla="val 50000"/>
            </a:avLst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70432" y="3364992"/>
            <a:ext cx="557784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E3447"/>
                </a:solidFill>
                <a:latin typeface="Arial"/>
              </a:rPr>
              <a:t>O atleta virou mídia e canal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730752"/>
            <a:ext cx="54864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D73"/>
                </a:solidFill>
                <a:latin typeface="Arial"/>
              </a:rPr>
              <a:t>Comunidades e redes criam demanda qualificada todos os dias, de graça.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90288"/>
            <a:ext cx="91440" cy="868680"/>
          </a:xfrm>
          <a:prstGeom prst="roundRect">
            <a:avLst>
              <a:gd name="adj" fmla="val 50000"/>
            </a:avLst>
          </a:prstGeom>
          <a:solidFill>
            <a:srgbClr val="C7C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170432" y="4572000"/>
            <a:ext cx="557784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E3447"/>
                </a:solidFill>
                <a:latin typeface="Arial"/>
              </a:rPr>
              <a:t>O pagamento amadureceu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937759"/>
            <a:ext cx="54864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D73"/>
                </a:solidFill>
                <a:latin typeface="Arial"/>
              </a:rPr>
              <a:t>Pix, verificação digital e custódia permitem segurar o valor até a entrega.</a:t>
            </a:r>
          </a:p>
        </p:txBody>
      </p:sp>
      <p:sp>
        <p:nvSpPr>
          <p:cNvPr id="14" name="Oval 13"/>
          <p:cNvSpPr/>
          <p:nvPr/>
        </p:nvSpPr>
        <p:spPr>
          <a:xfrm>
            <a:off x="7818120" y="1481328"/>
            <a:ext cx="3246120" cy="3246120"/>
          </a:xfrm>
          <a:prstGeom prst="ellipse">
            <a:avLst/>
          </a:prstGeom>
          <a:noFill/>
          <a:ln w="25400">
            <a:solidFill>
              <a:srgbClr val="8E9BE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458200" y="2121408"/>
            <a:ext cx="1965960" cy="1965960"/>
          </a:xfrm>
          <a:prstGeom prst="ellipse">
            <a:avLst/>
          </a:prstGeom>
          <a:solidFill>
            <a:srgbClr val="B5EAD7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458200" y="2121408"/>
            <a:ext cx="1965960" cy="1965960"/>
          </a:xfrm>
          <a:prstGeom prst="ellipse">
            <a:avLst/>
          </a:prstGeom>
          <a:noFill/>
          <a:ln w="25400">
            <a:solidFill>
              <a:srgbClr val="FFFFFF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001000" y="4270248"/>
            <a:ext cx="475488" cy="960120"/>
          </a:xfrm>
          <a:prstGeom prst="roundRect">
            <a:avLst>
              <a:gd name="adj" fmla="val 18000"/>
            </a:avLst>
          </a:prstGeom>
          <a:solidFill>
            <a:srgbClr val="FF9AA2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8750808" y="3813048"/>
            <a:ext cx="475488" cy="1417320"/>
          </a:xfrm>
          <a:prstGeom prst="roundRect">
            <a:avLst>
              <a:gd name="adj" fmla="val 18000"/>
            </a:avLst>
          </a:prstGeom>
          <a:solidFill>
            <a:srgbClr val="6FC9A5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9500616" y="3355848"/>
            <a:ext cx="475488" cy="1874519"/>
          </a:xfrm>
          <a:prstGeom prst="roundRect">
            <a:avLst>
              <a:gd name="adj" fmla="val 18000"/>
            </a:avLst>
          </a:prstGeom>
          <a:solidFill>
            <a:srgbClr val="8E9BE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10250424" y="2807208"/>
            <a:ext cx="475488" cy="2423160"/>
          </a:xfrm>
          <a:prstGeom prst="roundRect">
            <a:avLst>
              <a:gd name="adj" fmla="val 18000"/>
            </a:avLst>
          </a:prstGeom>
          <a:solidFill>
            <a:srgbClr val="F2C16B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882127" y="5230368"/>
            <a:ext cx="3246120" cy="18288"/>
          </a:xfrm>
          <a:prstGeom prst="rect">
            <a:avLst/>
          </a:prstGeom>
          <a:solidFill>
            <a:srgbClr val="2E3447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882127" y="5504688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3447"/>
                </a:solidFill>
                <a:latin typeface="Arial"/>
              </a:rPr>
              <a:t>Confiança é o gargalo —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3447"/>
                </a:solidFill>
                <a:latin typeface="Arial"/>
              </a:rPr>
              <a:t>e a maior oportunidade.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04 / 15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566928" y="6510528"/>
            <a:ext cx="2950464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15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600" fill="hold"/>
                                        <p:tgtEl>
                                          <p:spTgt spid="14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22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600" fill="hold"/>
                                        <p:tgtEl>
                                          <p:spTgt spid="15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29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600" fill="hold"/>
                                        <p:tgtEl>
                                          <p:spTgt spid="16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36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43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50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57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64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42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49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56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630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700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77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840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910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980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950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05840" y="-1097280"/>
            <a:ext cx="3017520" cy="3017520"/>
          </a:xfrm>
          <a:prstGeom prst="ellipse">
            <a:avLst/>
          </a:prstGeom>
          <a:solidFill>
            <a:srgbClr val="FFE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Uma plataforma, três camadas.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01368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D73"/>
                </a:solidFill>
                <a:latin typeface="Arial"/>
              </a:rPr>
              <a:t>Cada camada resolve uma das dores — e todas compartilham o mesmo checkout.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21408"/>
            <a:ext cx="3246120" cy="3529584"/>
          </a:xfrm>
          <a:prstGeom prst="roundRect">
            <a:avLst>
              <a:gd name="adj" fmla="val 5000"/>
            </a:avLst>
          </a:prstGeom>
          <a:solidFill>
            <a:srgbClr val="FF9AA2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133856" y="2377440"/>
            <a:ext cx="749808" cy="749808"/>
          </a:xfrm>
          <a:prstGeom prst="ellipse">
            <a:avLst/>
          </a:prstGeom>
          <a:solidFill>
            <a:srgbClr val="FFFF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280160" y="2523744"/>
            <a:ext cx="457200" cy="457200"/>
          </a:xfrm>
          <a:prstGeom prst="ellipse">
            <a:avLst/>
          </a:prstGeom>
          <a:solidFill>
            <a:srgbClr val="2E3447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011680" y="254203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2E3447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73552"/>
            <a:ext cx="265176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E3447"/>
                </a:solidFill>
                <a:latin typeface="Arial"/>
              </a:rPr>
              <a:t>Lojas verificadas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877056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55D73"/>
                </a:solidFill>
                <a:latin typeface="Arial"/>
              </a:rPr>
              <a:t>Selo em três camadas: documento, histórico e catálogo. Só loja aprovada vende no CoreMotion.</a:t>
            </a:r>
          </a:p>
        </p:txBody>
      </p:sp>
      <p:sp>
        <p:nvSpPr>
          <p:cNvPr id="12" name="Oval 11"/>
          <p:cNvSpPr/>
          <p:nvPr/>
        </p:nvSpPr>
        <p:spPr>
          <a:xfrm>
            <a:off x="1152144" y="4672583"/>
            <a:ext cx="54864" cy="54864"/>
          </a:xfrm>
          <a:prstGeom prst="ellipse">
            <a:avLst/>
          </a:prstGeom>
          <a:solidFill>
            <a:srgbClr val="2E344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98448" y="4590288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1" i="0" spc="60">
                <a:solidFill>
                  <a:srgbClr val="2E3447"/>
                </a:solidFill>
                <a:latin typeface="Arial"/>
              </a:rPr>
              <a:t>documento + CNPJ</a:t>
            </a:r>
          </a:p>
        </p:txBody>
      </p:sp>
      <p:sp>
        <p:nvSpPr>
          <p:cNvPr id="14" name="Oval 13"/>
          <p:cNvSpPr/>
          <p:nvPr/>
        </p:nvSpPr>
        <p:spPr>
          <a:xfrm>
            <a:off x="1152144" y="4928616"/>
            <a:ext cx="54864" cy="54864"/>
          </a:xfrm>
          <a:prstGeom prst="ellipse">
            <a:avLst/>
          </a:prstGeom>
          <a:solidFill>
            <a:srgbClr val="2E344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98448" y="4846320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1" i="0" spc="60">
                <a:solidFill>
                  <a:srgbClr val="2E3447"/>
                </a:solidFill>
                <a:latin typeface="Arial"/>
              </a:rPr>
              <a:t>histórico de vendas</a:t>
            </a:r>
          </a:p>
        </p:txBody>
      </p:sp>
      <p:sp>
        <p:nvSpPr>
          <p:cNvPr id="16" name="Oval 15"/>
          <p:cNvSpPr/>
          <p:nvPr/>
        </p:nvSpPr>
        <p:spPr>
          <a:xfrm>
            <a:off x="1152144" y="5184648"/>
            <a:ext cx="54864" cy="54864"/>
          </a:xfrm>
          <a:prstGeom prst="ellipse">
            <a:avLst/>
          </a:prstGeom>
          <a:solidFill>
            <a:srgbClr val="2E344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298448" y="5102352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1" i="0" spc="60">
                <a:solidFill>
                  <a:srgbClr val="2E3447"/>
                </a:solidFill>
                <a:latin typeface="Arial"/>
              </a:rPr>
              <a:t>catálogo auditado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2121408"/>
            <a:ext cx="3246120" cy="3529584"/>
          </a:xfrm>
          <a:prstGeom prst="roundRect">
            <a:avLst>
              <a:gd name="adj" fmla="val 5000"/>
            </a:avLst>
          </a:prstGeom>
          <a:solidFill>
            <a:srgbClr val="B5EAD7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4636008" y="2377440"/>
            <a:ext cx="749808" cy="749808"/>
          </a:xfrm>
          <a:prstGeom prst="ellipse">
            <a:avLst/>
          </a:prstGeom>
          <a:solidFill>
            <a:srgbClr val="FFFF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sosceles Triangle 19"/>
          <p:cNvSpPr/>
          <p:nvPr/>
        </p:nvSpPr>
        <p:spPr>
          <a:xfrm>
            <a:off x="4782312" y="2523744"/>
            <a:ext cx="457200" cy="457200"/>
          </a:xfrm>
          <a:prstGeom prst="triangle">
            <a:avLst/>
          </a:prstGeom>
          <a:solidFill>
            <a:srgbClr val="2E3447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513832" y="254203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2E3447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6008" y="3273552"/>
            <a:ext cx="265176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E3447"/>
                </a:solidFill>
                <a:latin typeface="Arial"/>
              </a:rPr>
              <a:t>Venda entre atletas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6008" y="3877056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55D73"/>
                </a:solidFill>
                <a:latin typeface="Arial"/>
              </a:rPr>
              <a:t>C2C com reputação, fotos guiadas e mediação de disputa. O usado também tem garantia.</a:t>
            </a:r>
          </a:p>
        </p:txBody>
      </p:sp>
      <p:sp>
        <p:nvSpPr>
          <p:cNvPr id="24" name="Oval 23"/>
          <p:cNvSpPr/>
          <p:nvPr/>
        </p:nvSpPr>
        <p:spPr>
          <a:xfrm>
            <a:off x="4654296" y="4672583"/>
            <a:ext cx="54864" cy="54864"/>
          </a:xfrm>
          <a:prstGeom prst="ellipse">
            <a:avLst/>
          </a:prstGeom>
          <a:solidFill>
            <a:srgbClr val="2E344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800600" y="4590288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1" i="0" spc="60">
                <a:solidFill>
                  <a:srgbClr val="2E3447"/>
                </a:solidFill>
                <a:latin typeface="Arial"/>
              </a:rPr>
              <a:t>perfil com reputação</a:t>
            </a:r>
          </a:p>
        </p:txBody>
      </p:sp>
      <p:sp>
        <p:nvSpPr>
          <p:cNvPr id="26" name="Oval 25"/>
          <p:cNvSpPr/>
          <p:nvPr/>
        </p:nvSpPr>
        <p:spPr>
          <a:xfrm>
            <a:off x="4654296" y="4928616"/>
            <a:ext cx="54864" cy="54864"/>
          </a:xfrm>
          <a:prstGeom prst="ellipse">
            <a:avLst/>
          </a:prstGeom>
          <a:solidFill>
            <a:srgbClr val="2E344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800600" y="4846320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1" i="0" spc="60">
                <a:solidFill>
                  <a:srgbClr val="2E3447"/>
                </a:solidFill>
                <a:latin typeface="Arial"/>
              </a:rPr>
              <a:t>fotos guiadas</a:t>
            </a:r>
          </a:p>
        </p:txBody>
      </p:sp>
      <p:sp>
        <p:nvSpPr>
          <p:cNvPr id="28" name="Oval 27"/>
          <p:cNvSpPr/>
          <p:nvPr/>
        </p:nvSpPr>
        <p:spPr>
          <a:xfrm>
            <a:off x="4654296" y="5184648"/>
            <a:ext cx="54864" cy="54864"/>
          </a:xfrm>
          <a:prstGeom prst="ellipse">
            <a:avLst/>
          </a:prstGeom>
          <a:solidFill>
            <a:srgbClr val="2E344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800600" y="5102352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1" i="0" spc="60">
                <a:solidFill>
                  <a:srgbClr val="2E3447"/>
                </a:solidFill>
                <a:latin typeface="Arial"/>
              </a:rPr>
              <a:t>mediação de disputa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27264" y="2121408"/>
            <a:ext cx="3246120" cy="3529584"/>
          </a:xfrm>
          <a:prstGeom prst="roundRect">
            <a:avLst>
              <a:gd name="adj" fmla="val 5000"/>
            </a:avLst>
          </a:prstGeom>
          <a:solidFill>
            <a:srgbClr val="C7CEEA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8138160" y="2377440"/>
            <a:ext cx="749808" cy="749808"/>
          </a:xfrm>
          <a:prstGeom prst="ellipse">
            <a:avLst/>
          </a:prstGeom>
          <a:solidFill>
            <a:srgbClr val="FFFF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Diamond 31"/>
          <p:cNvSpPr/>
          <p:nvPr/>
        </p:nvSpPr>
        <p:spPr>
          <a:xfrm>
            <a:off x="8284464" y="2523744"/>
            <a:ext cx="457200" cy="457200"/>
          </a:xfrm>
          <a:prstGeom prst="diamond">
            <a:avLst/>
          </a:prstGeom>
          <a:solidFill>
            <a:srgbClr val="2E3447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015984" y="254203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2E3447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3273552"/>
            <a:ext cx="265176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E3447"/>
                </a:solidFill>
                <a:latin typeface="Arial"/>
              </a:rPr>
              <a:t>Custódia financeira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3877056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55D73"/>
                </a:solidFill>
                <a:latin typeface="Arial"/>
              </a:rPr>
              <a:t>O valor fica retido até a entrega confirmada. Depois, o repasse é automático para o vendedor.</a:t>
            </a:r>
          </a:p>
        </p:txBody>
      </p:sp>
      <p:sp>
        <p:nvSpPr>
          <p:cNvPr id="36" name="Oval 35"/>
          <p:cNvSpPr/>
          <p:nvPr/>
        </p:nvSpPr>
        <p:spPr>
          <a:xfrm>
            <a:off x="8156448" y="4672583"/>
            <a:ext cx="54864" cy="54864"/>
          </a:xfrm>
          <a:prstGeom prst="ellipse">
            <a:avLst/>
          </a:prstGeom>
          <a:solidFill>
            <a:srgbClr val="2E344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02752" y="4590288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1" i="0" spc="60">
                <a:solidFill>
                  <a:srgbClr val="2E3447"/>
                </a:solidFill>
                <a:latin typeface="Arial"/>
              </a:rPr>
              <a:t>valor retido no Pix</a:t>
            </a:r>
          </a:p>
        </p:txBody>
      </p:sp>
      <p:sp>
        <p:nvSpPr>
          <p:cNvPr id="38" name="Oval 37"/>
          <p:cNvSpPr/>
          <p:nvPr/>
        </p:nvSpPr>
        <p:spPr>
          <a:xfrm>
            <a:off x="8156448" y="4928616"/>
            <a:ext cx="54864" cy="54864"/>
          </a:xfrm>
          <a:prstGeom prst="ellipse">
            <a:avLst/>
          </a:prstGeom>
          <a:solidFill>
            <a:srgbClr val="2E344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302752" y="4846320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1" i="0" spc="60">
                <a:solidFill>
                  <a:srgbClr val="2E3447"/>
                </a:solidFill>
                <a:latin typeface="Arial"/>
              </a:rPr>
              <a:t>prazo de conferência</a:t>
            </a:r>
          </a:p>
        </p:txBody>
      </p:sp>
      <p:sp>
        <p:nvSpPr>
          <p:cNvPr id="40" name="Oval 39"/>
          <p:cNvSpPr/>
          <p:nvPr/>
        </p:nvSpPr>
        <p:spPr>
          <a:xfrm>
            <a:off x="8156448" y="5184648"/>
            <a:ext cx="54864" cy="54864"/>
          </a:xfrm>
          <a:prstGeom prst="ellipse">
            <a:avLst/>
          </a:prstGeom>
          <a:solidFill>
            <a:srgbClr val="2E344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302752" y="5102352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1" i="0" spc="60">
                <a:solidFill>
                  <a:srgbClr val="2E3447"/>
                </a:solidFill>
                <a:latin typeface="Arial"/>
              </a:rPr>
              <a:t>repasse automático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960" y="5925312"/>
            <a:ext cx="187451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22960" y="5925312"/>
            <a:ext cx="1874519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 i="0" spc="160">
                <a:solidFill>
                  <a:srgbClr val="555D73"/>
                </a:solidFill>
                <a:latin typeface="Arial"/>
              </a:rPr>
              <a:t>UM CATÁLOGO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852928" y="5925312"/>
            <a:ext cx="187451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2852928" y="5925312"/>
            <a:ext cx="1874519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 i="0" spc="160">
                <a:solidFill>
                  <a:srgbClr val="555D73"/>
                </a:solidFill>
                <a:latin typeface="Arial"/>
              </a:rPr>
              <a:t>UMA REPUTAÇÃO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82896" y="5925312"/>
            <a:ext cx="187451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82896" y="5925312"/>
            <a:ext cx="1874519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 i="0" spc="160">
                <a:solidFill>
                  <a:srgbClr val="555D73"/>
                </a:solidFill>
                <a:latin typeface="Arial"/>
              </a:rPr>
              <a:t>UM CAIXA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TextBox 204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05 / 15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Rectangle 207"/>
          <p:cNvSpPr/>
          <p:nvPr/>
        </p:nvSpPr>
        <p:spPr>
          <a:xfrm>
            <a:off x="566928" y="6510528"/>
            <a:ext cx="3688080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800" fill="hold"/>
                                        <p:tgtEl>
                                          <p:spTgt spid="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1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6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2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375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3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485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54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595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65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05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76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815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87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925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98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035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09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145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20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1255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1310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5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1365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1420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5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1475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5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153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5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1585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0" dur="5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1640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1695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2" dur="5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1750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8" dur="5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>
                      <p:stCondLst>
                        <p:cond delay="900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id="19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4" fill="hold">
                      <p:stCondLst>
                        <p:cond delay="980"/>
                      </p:stCondLst>
                      <p:childTnLst>
                        <p:par>
                          <p:cTn id="195" fill="hold">
                            <p:stCondLst>
                              <p:cond delay="0"/>
                            </p:stCondLst>
                            <p:childTnLst>
                              <p:par>
                                <p:cTn id="1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1060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COMO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Do anúncio ao repasse, em quatro passos.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417320" y="2788920"/>
            <a:ext cx="9464040" cy="0"/>
          </a:xfrm>
          <a:prstGeom prst="line">
            <a:avLst/>
          </a:prstGeom>
          <a:ln w="25400">
            <a:solidFill>
              <a:srgbClr val="E7DFD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969264" y="2459736"/>
            <a:ext cx="658368" cy="658368"/>
          </a:xfrm>
          <a:prstGeom prst="ellipse">
            <a:avLst/>
          </a:prstGeom>
          <a:solidFill>
            <a:srgbClr val="FF9AA2"/>
          </a:solidFill>
          <a:ln w="38100">
            <a:solidFill>
              <a:srgbClr val="FFFFFF"/>
            </a:solidFill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9264" y="2459736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3447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3300984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3447"/>
                </a:solidFill>
                <a:latin typeface="Arial"/>
              </a:rPr>
              <a:t>Anuncia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3675887"/>
            <a:ext cx="2121408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5D73"/>
                </a:solidFill>
                <a:latin typeface="Arial"/>
              </a:rPr>
              <a:t>Loja verificada ou atleta publica com fotos guiadas e histórico.</a:t>
            </a:r>
          </a:p>
        </p:txBody>
      </p:sp>
      <p:sp>
        <p:nvSpPr>
          <p:cNvPr id="9" name="Oval 8"/>
          <p:cNvSpPr/>
          <p:nvPr/>
        </p:nvSpPr>
        <p:spPr>
          <a:xfrm>
            <a:off x="3639312" y="2459736"/>
            <a:ext cx="658368" cy="658368"/>
          </a:xfrm>
          <a:prstGeom prst="ellipse">
            <a:avLst/>
          </a:prstGeom>
          <a:solidFill>
            <a:srgbClr val="FFE2A8"/>
          </a:solidFill>
          <a:ln w="38100">
            <a:solidFill>
              <a:srgbClr val="FFFFFF"/>
            </a:solidFill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39312" y="2459736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3447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8144" y="3300984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3447"/>
                </a:solidFill>
                <a:latin typeface="Arial"/>
              </a:rPr>
              <a:t>Compra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8144" y="3675887"/>
            <a:ext cx="2121408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5D73"/>
                </a:solidFill>
                <a:latin typeface="Arial"/>
              </a:rPr>
              <a:t>Checkout único: Pix ou cartão, com o valor em custódia.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0" y="2459736"/>
            <a:ext cx="658368" cy="658368"/>
          </a:xfrm>
          <a:prstGeom prst="ellipse">
            <a:avLst/>
          </a:prstGeom>
          <a:solidFill>
            <a:srgbClr val="B5EAD7"/>
          </a:solidFill>
          <a:ln w="38100">
            <a:solidFill>
              <a:srgbClr val="FFFFFF"/>
            </a:solidFill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09360" y="2459736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3447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3300984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3447"/>
                </a:solidFill>
                <a:latin typeface="Arial"/>
              </a:rPr>
              <a:t>Recebe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3675887"/>
            <a:ext cx="2121408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5D73"/>
                </a:solidFill>
                <a:latin typeface="Arial"/>
              </a:rPr>
              <a:t>Envio rastreado e prazo de conferência para o comprador.</a:t>
            </a:r>
          </a:p>
        </p:txBody>
      </p:sp>
      <p:sp>
        <p:nvSpPr>
          <p:cNvPr id="17" name="Oval 16"/>
          <p:cNvSpPr/>
          <p:nvPr/>
        </p:nvSpPr>
        <p:spPr>
          <a:xfrm>
            <a:off x="8979408" y="2459736"/>
            <a:ext cx="658368" cy="658368"/>
          </a:xfrm>
          <a:prstGeom prst="ellipse">
            <a:avLst/>
          </a:prstGeom>
          <a:solidFill>
            <a:srgbClr val="C7CEEA"/>
          </a:solidFill>
          <a:ln w="38100">
            <a:solidFill>
              <a:srgbClr val="FFFFFF"/>
            </a:solidFill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979408" y="2459736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3447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3300984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3447"/>
                </a:solidFill>
                <a:latin typeface="Arial"/>
              </a:rPr>
              <a:t>Libera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675887"/>
            <a:ext cx="2121408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5D73"/>
                </a:solidFill>
                <a:latin typeface="Arial"/>
              </a:rPr>
              <a:t>Entrega confirmada, repasse liberado automaticamente.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92040"/>
            <a:ext cx="10543032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78992" y="5074920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F26D76"/>
                </a:solidFill>
                <a:latin typeface="Arial"/>
              </a:rPr>
              <a:t>CUSTÓDIA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" y="5321808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B92A6"/>
                </a:solidFill>
                <a:latin typeface="Arial"/>
              </a:rPr>
              <a:t>o dinheiro não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B92A6"/>
                </a:solidFill>
                <a:latin typeface="Arial"/>
              </a:rPr>
              <a:t>anda sozinho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06040" y="5175504"/>
            <a:ext cx="1847088" cy="658368"/>
          </a:xfrm>
          <a:prstGeom prst="roundRect">
            <a:avLst>
              <a:gd name="adj" fmla="val 30000"/>
            </a:avLst>
          </a:prstGeom>
          <a:solidFill>
            <a:srgbClr val="FF9AA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697480" y="5175504"/>
            <a:ext cx="166420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2E3447"/>
                </a:solidFill>
                <a:latin typeface="Arial"/>
              </a:rPr>
              <a:t>Pix aprovado</a:t>
            </a:r>
          </a:p>
        </p:txBody>
      </p:sp>
      <p:sp>
        <p:nvSpPr>
          <p:cNvPr id="26" name="Chevron 25"/>
          <p:cNvSpPr/>
          <p:nvPr/>
        </p:nvSpPr>
        <p:spPr>
          <a:xfrm>
            <a:off x="4489704" y="5394960"/>
            <a:ext cx="201168" cy="219456"/>
          </a:xfrm>
          <a:prstGeom prst="chevron">
            <a:avLst/>
          </a:prstGeom>
          <a:solidFill>
            <a:srgbClr val="8B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4818888" y="5175504"/>
            <a:ext cx="1847088" cy="658368"/>
          </a:xfrm>
          <a:prstGeom prst="roundRect">
            <a:avLst>
              <a:gd name="adj" fmla="val 30000"/>
            </a:avLst>
          </a:prstGeom>
          <a:solidFill>
            <a:srgbClr val="FFE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910327" y="5175504"/>
            <a:ext cx="166420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2E3447"/>
                </a:solidFill>
                <a:latin typeface="Arial"/>
              </a:rPr>
              <a:t>Valor retido</a:t>
            </a:r>
          </a:p>
        </p:txBody>
      </p:sp>
      <p:sp>
        <p:nvSpPr>
          <p:cNvPr id="29" name="Chevron 28"/>
          <p:cNvSpPr/>
          <p:nvPr/>
        </p:nvSpPr>
        <p:spPr>
          <a:xfrm>
            <a:off x="6702552" y="5394960"/>
            <a:ext cx="201168" cy="219456"/>
          </a:xfrm>
          <a:prstGeom prst="chevron">
            <a:avLst/>
          </a:prstGeom>
          <a:solidFill>
            <a:srgbClr val="8B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7031736" y="5175504"/>
            <a:ext cx="1847088" cy="658368"/>
          </a:xfrm>
          <a:prstGeom prst="roundRect">
            <a:avLst>
              <a:gd name="adj" fmla="val 30000"/>
            </a:avLst>
          </a:prstGeom>
          <a:solidFill>
            <a:srgbClr val="B5EAD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23175" y="5175504"/>
            <a:ext cx="166420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2E3447"/>
                </a:solidFill>
                <a:latin typeface="Arial"/>
              </a:rPr>
              <a:t>Entrega confirmada</a:t>
            </a:r>
          </a:p>
        </p:txBody>
      </p:sp>
      <p:sp>
        <p:nvSpPr>
          <p:cNvPr id="32" name="Chevron 31"/>
          <p:cNvSpPr/>
          <p:nvPr/>
        </p:nvSpPr>
        <p:spPr>
          <a:xfrm>
            <a:off x="8915400" y="5394960"/>
            <a:ext cx="201168" cy="219456"/>
          </a:xfrm>
          <a:prstGeom prst="chevron">
            <a:avLst/>
          </a:prstGeom>
          <a:solidFill>
            <a:srgbClr val="8B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9244584" y="5175504"/>
            <a:ext cx="1847088" cy="658368"/>
          </a:xfrm>
          <a:prstGeom prst="roundRect">
            <a:avLst>
              <a:gd name="adj" fmla="val 30000"/>
            </a:avLst>
          </a:prstGeom>
          <a:solidFill>
            <a:srgbClr val="C7CEE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36024" y="5175504"/>
            <a:ext cx="166420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2E3447"/>
                </a:solidFill>
                <a:latin typeface="Arial"/>
              </a:rPr>
              <a:t>Repasse liberado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06 / 15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Rectangle 175"/>
          <p:cNvSpPr/>
          <p:nvPr/>
        </p:nvSpPr>
        <p:spPr>
          <a:xfrm>
            <a:off x="566928" y="6510528"/>
            <a:ext cx="4425696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5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8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435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49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545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60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655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71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765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82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875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930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985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104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1095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1150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1205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88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" dur="600" fill="hold"/>
                                        <p:tgtEl>
                                          <p:spTgt spid="21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980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1020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1000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1090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1180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1270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1360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1450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1540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1630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PRODUTO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O produto por dentro.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01368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D73"/>
                </a:solidFill>
                <a:latin typeface="Arial"/>
              </a:rPr>
              <a:t>Fluxos desenhados para reduzir dúvida em cada tela.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57400"/>
            <a:ext cx="5440680" cy="3520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5440680" cy="347472"/>
          </a:xfrm>
          <a:prstGeom prst="roundRect">
            <a:avLst>
              <a:gd name="adj" fmla="val 28000"/>
            </a:avLst>
          </a:prstGeom>
          <a:solidFill>
            <a:srgbClr val="F1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5440680" cy="164592"/>
          </a:xfrm>
          <a:prstGeom prst="rect">
            <a:avLst/>
          </a:prstGeom>
          <a:solidFill>
            <a:srgbClr val="F1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005840" y="2185416"/>
            <a:ext cx="91440" cy="91440"/>
          </a:xfrm>
          <a:prstGeom prst="ellipse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170432" y="2185416"/>
            <a:ext cx="91440" cy="91440"/>
          </a:xfrm>
          <a:prstGeom prst="ellipse">
            <a:avLst/>
          </a:prstGeom>
          <a:solidFill>
            <a:srgbClr val="F2C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335024" y="2185416"/>
            <a:ext cx="91440" cy="91440"/>
          </a:xfrm>
          <a:prstGeom prst="ellipse">
            <a:avLst/>
          </a:prstGeom>
          <a:solidFill>
            <a:srgbClr val="6FC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1060704" y="2624328"/>
            <a:ext cx="1143000" cy="237744"/>
          </a:xfrm>
          <a:prstGeom prst="roundRect">
            <a:avLst>
              <a:gd name="adj" fmla="val 50000"/>
            </a:avLst>
          </a:prstGeom>
          <a:solidFill>
            <a:srgbClr val="EF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1060704" y="2990088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2E344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060704" y="3374136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2E344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1060704" y="3904487"/>
            <a:ext cx="2331720" cy="365760"/>
          </a:xfrm>
          <a:prstGeom prst="roundRect">
            <a:avLst>
              <a:gd name="adj" fmla="val 25000"/>
            </a:avLst>
          </a:prstGeom>
          <a:solidFill>
            <a:srgbClr val="FF9AA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1060704" y="4379975"/>
            <a:ext cx="2331720" cy="365760"/>
          </a:xfrm>
          <a:prstGeom prst="roundRect">
            <a:avLst>
              <a:gd name="adj" fmla="val 25000"/>
            </a:avLst>
          </a:prstGeom>
          <a:solidFill>
            <a:srgbClr val="B5EAD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1060704" y="4855464"/>
            <a:ext cx="2331720" cy="365760"/>
          </a:xfrm>
          <a:prstGeom prst="roundRect">
            <a:avLst>
              <a:gd name="adj" fmla="val 25000"/>
            </a:avLst>
          </a:prstGeom>
          <a:solidFill>
            <a:srgbClr val="C7CEE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3584448" y="2624328"/>
            <a:ext cx="2423160" cy="269748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3767328" y="2807208"/>
            <a:ext cx="2057400" cy="1417320"/>
          </a:xfrm>
          <a:prstGeom prst="roundRect">
            <a:avLst>
              <a:gd name="adj" fmla="val 8000"/>
            </a:avLst>
          </a:prstGeom>
          <a:solidFill>
            <a:srgbClr val="FFC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sosceles Triangle 18"/>
          <p:cNvSpPr/>
          <p:nvPr/>
        </p:nvSpPr>
        <p:spPr>
          <a:xfrm>
            <a:off x="4498848" y="3227832"/>
            <a:ext cx="594360" cy="594360"/>
          </a:xfrm>
          <a:prstGeom prst="triangle">
            <a:avLst/>
          </a:prstGeom>
          <a:solidFill>
            <a:srgbClr val="F26D7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3767328" y="4361688"/>
            <a:ext cx="1417320" cy="201168"/>
          </a:xfrm>
          <a:prstGeom prst="roundRect">
            <a:avLst>
              <a:gd name="adj" fmla="val 50000"/>
            </a:avLst>
          </a:prstGeom>
          <a:solidFill>
            <a:srgbClr val="2E3447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767328" y="4672583"/>
            <a:ext cx="2057400" cy="402336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720840" y="1920240"/>
            <a:ext cx="2084831" cy="3931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830568" y="2084832"/>
            <a:ext cx="1865376" cy="3602736"/>
          </a:xfrm>
          <a:prstGeom prst="roundRect">
            <a:avLst>
              <a:gd name="adj" fmla="val 10000"/>
            </a:avLst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507223" y="2157984"/>
            <a:ext cx="512064" cy="91440"/>
          </a:xfrm>
          <a:prstGeom prst="roundRect">
            <a:avLst>
              <a:gd name="adj" fmla="val 50000"/>
            </a:avLst>
          </a:prstGeom>
          <a:solidFill>
            <a:srgbClr val="E3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958583" y="2377440"/>
            <a:ext cx="1609344" cy="1042415"/>
          </a:xfrm>
          <a:prstGeom prst="roundRect">
            <a:avLst>
              <a:gd name="adj" fmla="val 7000"/>
            </a:avLst>
          </a:prstGeom>
          <a:solidFill>
            <a:srgbClr val="FFC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58583" y="3529584"/>
            <a:ext cx="1097280" cy="164592"/>
          </a:xfrm>
          <a:prstGeom prst="roundRect">
            <a:avLst>
              <a:gd name="adj" fmla="val 50000"/>
            </a:avLst>
          </a:prstGeom>
          <a:solidFill>
            <a:srgbClr val="2E3447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6958583" y="3767328"/>
            <a:ext cx="1609344" cy="164592"/>
          </a:xfrm>
          <a:prstGeom prst="roundRect">
            <a:avLst>
              <a:gd name="adj" fmla="val 50000"/>
            </a:avLst>
          </a:prstGeom>
          <a:solidFill>
            <a:srgbClr val="2E344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958583" y="4078224"/>
            <a:ext cx="868680" cy="310896"/>
          </a:xfrm>
          <a:prstGeom prst="roundRect">
            <a:avLst>
              <a:gd name="adj" fmla="val 40000"/>
            </a:avLst>
          </a:prstGeom>
          <a:solidFill>
            <a:srgbClr val="6FC9A5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958583" y="4535424"/>
            <a:ext cx="1609344" cy="109728"/>
          </a:xfrm>
          <a:prstGeom prst="roundRect">
            <a:avLst>
              <a:gd name="adj" fmla="val 50000"/>
            </a:avLst>
          </a:prstGeom>
          <a:solidFill>
            <a:srgbClr val="2E344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958583" y="4754880"/>
            <a:ext cx="1097280" cy="109728"/>
          </a:xfrm>
          <a:prstGeom prst="roundRect">
            <a:avLst>
              <a:gd name="adj" fmla="val 50000"/>
            </a:avLst>
          </a:prstGeom>
          <a:solidFill>
            <a:srgbClr val="2E344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6958583" y="5138928"/>
            <a:ext cx="1609344" cy="384048"/>
          </a:xfrm>
          <a:prstGeom prst="roundRect">
            <a:avLst>
              <a:gd name="adj" fmla="val 30000"/>
            </a:avLst>
          </a:prstGeom>
          <a:solidFill>
            <a:srgbClr val="2E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720840" y="5961888"/>
            <a:ext cx="2084831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 i="0" spc="160">
                <a:solidFill>
                  <a:srgbClr val="8B92A6"/>
                </a:solidFill>
                <a:latin typeface="Arial"/>
              </a:rPr>
              <a:t>PÁGINA VERIFICADA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08008" y="1920240"/>
            <a:ext cx="2084831" cy="3931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9317736" y="2084832"/>
            <a:ext cx="1865376" cy="3602736"/>
          </a:xfrm>
          <a:prstGeom prst="roundRect">
            <a:avLst>
              <a:gd name="adj" fmla="val 10000"/>
            </a:avLst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9994392" y="2157984"/>
            <a:ext cx="512064" cy="91440"/>
          </a:xfrm>
          <a:prstGeom prst="roundRect">
            <a:avLst>
              <a:gd name="adj" fmla="val 50000"/>
            </a:avLst>
          </a:prstGeom>
          <a:solidFill>
            <a:srgbClr val="E3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9445752" y="2377440"/>
            <a:ext cx="1609344" cy="1042415"/>
          </a:xfrm>
          <a:prstGeom prst="roundRect">
            <a:avLst>
              <a:gd name="adj" fmla="val 7000"/>
            </a:avLst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9445752" y="3529584"/>
            <a:ext cx="1097280" cy="164592"/>
          </a:xfrm>
          <a:prstGeom prst="roundRect">
            <a:avLst>
              <a:gd name="adj" fmla="val 50000"/>
            </a:avLst>
          </a:prstGeom>
          <a:solidFill>
            <a:srgbClr val="2E3447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9445752" y="3767328"/>
            <a:ext cx="1609344" cy="164592"/>
          </a:xfrm>
          <a:prstGeom prst="roundRect">
            <a:avLst>
              <a:gd name="adj" fmla="val 50000"/>
            </a:avLst>
          </a:prstGeom>
          <a:solidFill>
            <a:srgbClr val="2E344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9445752" y="4078224"/>
            <a:ext cx="868680" cy="310896"/>
          </a:xfrm>
          <a:prstGeom prst="roundRect">
            <a:avLst>
              <a:gd name="adj" fmla="val 40000"/>
            </a:avLst>
          </a:prstGeom>
          <a:solidFill>
            <a:srgbClr val="8E9BE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9445752" y="4535424"/>
            <a:ext cx="1609344" cy="109728"/>
          </a:xfrm>
          <a:prstGeom prst="roundRect">
            <a:avLst>
              <a:gd name="adj" fmla="val 50000"/>
            </a:avLst>
          </a:prstGeom>
          <a:solidFill>
            <a:srgbClr val="2E344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9445752" y="4754880"/>
            <a:ext cx="1097280" cy="109728"/>
          </a:xfrm>
          <a:prstGeom prst="roundRect">
            <a:avLst>
              <a:gd name="adj" fmla="val 50000"/>
            </a:avLst>
          </a:prstGeom>
          <a:solidFill>
            <a:srgbClr val="2E344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9445752" y="5138928"/>
            <a:ext cx="1609344" cy="384048"/>
          </a:xfrm>
          <a:prstGeom prst="roundRect">
            <a:avLst>
              <a:gd name="adj" fmla="val 30000"/>
            </a:avLst>
          </a:prstGeom>
          <a:solidFill>
            <a:srgbClr val="2E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208008" y="5961888"/>
            <a:ext cx="2084831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 i="0" spc="160">
                <a:solidFill>
                  <a:srgbClr val="8B92A6"/>
                </a:solidFill>
                <a:latin typeface="Arial"/>
              </a:rPr>
              <a:t>CUSTÓDIA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696712"/>
            <a:ext cx="54406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 i="0" spc="160">
                <a:solidFill>
                  <a:srgbClr val="8B92A6"/>
                </a:solidFill>
                <a:latin typeface="Arial"/>
              </a:rPr>
              <a:t>CATÁLOGO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07 / 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566928" y="6510528"/>
            <a:ext cx="5163312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6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700" fill="hold"/>
                                        <p:tgtEl>
                                          <p:spTgt spid="5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2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66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6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78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6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90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DIFERENCIAL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Confiança não é um selo. É um fluxo.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29968"/>
            <a:ext cx="44805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 spc="200">
                <a:solidFill>
                  <a:srgbClr val="F26D76"/>
                </a:solidFill>
                <a:latin typeface="Arial"/>
              </a:rPr>
              <a:t>VERIFICAÇÃO · 3 CAMADAS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468880"/>
            <a:ext cx="502920" cy="502920"/>
          </a:xfrm>
          <a:prstGeom prst="ellipse">
            <a:avLst/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3447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7904" y="2450592"/>
            <a:ext cx="3749039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3447"/>
                </a:solidFill>
                <a:latin typeface="Arial"/>
              </a:rPr>
              <a:t>Documento e CNPJ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2779776"/>
            <a:ext cx="3840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D73"/>
                </a:solidFill>
                <a:latin typeface="Arial"/>
              </a:rPr>
              <a:t>Existência real, sócio responsável e dados bancários.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547872"/>
            <a:ext cx="502920" cy="502920"/>
          </a:xfrm>
          <a:prstGeom prst="ellipse">
            <a:avLst/>
          </a:prstGeom>
          <a:solidFill>
            <a:srgbClr val="FFE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354787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3447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3529584"/>
            <a:ext cx="3749039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3447"/>
                </a:solidFill>
                <a:latin typeface="Arial"/>
              </a:rPr>
              <a:t>Histórico de vendas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3858768"/>
            <a:ext cx="3840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D73"/>
                </a:solidFill>
                <a:latin typeface="Arial"/>
              </a:rPr>
              <a:t>Tempo de operação, volume e taxa de disputa.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626864"/>
            <a:ext cx="502920" cy="502920"/>
          </a:xfrm>
          <a:prstGeom prst="ellipse">
            <a:avLst/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60" y="462686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3447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4608576"/>
            <a:ext cx="3749039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3447"/>
                </a:solidFill>
                <a:latin typeface="Arial"/>
              </a:rPr>
              <a:t>Catálogo auditado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4937760"/>
            <a:ext cx="3840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D73"/>
                </a:solidFill>
                <a:latin typeface="Arial"/>
              </a:rPr>
              <a:t>Marcas, procedência e amostra de produtos.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30368" y="1938528"/>
            <a:ext cx="3246120" cy="3977639"/>
          </a:xfrm>
          <a:prstGeom prst="roundRect">
            <a:avLst>
              <a:gd name="adj" fmla="val 6000"/>
            </a:avLst>
          </a:prstGeom>
          <a:solidFill>
            <a:srgbClr val="2E3447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504688" y="21762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 spc="180">
                <a:solidFill>
                  <a:srgbClr val="FFC9C9"/>
                </a:solidFill>
                <a:latin typeface="Arial"/>
              </a:rPr>
              <a:t>CUSTÓDIA · 4 ESTADOS</a:t>
            </a:r>
          </a:p>
        </p:txBody>
      </p:sp>
      <p:sp>
        <p:nvSpPr>
          <p:cNvPr id="19" name="Oval 18"/>
          <p:cNvSpPr/>
          <p:nvPr/>
        </p:nvSpPr>
        <p:spPr>
          <a:xfrm>
            <a:off x="5504688" y="2615184"/>
            <a:ext cx="182880" cy="182880"/>
          </a:xfrm>
          <a:prstGeom prst="ellipse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797296" y="2523744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Pago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7296" y="277977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C3B9B9"/>
                </a:solidFill>
                <a:latin typeface="Arial"/>
              </a:rPr>
              <a:t>valor entra na conta custodial</a:t>
            </a:r>
          </a:p>
        </p:txBody>
      </p:sp>
      <p:sp>
        <p:nvSpPr>
          <p:cNvPr id="22" name="Oval 21"/>
          <p:cNvSpPr/>
          <p:nvPr/>
        </p:nvSpPr>
        <p:spPr>
          <a:xfrm>
            <a:off x="5504688" y="3419856"/>
            <a:ext cx="182880" cy="182880"/>
          </a:xfrm>
          <a:prstGeom prst="ellipse">
            <a:avLst/>
          </a:prstGeom>
          <a:solidFill>
            <a:srgbClr val="F2C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97296" y="3328415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Retido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7296" y="35844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C3B9B9"/>
                </a:solidFill>
                <a:latin typeface="Arial"/>
              </a:rPr>
              <a:t>comprador confirma o recebimento</a:t>
            </a:r>
          </a:p>
        </p:txBody>
      </p:sp>
      <p:sp>
        <p:nvSpPr>
          <p:cNvPr id="25" name="Oval 24"/>
          <p:cNvSpPr/>
          <p:nvPr/>
        </p:nvSpPr>
        <p:spPr>
          <a:xfrm>
            <a:off x="5504688" y="4224528"/>
            <a:ext cx="182880" cy="182880"/>
          </a:xfrm>
          <a:prstGeom prst="ellipse">
            <a:avLst/>
          </a:prstGeom>
          <a:solidFill>
            <a:srgbClr val="A9D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797296" y="4133088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Em trânsito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7296" y="438912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C3B9B9"/>
                </a:solidFill>
                <a:latin typeface="Arial"/>
              </a:rPr>
              <a:t>prazo de conferência aberto</a:t>
            </a:r>
          </a:p>
        </p:txBody>
      </p:sp>
      <p:sp>
        <p:nvSpPr>
          <p:cNvPr id="28" name="Oval 27"/>
          <p:cNvSpPr/>
          <p:nvPr/>
        </p:nvSpPr>
        <p:spPr>
          <a:xfrm>
            <a:off x="5504688" y="5029200"/>
            <a:ext cx="182880" cy="182880"/>
          </a:xfrm>
          <a:prstGeom prst="ellipse">
            <a:avLst/>
          </a:prstGeom>
          <a:solidFill>
            <a:srgbClr val="6FC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797296" y="493776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Liberado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97296" y="519379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C3B9B9"/>
                </a:solidFill>
                <a:latin typeface="Arial"/>
              </a:rPr>
              <a:t>repasse automático ao vendedor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78240" y="1938528"/>
            <a:ext cx="2587752" cy="39776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034272" y="221284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3447"/>
                </a:solidFill>
                <a:latin typeface="Arial"/>
              </a:rPr>
              <a:t>Ninguém faz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3447"/>
                </a:solidFill>
                <a:latin typeface="Arial"/>
              </a:rPr>
              <a:t>os dois juntos.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4272" y="2962656"/>
            <a:ext cx="212140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55D73"/>
                </a:solidFill>
                <a:latin typeface="Arial"/>
              </a:rPr>
              <a:t>Marketplaces têm alcance e não verificam. Lojas têm confiança e não têm tráfego de atleta.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34272" y="4041648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F9AA2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125712" y="4041648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 i="0" spc="120">
                <a:solidFill>
                  <a:srgbClr val="2E3447"/>
                </a:solidFill>
                <a:latin typeface="Arial"/>
              </a:rPr>
              <a:t>verificação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34272" y="4443984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B5EAD7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25712" y="4443984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 i="0" spc="120">
                <a:solidFill>
                  <a:srgbClr val="2E3447"/>
                </a:solidFill>
                <a:latin typeface="Arial"/>
              </a:rPr>
              <a:t>reputação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34272" y="484632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C7CEE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125712" y="4846320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 i="0" spc="120">
                <a:solidFill>
                  <a:srgbClr val="2E3447"/>
                </a:solidFill>
                <a:latin typeface="Arial"/>
              </a:rPr>
              <a:t>custódia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34272" y="5230368"/>
            <a:ext cx="2057400" cy="402336"/>
          </a:xfrm>
          <a:prstGeom prst="roundRect">
            <a:avLst>
              <a:gd name="adj" fmla="val 30000"/>
            </a:avLst>
          </a:prstGeom>
          <a:solidFill>
            <a:srgbClr val="2E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034272" y="5230368"/>
            <a:ext cx="2057400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 spc="100">
                <a:solidFill>
                  <a:srgbClr val="FFFFFF"/>
                </a:solidFill>
                <a:latin typeface="Arial"/>
              </a:rPr>
              <a:t>os três juntos</a:t>
            </a:r>
          </a:p>
        </p:txBody>
      </p:sp>
      <p:sp>
        <p:nvSpPr>
          <p:cNvPr id="226" name="Rounded Rectangle 225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TextBox 226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08 / 15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Rectangle 229"/>
          <p:cNvSpPr/>
          <p:nvPr/>
        </p:nvSpPr>
        <p:spPr>
          <a:xfrm>
            <a:off x="566928" y="6510528"/>
            <a:ext cx="5900928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28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335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39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445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50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555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61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665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72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775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830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885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56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7" dur="650" fill="hold"/>
                                        <p:tgtEl>
                                          <p:spTgt spid="17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70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76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82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880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940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00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1060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112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1180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1240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1300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1360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1420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900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>
                      <p:stCondLst>
                        <p:cond delay="1000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1080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1140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4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5" fill="hold">
                      <p:stCondLst>
                        <p:cond delay="1230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0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1320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4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>
                      <p:stCondLst>
                        <p:cond delay="1410"/>
                      </p:stCondLst>
                      <p:childTnLst>
                        <p:par>
                          <p:cTn id="198" fill="hold">
                            <p:stCondLst>
                              <p:cond delay="0"/>
                            </p:stCondLst>
                            <p:childTnLst>
                              <p:par>
                                <p:cTn id="19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2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>
                      <p:stCondLst>
                        <p:cond delay="1500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20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8" dur="4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1590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4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1500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0" dur="500" fill="hold"/>
                                        <p:tgtEl>
                                          <p:spTgt spid="40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1" fill="hold">
                      <p:stCondLst>
                        <p:cond delay="1600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064240" y="365760"/>
            <a:ext cx="1737360" cy="1737360"/>
          </a:xfrm>
          <a:prstGeom prst="ellipse">
            <a:avLst/>
          </a:prstGeom>
          <a:solidFill>
            <a:srgbClr val="B5EAD7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MODELO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Como o dinheiro entra.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01368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D73"/>
                </a:solidFill>
                <a:latin typeface="Arial"/>
              </a:rPr>
              <a:t>Receita no fluxo, não em mensalidade do atleta.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21408"/>
            <a:ext cx="324612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22960" y="2121408"/>
            <a:ext cx="3246120" cy="146304"/>
          </a:xfrm>
          <a:prstGeom prst="roundRect">
            <a:avLst>
              <a:gd name="adj" fmla="val 30000"/>
            </a:avLst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15568" y="2377440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2E3447"/>
                </a:solidFill>
                <a:latin typeface="Arial"/>
              </a:rPr>
              <a:t>Comissão por venda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743200"/>
            <a:ext cx="2633472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55D73"/>
                </a:solidFill>
                <a:latin typeface="Arial"/>
              </a:rPr>
              <a:t>6% a 10% do valor da transação, descontados no repasse ao vendedor.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15568" y="3584448"/>
            <a:ext cx="2331720" cy="7315"/>
          </a:xfrm>
          <a:prstGeom prst="rect">
            <a:avLst/>
          </a:prstGeom>
          <a:solidFill>
            <a:srgbClr val="E7D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15568" y="3694176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 spc="-40">
                <a:solidFill>
                  <a:srgbClr val="2E3447"/>
                </a:solidFill>
                <a:latin typeface="Arial"/>
              </a:rPr>
              <a:t>6–10%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15568" y="41330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15568" y="4133087"/>
            <a:ext cx="16002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 i="0" spc="120">
                <a:solidFill>
                  <a:srgbClr val="2E3447"/>
                </a:solidFill>
                <a:latin typeface="Arial"/>
              </a:rPr>
              <a:t>RECEITA PRINCIPAL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121408"/>
            <a:ext cx="324612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325112" y="2121408"/>
            <a:ext cx="3246120" cy="146304"/>
          </a:xfrm>
          <a:prstGeom prst="roundRect">
            <a:avLst>
              <a:gd name="adj" fmla="val 30000"/>
            </a:avLst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617720" y="2377440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2E3447"/>
                </a:solidFill>
                <a:latin typeface="Arial"/>
              </a:rPr>
              <a:t>Destaque de loja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743200"/>
            <a:ext cx="2633472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55D73"/>
                </a:solidFill>
                <a:latin typeface="Arial"/>
              </a:rPr>
              <a:t>Assinatura mensal para vitrine, selo e prioridade na busca.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17720" y="3584448"/>
            <a:ext cx="2331720" cy="7315"/>
          </a:xfrm>
          <a:prstGeom prst="rect">
            <a:avLst/>
          </a:prstGeom>
          <a:solidFill>
            <a:srgbClr val="E7D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17720" y="3694176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 spc="-40">
                <a:solidFill>
                  <a:srgbClr val="2E3447"/>
                </a:solidFill>
                <a:latin typeface="Arial"/>
              </a:rPr>
              <a:t>R$ 99/mês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41330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617720" y="4133087"/>
            <a:ext cx="16002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 i="0" spc="120">
                <a:solidFill>
                  <a:srgbClr val="2E3447"/>
                </a:solidFill>
                <a:latin typeface="Arial"/>
              </a:rPr>
              <a:t>RECORRENTE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27264" y="2121408"/>
            <a:ext cx="324612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7827264" y="2121408"/>
            <a:ext cx="3246120" cy="146304"/>
          </a:xfrm>
          <a:prstGeom prst="roundRect">
            <a:avLst>
              <a:gd name="adj" fmla="val 30000"/>
            </a:avLst>
          </a:prstGeom>
          <a:solidFill>
            <a:srgbClr val="C7C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119872" y="2377440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2E3447"/>
                </a:solidFill>
                <a:latin typeface="Arial"/>
              </a:rPr>
              <a:t>Serviços esportivos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743200"/>
            <a:ext cx="2633472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55D73"/>
                </a:solidFill>
                <a:latin typeface="Arial"/>
              </a:rPr>
              <a:t>Fotografia, laudo de autenticidade e eventos com parceiros.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9872" y="3584448"/>
            <a:ext cx="2331720" cy="7315"/>
          </a:xfrm>
          <a:prstGeom prst="rect">
            <a:avLst/>
          </a:prstGeom>
          <a:solidFill>
            <a:srgbClr val="E7D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19872" y="3694176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 spc="-40">
                <a:solidFill>
                  <a:srgbClr val="2E3447"/>
                </a:solidFill>
                <a:latin typeface="Arial"/>
              </a:rPr>
              <a:t>20%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19872" y="41330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C7C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119872" y="4133087"/>
            <a:ext cx="16002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 i="0" spc="120">
                <a:solidFill>
                  <a:srgbClr val="2E3447"/>
                </a:solidFill>
                <a:latin typeface="Arial"/>
              </a:rPr>
              <a:t>EXPANSÃO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937760"/>
            <a:ext cx="10543032" cy="1188720"/>
          </a:xfrm>
          <a:prstGeom prst="roundRect">
            <a:avLst>
              <a:gd name="adj" fmla="val 5000"/>
            </a:avLst>
          </a:prstGeom>
          <a:solidFill>
            <a:srgbClr val="2E3447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115568" y="510235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 i="0" spc="180">
                <a:solidFill>
                  <a:srgbClr val="FFC9C9"/>
                </a:solidFill>
                <a:latin typeface="Arial"/>
              </a:rPr>
              <a:t>EXEMPLO ILUSTRATIVO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5138928"/>
            <a:ext cx="18288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Arial"/>
              </a:rPr>
              <a:t>R$ 480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5541264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0" i="0" spc="120">
                <a:solidFill>
                  <a:srgbClr val="C3B9B9"/>
                </a:solidFill>
                <a:latin typeface="Arial"/>
              </a:rPr>
              <a:t>ticket médio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76088" y="5138928"/>
            <a:ext cx="18288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Arial"/>
              </a:rPr>
              <a:t>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76088" y="5541264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0" i="0" spc="120">
                <a:solidFill>
                  <a:srgbClr val="C3B9B9"/>
                </a:solidFill>
                <a:latin typeface="Arial"/>
              </a:rPr>
              <a:t>take 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88936" y="5138928"/>
            <a:ext cx="18288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Arial"/>
              </a:rPr>
              <a:t>R$ 38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88936" y="5541264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0" i="0" spc="120">
                <a:solidFill>
                  <a:srgbClr val="C3B9B9"/>
                </a:solidFill>
                <a:latin typeface="Arial"/>
              </a:rPr>
              <a:t>receita / pedido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1784" y="5138928"/>
            <a:ext cx="18288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Arial"/>
              </a:rPr>
              <a:t>R$ 60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01784" y="5541264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0" i="0" spc="120">
                <a:solidFill>
                  <a:srgbClr val="C3B9B9"/>
                </a:solidFill>
                <a:latin typeface="Arial"/>
              </a:rPr>
              <a:t>CAC alvo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TextBox 186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09 / 15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Rectangle 189"/>
          <p:cNvSpPr/>
          <p:nvPr/>
        </p:nvSpPr>
        <p:spPr>
          <a:xfrm>
            <a:off x="566928" y="6510528"/>
            <a:ext cx="6638544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1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6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0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355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1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465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52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575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63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685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74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795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85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905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96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015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07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125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18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1235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820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0" dur="600" fill="hold"/>
                                        <p:tgtEl>
                                          <p:spTgt spid="30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92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98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1060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1140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1220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1300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1380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1460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1540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POSICIONAMENTO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Onde ninguém está.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2084831"/>
            <a:ext cx="3497580" cy="1988819"/>
          </a:xfrm>
          <a:prstGeom prst="rect">
            <a:avLst/>
          </a:prstGeom>
          <a:solidFill>
            <a:srgbClr val="F6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4457700" y="2084831"/>
            <a:ext cx="3497580" cy="1988819"/>
          </a:xfrm>
          <a:prstGeom prst="rect">
            <a:avLst/>
          </a:prstGeom>
          <a:solidFill>
            <a:srgbClr val="EC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60120" y="4073652"/>
            <a:ext cx="3497580" cy="1988819"/>
          </a:xfrm>
          <a:prstGeom prst="rect">
            <a:avLst/>
          </a:prstGeom>
          <a:solidFill>
            <a:srgbClr val="F2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4457700" y="4073652"/>
            <a:ext cx="3497580" cy="1988819"/>
          </a:xfrm>
          <a:prstGeom prst="rect">
            <a:avLst/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4452213" y="2084831"/>
            <a:ext cx="10972" cy="3977639"/>
          </a:xfrm>
          <a:prstGeom prst="rect">
            <a:avLst/>
          </a:prstGeom>
          <a:solidFill>
            <a:srgbClr val="2E3447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960120" y="4068165"/>
            <a:ext cx="6995160" cy="10972"/>
          </a:xfrm>
          <a:prstGeom prst="rect">
            <a:avLst/>
          </a:prstGeom>
          <a:solidFill>
            <a:srgbClr val="2E3447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960120" y="6062471"/>
            <a:ext cx="6995160" cy="18288"/>
          </a:xfrm>
          <a:prstGeom prst="rect">
            <a:avLst/>
          </a:prstGeom>
          <a:solidFill>
            <a:srgbClr val="2E3447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960120" y="2084831"/>
            <a:ext cx="18288" cy="3977639"/>
          </a:xfrm>
          <a:prstGeom prst="rect">
            <a:avLst/>
          </a:prstGeom>
          <a:solidFill>
            <a:srgbClr val="2E3447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0120" y="6172199"/>
            <a:ext cx="67665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40" b="1" i="0" spc="180">
                <a:solidFill>
                  <a:srgbClr val="8B92A6"/>
                </a:solidFill>
                <a:latin typeface="Arial"/>
              </a:rPr>
              <a:t>ALCANCE E TRÁFEGO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7808976" y="6217919"/>
            <a:ext cx="100584" cy="100584"/>
          </a:xfrm>
          <a:prstGeom prst="triangle">
            <a:avLst/>
          </a:prstGeom>
          <a:solidFill>
            <a:srgbClr val="8B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0120" y="1810511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 i="0" spc="180">
                <a:solidFill>
                  <a:srgbClr val="8B92A6"/>
                </a:solidFill>
                <a:latin typeface="Arial"/>
              </a:rPr>
              <a:t>CONFIANÇA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1819656" y="1837943"/>
            <a:ext cx="100584" cy="100584"/>
          </a:xfrm>
          <a:prstGeom prst="triangle">
            <a:avLst/>
          </a:prstGeom>
          <a:solidFill>
            <a:srgbClr val="8B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2788920" y="4526280"/>
            <a:ext cx="310896" cy="310896"/>
          </a:xfrm>
          <a:prstGeom prst="ellipse">
            <a:avLst/>
          </a:prstGeom>
          <a:solidFill>
            <a:srgbClr val="8B92A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54680" y="449884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8B92A6"/>
                </a:solidFill>
                <a:latin typeface="Arial"/>
              </a:rPr>
              <a:t>classificados</a:t>
            </a:r>
          </a:p>
        </p:txBody>
      </p:sp>
      <p:sp>
        <p:nvSpPr>
          <p:cNvPr id="18" name="Oval 17"/>
          <p:cNvSpPr/>
          <p:nvPr/>
        </p:nvSpPr>
        <p:spPr>
          <a:xfrm>
            <a:off x="1417320" y="2606040"/>
            <a:ext cx="310896" cy="310896"/>
          </a:xfrm>
          <a:prstGeom prst="ellipse">
            <a:avLst/>
          </a:prstGeom>
          <a:solidFill>
            <a:srgbClr val="8B92A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783080" y="257860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8B92A6"/>
                </a:solidFill>
                <a:latin typeface="Arial"/>
              </a:rPr>
              <a:t>lojas próprias</a:t>
            </a:r>
          </a:p>
        </p:txBody>
      </p:sp>
      <p:sp>
        <p:nvSpPr>
          <p:cNvPr id="20" name="Oval 19"/>
          <p:cNvSpPr/>
          <p:nvPr/>
        </p:nvSpPr>
        <p:spPr>
          <a:xfrm>
            <a:off x="5074920" y="3886200"/>
            <a:ext cx="310896" cy="310896"/>
          </a:xfrm>
          <a:prstGeom prst="ellipse">
            <a:avLst/>
          </a:prstGeom>
          <a:solidFill>
            <a:srgbClr val="8B92A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40680" y="38587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8B92A6"/>
                </a:solidFill>
                <a:latin typeface="Arial"/>
              </a:rPr>
              <a:t>marketplaces genéricos</a:t>
            </a:r>
          </a:p>
        </p:txBody>
      </p:sp>
      <p:sp>
        <p:nvSpPr>
          <p:cNvPr id="22" name="Oval 21"/>
          <p:cNvSpPr/>
          <p:nvPr/>
        </p:nvSpPr>
        <p:spPr>
          <a:xfrm>
            <a:off x="6675120" y="2487168"/>
            <a:ext cx="274320" cy="274320"/>
          </a:xfrm>
          <a:prstGeom prst="ellipse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6419088" y="2231136"/>
            <a:ext cx="786384" cy="786384"/>
          </a:xfrm>
          <a:prstGeom prst="ellipse">
            <a:avLst/>
          </a:prstGeom>
          <a:noFill/>
          <a:ln w="19050">
            <a:solidFill>
              <a:srgbClr val="F26D7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144768" y="1956816"/>
            <a:ext cx="1335024" cy="1335024"/>
          </a:xfrm>
          <a:prstGeom prst="ellipse">
            <a:avLst/>
          </a:prstGeom>
          <a:noFill/>
          <a:ln w="15240">
            <a:solidFill>
              <a:srgbClr val="F26D76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89320" y="157276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26" name="Oval 25"/>
          <p:cNvSpPr/>
          <p:nvPr/>
        </p:nvSpPr>
        <p:spPr>
          <a:xfrm>
            <a:off x="8549640" y="2304288"/>
            <a:ext cx="109728" cy="109728"/>
          </a:xfrm>
          <a:prstGeom prst="ellipse">
            <a:avLst/>
          </a:prstGeom>
          <a:solidFill>
            <a:srgbClr val="8B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796528" y="2212848"/>
            <a:ext cx="267004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55D73"/>
                </a:solidFill>
                <a:latin typeface="Arial"/>
              </a:rPr>
              <a:t>Marketplaces genéricos têm alcance, mas não verificam quem vende.</a:t>
            </a:r>
          </a:p>
        </p:txBody>
      </p:sp>
      <p:sp>
        <p:nvSpPr>
          <p:cNvPr id="28" name="Oval 27"/>
          <p:cNvSpPr/>
          <p:nvPr/>
        </p:nvSpPr>
        <p:spPr>
          <a:xfrm>
            <a:off x="8549640" y="3474720"/>
            <a:ext cx="109728" cy="109728"/>
          </a:xfrm>
          <a:prstGeom prst="ellipse">
            <a:avLst/>
          </a:prstGeom>
          <a:solidFill>
            <a:srgbClr val="8B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796528" y="3383280"/>
            <a:ext cx="267004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55D73"/>
                </a:solidFill>
                <a:latin typeface="Arial"/>
              </a:rPr>
              <a:t>Lojas próprias têm confiança, mas não têm tráfego de atleta.</a:t>
            </a:r>
          </a:p>
        </p:txBody>
      </p:sp>
      <p:sp>
        <p:nvSpPr>
          <p:cNvPr id="30" name="Oval 29"/>
          <p:cNvSpPr/>
          <p:nvPr/>
        </p:nvSpPr>
        <p:spPr>
          <a:xfrm>
            <a:off x="8549640" y="4645152"/>
            <a:ext cx="109728" cy="109728"/>
          </a:xfrm>
          <a:prstGeom prst="ellipse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796528" y="4553712"/>
            <a:ext cx="267004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2E3447"/>
                </a:solidFill>
                <a:latin typeface="Arial"/>
              </a:rPr>
              <a:t>CoreMotion junta os dois — e ainda segura o dinheiro.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10 / 15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Rectangle 170"/>
          <p:cNvSpPr/>
          <p:nvPr/>
        </p:nvSpPr>
        <p:spPr>
          <a:xfrm>
            <a:off x="566928" y="6510528"/>
            <a:ext cx="7376160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24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28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32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36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40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44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48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42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42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46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46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52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0" dur="450" fill="hold"/>
                                        <p:tgtEl>
                                          <p:spTgt spid="16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61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6" dur="450" fill="hold"/>
                                        <p:tgtEl>
                                          <p:spTgt spid="18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70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2" dur="450" fill="hold"/>
                                        <p:tgtEl>
                                          <p:spTgt spid="20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56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65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74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90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3" dur="700" fill="hold"/>
                                        <p:tgtEl>
                                          <p:spTgt spid="24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960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9" dur="600" fill="hold"/>
                                        <p:tgtEl>
                                          <p:spTgt spid="23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102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5" dur="500" fill="hold"/>
                                        <p:tgtEl>
                                          <p:spTgt spid="2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1100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1160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1250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1340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8" dur="5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1430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4" dur="5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1520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0" dur="5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1610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Do MVP à escala.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01368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D73"/>
                </a:solidFill>
                <a:latin typeface="Arial"/>
              </a:rPr>
              <a:t>Quatro fases, cada uma com uma pergunta a responder.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749040"/>
            <a:ext cx="2011680" cy="1874519"/>
          </a:xfrm>
          <a:prstGeom prst="roundRect">
            <a:avLst>
              <a:gd name="adj" fmla="val 7000"/>
            </a:avLst>
          </a:prstGeom>
          <a:solidFill>
            <a:srgbClr val="FF9AA2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24128" y="3968496"/>
            <a:ext cx="1600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200">
                <a:solidFill>
                  <a:srgbClr val="2E3447"/>
                </a:solidFill>
                <a:latin typeface="Arial"/>
              </a:rPr>
              <a:t>AGORA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4261104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55D73"/>
                </a:solidFill>
                <a:latin typeface="Arial"/>
              </a:rPr>
              <a:t>Fase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553712"/>
            <a:ext cx="1627632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55D73"/>
                </a:solidFill>
                <a:latin typeface="Arial"/>
              </a:rPr>
              <a:t>MVP: catálogo, verificação manual e custódia.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1296" y="3227832"/>
            <a:ext cx="2011680" cy="2395728"/>
          </a:xfrm>
          <a:prstGeom prst="roundRect">
            <a:avLst>
              <a:gd name="adj" fmla="val 7000"/>
            </a:avLst>
          </a:prstGeom>
          <a:solidFill>
            <a:srgbClr val="FFE2A8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712463" y="3447288"/>
            <a:ext cx="1600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200">
                <a:solidFill>
                  <a:srgbClr val="2E3447"/>
                </a:solidFill>
                <a:latin typeface="Arial"/>
              </a:rPr>
              <a:t>PRÓXIMO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12463" y="3739896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55D73"/>
                </a:solidFill>
                <a:latin typeface="Arial"/>
              </a:rPr>
              <a:t>Fase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2463" y="4032504"/>
            <a:ext cx="1627632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55D73"/>
                </a:solidFill>
                <a:latin typeface="Arial"/>
              </a:rPr>
              <a:t>Checkout completo, reputação e painel da loja.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2770632"/>
            <a:ext cx="2011680" cy="2852928"/>
          </a:xfrm>
          <a:prstGeom prst="roundRect">
            <a:avLst>
              <a:gd name="adj" fmla="val 7000"/>
            </a:avLst>
          </a:prstGeom>
          <a:solidFill>
            <a:srgbClr val="B5EAD7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0" y="2990088"/>
            <a:ext cx="1600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200">
                <a:solidFill>
                  <a:srgbClr val="2E3447"/>
                </a:solidFill>
                <a:latin typeface="Arial"/>
              </a:rPr>
              <a:t>DEPOIS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282696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55D73"/>
                </a:solidFill>
                <a:latin typeface="Arial"/>
              </a:rPr>
              <a:t>Fase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575304"/>
            <a:ext cx="1627632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55D73"/>
                </a:solidFill>
                <a:latin typeface="Arial"/>
              </a:rPr>
              <a:t>App do atleta, disputas e logística parceira.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87968" y="2331720"/>
            <a:ext cx="2011680" cy="3291840"/>
          </a:xfrm>
          <a:prstGeom prst="roundRect">
            <a:avLst>
              <a:gd name="adj" fmla="val 7000"/>
            </a:avLst>
          </a:prstGeom>
          <a:solidFill>
            <a:srgbClr val="C7CEEA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89136" y="2551176"/>
            <a:ext cx="1600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200">
                <a:solidFill>
                  <a:srgbClr val="2E3447"/>
                </a:solidFill>
                <a:latin typeface="Arial"/>
              </a:rPr>
              <a:t>ESCALA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9136" y="2843784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55D73"/>
                </a:solidFill>
                <a:latin typeface="Arial"/>
              </a:rPr>
              <a:t>Fase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9136" y="3136392"/>
            <a:ext cx="1627632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55D73"/>
                </a:solidFill>
                <a:latin typeface="Arial"/>
              </a:rPr>
              <a:t>Expansão regional e serviços esportivos.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623560"/>
            <a:ext cx="10515600" cy="18288"/>
          </a:xfrm>
          <a:prstGeom prst="rect">
            <a:avLst/>
          </a:prstGeom>
          <a:solidFill>
            <a:srgbClr val="2E3447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Rounded Rectangle 105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11 / 15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ectangle 109"/>
          <p:cNvSpPr/>
          <p:nvPr/>
        </p:nvSpPr>
        <p:spPr>
          <a:xfrm>
            <a:off x="566928" y="6510528"/>
            <a:ext cx="8113776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5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38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51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64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77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76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82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88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1000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106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1120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124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130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136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1480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1540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1600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822960" y="5120640"/>
            <a:ext cx="2194560" cy="2194560"/>
          </a:xfrm>
          <a:prstGeom prst="ellipse">
            <a:avLst/>
          </a:prstGeom>
          <a:solidFill>
            <a:srgbClr val="C7CEE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ONDE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O que já existe, de verdade.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32461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097280" y="2395728"/>
            <a:ext cx="603504" cy="603504"/>
          </a:xfrm>
          <a:prstGeom prst="ellipse">
            <a:avLst/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234440" y="2532888"/>
            <a:ext cx="329184" cy="329184"/>
          </a:xfrm>
          <a:prstGeom prst="ellipse">
            <a:avLst/>
          </a:prstGeom>
          <a:solidFill>
            <a:srgbClr val="2E3447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828800" y="2487168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3447"/>
                </a:solidFill>
                <a:latin typeface="Arial"/>
              </a:rPr>
              <a:t>Produto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18688"/>
            <a:ext cx="269748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D73"/>
                </a:solidFill>
                <a:latin typeface="Arial"/>
              </a:rPr>
              <a:t>Fluxos de catálogo, loja e checkout desenhados; identidade visual e telas definidas.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2148840"/>
            <a:ext cx="32461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99432" y="2395728"/>
            <a:ext cx="603504" cy="603504"/>
          </a:xfrm>
          <a:prstGeom prst="ellipse">
            <a:avLst/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Hexagon 11"/>
          <p:cNvSpPr/>
          <p:nvPr/>
        </p:nvSpPr>
        <p:spPr>
          <a:xfrm>
            <a:off x="4736592" y="2532888"/>
            <a:ext cx="329184" cy="329184"/>
          </a:xfrm>
          <a:prstGeom prst="hexagon">
            <a:avLst/>
          </a:prstGeom>
          <a:solidFill>
            <a:srgbClr val="2E3447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30952" y="2487168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3447"/>
                </a:solidFill>
                <a:latin typeface="Arial"/>
              </a:rPr>
              <a:t>Técnica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3218688"/>
            <a:ext cx="269748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D73"/>
                </a:solidFill>
                <a:latin typeface="Arial"/>
              </a:rPr>
              <a:t>Next.js 15 + TypeScript + Supabase. Build e type-check passando no repositório.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27264" y="2148840"/>
            <a:ext cx="32461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101584" y="2395728"/>
            <a:ext cx="603504" cy="603504"/>
          </a:xfrm>
          <a:prstGeom prst="ellipse">
            <a:avLst/>
          </a:prstGeom>
          <a:solidFill>
            <a:srgbClr val="C7C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Diamond 16"/>
          <p:cNvSpPr/>
          <p:nvPr/>
        </p:nvSpPr>
        <p:spPr>
          <a:xfrm>
            <a:off x="8238744" y="2532888"/>
            <a:ext cx="329184" cy="329184"/>
          </a:xfrm>
          <a:prstGeom prst="diamond">
            <a:avLst/>
          </a:prstGeom>
          <a:solidFill>
            <a:srgbClr val="2E3447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833104" y="2487168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3447"/>
                </a:solidFill>
                <a:latin typeface="Arial"/>
              </a:rPr>
              <a:t>Operação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1584" y="3218688"/>
            <a:ext cx="269748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D73"/>
                </a:solidFill>
                <a:latin typeface="Arial"/>
              </a:rPr>
              <a:t>Quatro frentes independentes, com contratos de integração escritos.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736592"/>
            <a:ext cx="10543032" cy="1234440"/>
          </a:xfrm>
          <a:prstGeom prst="roundRect">
            <a:avLst>
              <a:gd name="adj" fmla="val 14000"/>
            </a:avLst>
          </a:prstGeom>
          <a:solidFill>
            <a:srgbClr val="2E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143000" y="4919472"/>
            <a:ext cx="992124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Ainda sem tração medida. O que existe é base técnica, produto desenhado e plano de execução — e é exatamente isso que queremos validar com você.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12 / 15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ectangle 125"/>
          <p:cNvSpPr/>
          <p:nvPr/>
        </p:nvSpPr>
        <p:spPr>
          <a:xfrm>
            <a:off x="566928" y="6510528"/>
            <a:ext cx="8851392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1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0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6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2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8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4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0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6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8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84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90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6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102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108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14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85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6" dur="600" fill="hold"/>
                                        <p:tgtEl>
                                          <p:spTgt spid="20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95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QUEM EXECUTA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Quatro frentes, uma entrega.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01368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D73"/>
                </a:solidFill>
                <a:latin typeface="Arial"/>
              </a:rPr>
              <a:t>Cada frente responde pelo próprio estado, sem esperar liberação.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76272"/>
            <a:ext cx="2450592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097280" y="2432304"/>
            <a:ext cx="841248" cy="841248"/>
          </a:xfrm>
          <a:prstGeom prst="ellipse">
            <a:avLst/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97280" y="2432304"/>
            <a:ext cx="841248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3447"/>
                </a:solidFill>
                <a:latin typeface="Arial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456432"/>
            <a:ext cx="1920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3447"/>
                </a:solidFill>
                <a:latin typeface="Arial"/>
              </a:rPr>
              <a:t>Identidade &amp; acesso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096512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55D73"/>
                </a:solidFill>
                <a:latin typeface="Arial"/>
              </a:rPr>
              <a:t>Sessão, papéis, permissões e painel administrativo.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1296" y="2176272"/>
            <a:ext cx="2450592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85615" y="2432304"/>
            <a:ext cx="841248" cy="841248"/>
          </a:xfrm>
          <a:prstGeom prst="ellipse">
            <a:avLst/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85615" y="2432304"/>
            <a:ext cx="841248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3447"/>
                </a:solidFill>
                <a:latin typeface="Arial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5615" y="3456432"/>
            <a:ext cx="1920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3447"/>
                </a:solidFill>
                <a:latin typeface="Arial"/>
              </a:rPr>
              <a:t>Catálogo &amp; negócio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5615" y="4096512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55D73"/>
                </a:solidFill>
                <a:latin typeface="Arial"/>
              </a:rPr>
              <a:t>Lojas, produtos, checkout e regras de comissão.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2176272"/>
            <a:ext cx="2450592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473952" y="2432304"/>
            <a:ext cx="841248" cy="841248"/>
          </a:xfrm>
          <a:prstGeom prst="ellipse">
            <a:avLst/>
          </a:prstGeom>
          <a:solidFill>
            <a:srgbClr val="FFE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73952" y="2432304"/>
            <a:ext cx="841248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3447"/>
                </a:solidFill>
                <a:latin typeface="Arial"/>
              </a:rPr>
              <a:t>P3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3456432"/>
            <a:ext cx="1920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3447"/>
                </a:solidFill>
                <a:latin typeface="Arial"/>
              </a:rPr>
              <a:t>Documento &amp; diagramas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096512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55D73"/>
                </a:solidFill>
                <a:latin typeface="Arial"/>
              </a:rPr>
              <a:t>Requisitos, arquitetura e material de apresentação.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87968" y="2176272"/>
            <a:ext cx="2450592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162288" y="2432304"/>
            <a:ext cx="841248" cy="841248"/>
          </a:xfrm>
          <a:prstGeom prst="ellipse">
            <a:avLst/>
          </a:prstGeom>
          <a:solidFill>
            <a:srgbClr val="C7C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62288" y="2432304"/>
            <a:ext cx="841248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3447"/>
                </a:solidFill>
                <a:latin typeface="Arial"/>
              </a:rPr>
              <a:t>P4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2288" y="3456432"/>
            <a:ext cx="1920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3447"/>
                </a:solidFill>
                <a:latin typeface="Arial"/>
              </a:rPr>
              <a:t>Verificação &amp; entrega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2288" y="4096512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55D73"/>
                </a:solidFill>
                <a:latin typeface="Arial"/>
              </a:rPr>
              <a:t>Ambiente de testes, QA e critérios de aceite.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 i="1">
                <a:solidFill>
                  <a:srgbClr val="8B92A6"/>
                </a:solidFill>
                <a:latin typeface="Arial"/>
              </a:rPr>
              <a:t>Nomes e mini-bios entram na versão final deste slide.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13 / 15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Rectangle 149"/>
          <p:cNvSpPr/>
          <p:nvPr/>
        </p:nvSpPr>
        <p:spPr>
          <a:xfrm>
            <a:off x="566928" y="6510528"/>
            <a:ext cx="9589008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0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6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2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8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4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0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6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8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84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90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6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102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108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14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20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26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32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138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1440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98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81360" y="-914400"/>
            <a:ext cx="2468880" cy="2468880"/>
          </a:xfrm>
          <a:prstGeom prst="ellipse">
            <a:avLst/>
          </a:prstGeom>
          <a:solidFill>
            <a:srgbClr val="FF9AA2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-914400" y="5394960"/>
            <a:ext cx="2011680" cy="2011680"/>
          </a:xfrm>
          <a:prstGeom prst="ellipse">
            <a:avLst/>
          </a:prstGeom>
          <a:solidFill>
            <a:srgbClr val="B5EAD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O PEDIDO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O que precisamos para os próximos 90 dias.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12848"/>
            <a:ext cx="324612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22960" y="2212848"/>
            <a:ext cx="3246120" cy="128016"/>
          </a:xfrm>
          <a:prstGeom prst="roundRect">
            <a:avLst>
              <a:gd name="adj" fmla="val 30000"/>
            </a:avLst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15568" y="2487168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 i="0" spc="200">
                <a:solidFill>
                  <a:srgbClr val="8B92A6"/>
                </a:solidFill>
                <a:latin typeface="Arial"/>
              </a:rPr>
              <a:t>REDE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74320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E3447"/>
                </a:solidFill>
                <a:latin typeface="Arial"/>
              </a:rPr>
              <a:t>Piloto com 5 lojas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310128"/>
            <a:ext cx="2651760" cy="1234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D73"/>
                </a:solidFill>
                <a:latin typeface="Arial"/>
              </a:rPr>
              <a:t>Acesso a lojas esportivas para validar verificação e custódia com vendas reais.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2212848"/>
            <a:ext cx="324612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325112" y="2212848"/>
            <a:ext cx="3246120" cy="128016"/>
          </a:xfrm>
          <a:prstGeom prst="roundRect">
            <a:avLst>
              <a:gd name="adj" fmla="val 30000"/>
            </a:avLst>
          </a:prstGeom>
          <a:solidFill>
            <a:srgbClr val="FFE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17720" y="2487168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 i="0" spc="200">
                <a:solidFill>
                  <a:srgbClr val="8B92A6"/>
                </a:solidFill>
                <a:latin typeface="Arial"/>
              </a:rPr>
              <a:t>INVESTIMENTO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74320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E3447"/>
                </a:solidFill>
                <a:latin typeface="Arial"/>
              </a:rPr>
              <a:t>R$ 300 mil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310128"/>
            <a:ext cx="2651760" cy="1234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D73"/>
                </a:solidFill>
                <a:latin typeface="Arial"/>
              </a:rPr>
              <a:t>Produto, operação e marketing do piloto. Ajuste o valor ao seu plano.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27264" y="2212848"/>
            <a:ext cx="324612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7827264" y="2212848"/>
            <a:ext cx="3246120" cy="128016"/>
          </a:xfrm>
          <a:prstGeom prst="roundRect">
            <a:avLst>
              <a:gd name="adj" fmla="val 30000"/>
            </a:avLst>
          </a:prstGeom>
          <a:solidFill>
            <a:srgbClr val="C7C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19872" y="2487168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 i="0" spc="200">
                <a:solidFill>
                  <a:srgbClr val="8B92A6"/>
                </a:solidFill>
                <a:latin typeface="Arial"/>
              </a:rPr>
              <a:t>MENTORIA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9872" y="274320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E3447"/>
                </a:solidFill>
                <a:latin typeface="Arial"/>
              </a:rPr>
              <a:t>Dois conselheiros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9872" y="3310128"/>
            <a:ext cx="2651760" cy="1234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D73"/>
                </a:solidFill>
                <a:latin typeface="Arial"/>
              </a:rPr>
              <a:t>Marketplace e operação de pagamentos, com uma conversa por mês.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138928"/>
            <a:ext cx="10543032" cy="841248"/>
          </a:xfrm>
          <a:prstGeom prst="roundRect">
            <a:avLst>
              <a:gd name="adj" fmla="val 20000"/>
            </a:avLst>
          </a:prstGeom>
          <a:solidFill>
            <a:srgbClr val="2E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43000" y="5138928"/>
            <a:ext cx="996696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80">
                <a:solidFill>
                  <a:srgbClr val="FFFFFF"/>
                </a:solidFill>
                <a:latin typeface="Arial"/>
              </a:rPr>
              <a:t>META DO PILOTO   ·   5 lojas   ·   300 pedidos   ·   100% com custódia   ·   90 dias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14 / 15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ectangle 131"/>
          <p:cNvSpPr/>
          <p:nvPr/>
        </p:nvSpPr>
        <p:spPr>
          <a:xfrm>
            <a:off x="566928" y="6510528"/>
            <a:ext cx="10326624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700" fill="hold"/>
                                        <p:tgtEl>
                                          <p:spTgt spid="3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16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0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36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2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48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54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0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66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2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78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84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0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96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102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08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14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90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2" dur="600" fill="hold"/>
                                        <p:tgtEl>
                                          <p:spTgt spid="21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00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138160" y="-1737360"/>
            <a:ext cx="5669280" cy="5669280"/>
          </a:xfrm>
          <a:prstGeom prst="ellipse">
            <a:avLst/>
          </a:prstGeom>
          <a:solidFill>
            <a:srgbClr val="FF9AA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646920" y="2468880"/>
            <a:ext cx="3291840" cy="3291840"/>
          </a:xfrm>
          <a:prstGeom prst="ellipse">
            <a:avLst/>
          </a:prstGeom>
          <a:solidFill>
            <a:srgbClr val="B5EAD7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7269480" y="4160520"/>
            <a:ext cx="2377440" cy="2377440"/>
          </a:xfrm>
          <a:prstGeom prst="ellipse">
            <a:avLst/>
          </a:prstGeom>
          <a:noFill/>
          <a:ln w="25400">
            <a:solidFill>
              <a:srgbClr val="FFE2A8">
                <a:alpha val="8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sosceles Triangle 4"/>
          <p:cNvSpPr/>
          <p:nvPr/>
        </p:nvSpPr>
        <p:spPr>
          <a:xfrm rot="1080000">
            <a:off x="10378440" y="4892040"/>
            <a:ext cx="1051560" cy="1051560"/>
          </a:xfrm>
          <a:prstGeom prst="triangle">
            <a:avLst/>
          </a:prstGeom>
          <a:solidFill>
            <a:srgbClr val="FFE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778240" y="411480"/>
            <a:ext cx="256032" cy="256032"/>
          </a:xfrm>
          <a:prstGeom prst="ellipse">
            <a:avLst/>
          </a:prstGeom>
          <a:solidFill>
            <a:srgbClr val="FFFFF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1292840" y="1920240"/>
            <a:ext cx="146304" cy="146304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29844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FFE2A8"/>
                </a:solidFill>
                <a:latin typeface="Arial"/>
              </a:rPr>
              <a:t>COREMOTION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55648"/>
            <a:ext cx="694944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0" b="1" i="0" spc="-180">
                <a:solidFill>
                  <a:srgbClr val="FFFFFF"/>
                </a:solidFill>
                <a:latin typeface="Arial"/>
              </a:rPr>
              <a:t>Obrigado.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585216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8E2DC"/>
                </a:solidFill>
                <a:latin typeface="Arial"/>
              </a:rPr>
              <a:t>Vamos construir o ponto de encontro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8E2DC"/>
                </a:solidFill>
                <a:latin typeface="Arial"/>
              </a:rPr>
              <a:t>do esporte de alta performance?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4315968"/>
            <a:ext cx="1280160" cy="45720"/>
          </a:xfrm>
          <a:prstGeom prst="roundRect">
            <a:avLst>
              <a:gd name="adj" fmla="val 5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4553712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60">
                <a:solidFill>
                  <a:srgbClr val="C9C2BA"/>
                </a:solidFill>
                <a:latin typeface="Arial"/>
              </a:rPr>
              <a:t>[seu@email.com]   ·   [telefone]   ·   [site]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948E"/>
                </a:solidFill>
                <a:latin typeface="Arial"/>
              </a:rPr>
              <a:t>Obrigado pela leitura. Perguntas, agora.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FFFFFF"/>
                </a:solidFill>
                <a:latin typeface="Arial"/>
              </a:rPr>
              <a:t>COREMOTION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C9C3BB"/>
                </a:solidFill>
                <a:latin typeface="Arial"/>
              </a:rPr>
              <a:t>15 / 15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4A5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900" fill="hold"/>
                                        <p:tgtEl>
                                          <p:spTgt spid="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0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900" fill="hold"/>
                                        <p:tgtEl>
                                          <p:spTgt spid="3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900" fill="hold"/>
                                        <p:tgtEl>
                                          <p:spTgt spid="4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0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900" fill="hold"/>
                                        <p:tgtEl>
                                          <p:spTgt spid="5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0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900" fill="hold"/>
                                        <p:tgtEl>
                                          <p:spTgt spid="6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0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900" fill="hold"/>
                                        <p:tgtEl>
                                          <p:spTgt spid="7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10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18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42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62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780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90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CoreMotion — Pitch para banca</dc:title>
  <dc:subject>Marketplace esportivo de alta performance</dc:subject>
  <dc:creator>CoreMotion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