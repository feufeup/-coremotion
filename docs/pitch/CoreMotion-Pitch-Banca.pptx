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(30s).</a:t>
            </a:r>
          </a:p>
          <a:p>
            <a:r>
              <a:t>• Meu nome é [nome] e o CoreMotion é um marketplace esportivo com lojas verificadas, venda entre atletas e custódia financeira.</a:t>
            </a:r>
          </a:p>
          <a:p>
            <a:r>
              <a:t>• A frase-guia: comprar esporte hoje é um ato de fé; o produto transforma confiança em fluxo.</a:t>
            </a:r>
          </a:p>
          <a:p>
            <a:r>
              <a:t>• Prometer 15 minutos e seguir 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(45s).</a:t>
            </a:r>
          </a:p>
          <a:p>
            <a:r>
              <a:t>• Quatro blocos. O primeiro é o mais importante: o problema.</a:t>
            </a:r>
          </a:p>
          <a:p>
            <a:r>
              <a:t>• Se o tempo apertar, cortamos o bloco 3 e mantemos problema, solução 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(2min).</a:t>
            </a:r>
          </a:p>
          <a:p>
            <a:r>
              <a:t>• Conte um caso concreto de compra frustrada, se tiver.</a:t>
            </a:r>
          </a:p>
          <a:p>
            <a:r>
              <a:t>• As três dores: falsificação, dinheiro exposto, atleta sem canal.</a:t>
            </a:r>
          </a:p>
          <a:p>
            <a:r>
              <a:t>• Fechamento: o problema não é oferta, é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AGORA (1min30).</a:t>
            </a:r>
          </a:p>
          <a:p>
            <a:r>
              <a:t>• Três mudanças estruturais — não é tendência passageira.</a:t>
            </a:r>
          </a:p>
          <a:p>
            <a:r>
              <a:t>• Se perguntarem de dados: o deck evita número de mercado sem fonte; ofereça o recorte do seu nicho.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(2min).</a:t>
            </a:r>
          </a:p>
          <a:p>
            <a:r>
              <a:t>• Uma plataforma, uma conta, um checkout.</a:t>
            </a:r>
          </a:p>
          <a:p>
            <a:r>
              <a:t>• A ordem importa: verificação cria confiança; C2C cria giro; custódia protege o dinheiro.</a:t>
            </a:r>
          </a:p>
          <a:p>
            <a:r>
              <a:t>• Não venda como 'mais um marketplace'. É infraestrutura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FUNCIONA (2min).</a:t>
            </a:r>
          </a:p>
          <a:p>
            <a:r>
              <a:t>• Passo 4 é o argumento comercial: o vendedor recebe sem risco de calote e o comprador recebe antes de o dinheiro sair de fato.</a:t>
            </a:r>
          </a:p>
          <a:p>
            <a:r>
              <a:t>• A custódia é o que permite vender C2C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PRODUTO (1min30).</a:t>
            </a:r>
          </a:p>
          <a:p>
            <a:r>
              <a:t>• As telas são wireframes: o objetivo é mostrar a lógica, não o visual final.</a:t>
            </a:r>
          </a:p>
          <a:p>
            <a:r>
              <a:t>• Destaque a tela de custódia: status do dinheiro e do envio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DIFERENCIAL (1min30).</a:t>
            </a:r>
          </a:p>
          <a:p>
            <a:r>
              <a:t>• A frase-chave: confiança não é selo, é fluxo de dinheiro e de informação.</a:t>
            </a:r>
          </a:p>
          <a:p>
            <a:r>
              <a:t>• Verificação sem custódia não protege o pagamento; custódia sem verificação não protege o produto.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(1min30).</a:t>
            </a:r>
          </a:p>
          <a:p>
            <a:r>
              <a:t>• Receita principal é comissão; assinatura de loja e serviços são alavancas.</a:t>
            </a:r>
          </a:p>
          <a:p>
            <a:r>
              <a:t>• Os números do rodapé são exemplo — troque pelos seus antes da banca.</a:t>
            </a:r>
          </a:p>
          <a:p>
            <a:r>
              <a:t>• Se perguntarem de margem: custo dominante é pagamento + suporte de disputa.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POSICIONAMENTO (1min).</a:t>
            </a:r>
          </a:p>
          <a:p>
            <a:r>
              <a:t>• O eixo vertical é confiança; o horizontal é alcance.</a:t>
            </a:r>
          </a:p>
          <a:p>
            <a:r>
              <a:t>• O quadrante superior direito está vazio — é onde o CoreMotion quer estar.</a:t>
            </a:r>
          </a:p>
          <a:p>
            <a:r>
              <a:t>• Não citar concorrentes por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(1min).</a:t>
            </a:r>
          </a:p>
          <a:p>
            <a:r>
              <a:t>• Cada fase responde uma pergunta: dá para vender? dá para confiar? dá para escalar?</a:t>
            </a:r>
          </a:p>
          <a:p>
            <a:r>
              <a:t>• A banca quer saber o que você faz nos próximos 90 dias: foque na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ESTAMOS (1min).</a:t>
            </a:r>
          </a:p>
          <a:p>
            <a:r>
              <a:t>• Seja honesto: ainda não há tração medida.</a:t>
            </a:r>
          </a:p>
          <a:p>
            <a:r>
              <a:t>• O ativo é base técnica, produto desenhado e plano de execução.</a:t>
            </a:r>
          </a:p>
          <a:p>
            <a:r>
              <a:t>• O piloto existe para transformar isso em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(45s).</a:t>
            </a:r>
          </a:p>
          <a:p>
            <a:r>
              <a:t>• Não é 'somos quatro amigos': são quatro responsabilidades com entregáveis.</a:t>
            </a:r>
          </a:p>
          <a:p>
            <a:r>
              <a:t>• Cite rapidamente o que cada um já entregou.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(1min30).</a:t>
            </a:r>
          </a:p>
          <a:p>
            <a:r>
              <a:t>• Seja direto: 5 lojas, investimento e dois conselheiros.</a:t>
            </a:r>
          </a:p>
          <a:p>
            <a:r>
              <a:t>• Ajuste R$ 300 mil ao seu plano antes de apresentar.</a:t>
            </a:r>
          </a:p>
          <a:p>
            <a:r>
              <a:t>• Se a banca não puder investir, peça conexão com uma loja.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 (30s).</a:t>
            </a:r>
          </a:p>
          <a:p>
            <a:r>
              <a:t>• Pare de falar depois do 'obrigado'. Deixe a banca perguntar.</a:t>
            </a:r>
          </a:p>
          <a:p>
            <a:r>
              <a:t>• Tenha à mão: custo de aquisição, plano de 90 dias e a lista de lojas que já disseram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26679" y="1005840"/>
            <a:ext cx="3977639" cy="3977639"/>
          </a:xfrm>
          <a:prstGeom prst="ellipse">
            <a:avLst/>
          </a:prstGeom>
          <a:solidFill>
            <a:srgbClr val="FF3333"/>
          </a:solidFill>
          <a:ln w="38100">
            <a:solidFill>
              <a:srgbClr val="000000"/>
            </a:solidFill>
          </a:ln>
          <a:effectLst>
            <a:outerShdw blurRad="0" dist="12123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 rot="18900000">
            <a:off x="9189720" y="2761488"/>
            <a:ext cx="146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 rot="2700000">
            <a:off x="9509760" y="2377440"/>
            <a:ext cx="146304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 rot="720000">
            <a:off x="10625328" y="4315968"/>
            <a:ext cx="1170432" cy="1170432"/>
          </a:xfrm>
          <a:prstGeom prst="rect">
            <a:avLst/>
          </a:prstGeom>
          <a:solidFill>
            <a:srgbClr val="0066FF"/>
          </a:solidFill>
          <a:ln w="3175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Isosceles Triangle 5"/>
          <p:cNvSpPr/>
          <p:nvPr/>
        </p:nvSpPr>
        <p:spPr>
          <a:xfrm>
            <a:off x="6967728" y="4315968"/>
            <a:ext cx="1078992" cy="932688"/>
          </a:xfrm>
          <a:prstGeom prst="triangle">
            <a:avLst/>
          </a:prstGeom>
          <a:solidFill>
            <a:srgbClr val="FFFF00"/>
          </a:solidFill>
          <a:ln w="3175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485632" y="5650992"/>
            <a:ext cx="475488" cy="47548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8-Point Star 7"/>
          <p:cNvSpPr/>
          <p:nvPr/>
        </p:nvSpPr>
        <p:spPr>
          <a:xfrm>
            <a:off x="11228832" y="932688"/>
            <a:ext cx="786384" cy="786384"/>
          </a:xfrm>
          <a:prstGeom prst="star8">
            <a:avLst/>
          </a:prstGeom>
          <a:solidFill>
            <a:srgbClr val="CC00CC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345168" y="1225296"/>
            <a:ext cx="210312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91472" y="1357884"/>
            <a:ext cx="82296" cy="82296"/>
          </a:xfrm>
          <a:prstGeom prst="ellipse">
            <a:avLst/>
          </a:prstGeom>
          <a:solidFill>
            <a:srgbClr val="00CC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46920" y="1225296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000000"/>
                </a:solidFill>
                <a:latin typeface="Space Mono"/>
              </a:rPr>
              <a:t>LOJAS VERIFICADAS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3163824"/>
            <a:ext cx="1481328" cy="347472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03720" y="3163824"/>
            <a:ext cx="1481328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FFFFFF"/>
                </a:solidFill>
                <a:latin typeface="Space Mono"/>
              </a:rPr>
              <a:t>CUSTÓDIA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8752" y="3822191"/>
            <a:ext cx="777240" cy="347472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88752" y="3822191"/>
            <a:ext cx="77724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000000"/>
                </a:solidFill>
                <a:latin typeface="Space Mono"/>
              </a:rPr>
              <a:t>C2C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1481328"/>
            <a:ext cx="2331720" cy="365760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1481328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000000"/>
                </a:solidFill>
                <a:latin typeface="Space Mono"/>
              </a:rPr>
              <a:t>PITCH · BANCA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1956816"/>
            <a:ext cx="64008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 spc="-260">
                <a:solidFill>
                  <a:srgbClr val="000000"/>
                </a:solidFill>
                <a:latin typeface="DM Sans"/>
              </a:rPr>
              <a:t>CoreMotion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054096"/>
            <a:ext cx="1691640" cy="100584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3346704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-40">
                <a:solidFill>
                  <a:srgbClr val="000000"/>
                </a:solidFill>
                <a:latin typeface="DM Sans"/>
              </a:rPr>
              <a:t>O ponto de encontro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40">
                <a:solidFill>
                  <a:srgbClr val="000000"/>
                </a:solidFill>
                <a:latin typeface="DM Sans"/>
              </a:rPr>
              <a:t>do esporte de alta performance.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700016"/>
            <a:ext cx="61264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333333"/>
                </a:solidFill>
                <a:latin typeface="Space Mono"/>
              </a:rPr>
              <a:t>MARKETPLACE · LOJAS VERIFICADAS · CUSTÓDIA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5760720"/>
            <a:ext cx="5989320" cy="45720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96112" y="5760720"/>
            <a:ext cx="5669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FFFFFF"/>
                </a:solidFill>
                <a:latin typeface="Space Mono"/>
              </a:rPr>
              <a:t>APRESENTADO POR [SEU NOME] · [CIDADE], 2026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CAPA   ·   01/15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1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65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5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65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65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650" fill="hold"/>
                                        <p:tgtEl>
                                          <p:spTgt spid="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26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3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4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1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42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48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700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800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90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33"/>
                </a:solidFill>
                <a:latin typeface="Space Mono"/>
              </a:rPr>
              <a:t>//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FFFFFF"/>
                </a:solidFill>
                <a:latin typeface="DM Sans"/>
              </a:rPr>
              <a:t>O caminho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956816"/>
            <a:ext cx="76809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CCCCCC"/>
                </a:solidFill>
                <a:latin typeface="DM Sans"/>
              </a:rPr>
              <a:t>Quinze minutos, quatro blocos. Sem slide de história da empresa.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286000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2523744"/>
            <a:ext cx="68580" cy="45720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459736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FF3333"/>
                </a:solidFill>
                <a:latin typeface="Space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5104" y="244144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O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496312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Por que comprar e vender esporte ainda é inseguro.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10991088" y="2606040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13232" y="3255264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13232" y="3493008"/>
            <a:ext cx="68580" cy="45720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" y="3429000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FFFF00"/>
                </a:solidFill>
                <a:latin typeface="Space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341071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A solução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3465576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As três camadas que fazem o CoreMotion funcionar.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10991088" y="3575304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13232" y="4224528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13232" y="4462272"/>
            <a:ext cx="68580" cy="4572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98264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0066FF"/>
                </a:solidFill>
                <a:latin typeface="Space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37997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O negócio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4434840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Como a plataforma ganha dinheiro e escala.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10991088" y="4544568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13232" y="5193792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431536"/>
            <a:ext cx="68580" cy="457200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67528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00CC00"/>
                </a:solidFill>
                <a:latin typeface="Space Mono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75104" y="5349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A entrega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404104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Onde estamos e o que precisamos de você.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10991088" y="5513832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13232" y="6163056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3232" y="630936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CCCCCC"/>
                </a:solidFill>
                <a:latin typeface="Space Mono"/>
              </a:rPr>
              <a:t>PITCH PARA BANCA · COREMOTION 2026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AGENDA   ·   02/15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7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7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5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7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7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3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7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47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7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7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5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7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56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7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7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6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7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65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7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0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74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7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79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7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83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7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88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7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925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7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97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7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015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7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106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7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105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4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115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47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1195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47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1240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47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1285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47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3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47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375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47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142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9" dur="47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105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00"/>
                </a:solidFill>
                <a:latin typeface="Space Mono"/>
              </a:rPr>
              <a:t>// 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110">
                <a:solidFill>
                  <a:srgbClr val="FFFFFF"/>
                </a:solidFill>
                <a:latin typeface="DM Sans"/>
              </a:rPr>
              <a:t>Comprar esporte ainda é um ato de fé.</a:t>
            </a:r>
          </a:p>
        </p:txBody>
      </p:sp>
      <p:sp>
        <p:nvSpPr>
          <p:cNvPr id="4" name="Oval 3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noFill/>
          <a:ln w="17780">
            <a:solidFill>
              <a:srgbClr val="E2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213969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60">
                <a:solidFill>
                  <a:srgbClr val="FFFFFF"/>
                </a:solidFill>
                <a:latin typeface="DM Sans"/>
              </a:rPr>
              <a:t>O problema não é oferta. É confiança.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33472"/>
            <a:ext cx="1325880" cy="685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13232" y="3054096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321868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60">
                <a:solidFill>
                  <a:srgbClr val="000000"/>
                </a:solidFill>
                <a:latin typeface="Space Mono"/>
              </a:rPr>
              <a:t>01 · FALSIFICAÇÃO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44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50">
                <a:solidFill>
                  <a:srgbClr val="FFFFFF"/>
                </a:solidFill>
                <a:latin typeface="DM Sans"/>
              </a:rPr>
              <a:t>Falsificação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7822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ECEC"/>
                </a:solidFill>
                <a:latin typeface="DM Sans"/>
              </a:rPr>
              <a:t>Réplica vendida como original. Sem verificação de loja, de catálogo ou de histórico.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054096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89120" y="321868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60">
                <a:solidFill>
                  <a:srgbClr val="000000"/>
                </a:solidFill>
                <a:latin typeface="Space Mono"/>
              </a:rPr>
              <a:t>02 · DINHEIRO EXPOSTO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844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50">
                <a:solidFill>
                  <a:srgbClr val="FFFFFF"/>
                </a:solidFill>
                <a:latin typeface="DM Sans"/>
              </a:rPr>
              <a:t>Dinheiro exposto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07822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ECEC"/>
                </a:solidFill>
                <a:latin typeface="DM Sans"/>
              </a:rPr>
              <a:t>Pix direto para o vendedor: se a peça não chega, o prejuízo inteiro é do atleta.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7" y="3054096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65007" y="321868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60">
                <a:solidFill>
                  <a:srgbClr val="000000"/>
                </a:solidFill>
                <a:latin typeface="Space Mono"/>
              </a:rPr>
              <a:t>03 · ATLETA INVISÍVEL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7" y="35844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50">
                <a:solidFill>
                  <a:srgbClr val="FFFFFF"/>
                </a:solidFill>
                <a:latin typeface="DM Sans"/>
              </a:rPr>
              <a:t>Atleta invisível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7" y="407822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ECEC"/>
                </a:solidFill>
                <a:latin typeface="DM Sans"/>
              </a:rPr>
              <a:t>Quem vende usado não tem canal confiável. Quem procura não sabe em quem confiar.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05856"/>
            <a:ext cx="12191695" cy="1152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59253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 spc="70">
                <a:solidFill>
                  <a:srgbClr val="FFFFFF"/>
                </a:solidFill>
                <a:latin typeface="Space Mono"/>
              </a:rPr>
              <a:t>O ATLETA COMPRA NO ESCURO. A LOJA VENDE SEM ALCANCE. O DINHEIRO FICA NO MEIO.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272784"/>
            <a:ext cx="107899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FFFF00"/>
                </a:solidFill>
                <a:latin typeface="Space Mono"/>
              </a:rPr>
              <a:t>A FÉ NÃO ESCALA — O FLUXO ESCALA.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 PROBLEMA   ·   03/15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5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7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2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34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39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5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50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56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61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67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72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78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83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89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945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04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8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1180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30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POR QUE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Três mudanças abriram essa janela.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O mercado não precisa de mais um catálogo. Precisa de confiança.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87168"/>
            <a:ext cx="548640" cy="548640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4871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246888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esporte virou consumo de identidade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16352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Equipamento deixou de ser acessório: é pertencimento, performance e status.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21024"/>
            <a:ext cx="548640" cy="548640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6210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602736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atleta virou mídia e canal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950208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Comunidades e redes criam demanda qualificada todos os dias, de graça.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754880"/>
            <a:ext cx="548640" cy="548640"/>
          </a:xfrm>
          <a:prstGeom prst="rect">
            <a:avLst/>
          </a:prstGeom>
          <a:solidFill>
            <a:srgbClr val="00CC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47548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4736592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pagamento amadureceu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084064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Pix, verificação digital e custódia permitem segurar o valor até a entrega.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5358384"/>
            <a:ext cx="4709160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967728" y="4398264"/>
            <a:ext cx="841248" cy="960120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46720" y="3877056"/>
            <a:ext cx="841248" cy="148132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25712" y="3364992"/>
            <a:ext cx="841248" cy="199339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0204704" y="2816352"/>
            <a:ext cx="841248" cy="2542032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720840" y="5650992"/>
            <a:ext cx="3611880" cy="347472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20840" y="5650992"/>
            <a:ext cx="36118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40">
                <a:solidFill>
                  <a:srgbClr val="000000"/>
                </a:solidFill>
                <a:latin typeface="Space Mono"/>
              </a:rPr>
              <a:t>CONFIANÇA É O GARGALO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POR QUE AGORA   ·   04/15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8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6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72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81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0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99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1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" dur="450" fill="hold"/>
                                        <p:tgtEl>
                                          <p:spTgt spid="2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Uma plataforma, três camadas.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Cada camada resolve uma das dores — e todas compartilham o mesmo checkout.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3401568" cy="3218688"/>
          </a:xfrm>
          <a:prstGeom prst="rect">
            <a:avLst/>
          </a:prstGeom>
          <a:solidFill>
            <a:srgbClr val="FF3333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87552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16152" y="2935224"/>
            <a:ext cx="329184" cy="32918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01952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FFFFFF"/>
                </a:solidFill>
                <a:latin typeface="DM Sans"/>
              </a:rPr>
              <a:t>Lojas verificadas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DM Sans"/>
              </a:rPr>
              <a:t>Selo em três camadas: documento, histórico e catálogo. Só loja aprovada vende.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" y="5189220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43000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DOCUMENTO + CNPJ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6696" y="5335524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HISTÓRICO DE VENDAS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5481828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CATÁLOGO AUDITADO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2432304"/>
            <a:ext cx="3401568" cy="3218688"/>
          </a:xfrm>
          <a:prstGeom prst="rect">
            <a:avLst/>
          </a:prstGeom>
          <a:solidFill>
            <a:srgbClr val="FFFF00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663440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sosceles Triangle 18"/>
          <p:cNvSpPr/>
          <p:nvPr/>
        </p:nvSpPr>
        <p:spPr>
          <a:xfrm>
            <a:off x="4855464" y="2898648"/>
            <a:ext cx="402336" cy="40233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000000"/>
                </a:solidFill>
                <a:latin typeface="DM Sans"/>
              </a:rPr>
              <a:t>Venda entre atletas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DM Sans"/>
              </a:rPr>
              <a:t>C2C com reputação, fotos guiadas e mediação de disputa. O usado tem garantia.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5189220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818888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PERFIL COM REPUTAÇÃO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2583" y="5335524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FOTOS GUIADAS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72583" y="5481828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18888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MEDIAÇÃO DE DISPUTA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7" y="2432304"/>
            <a:ext cx="3401568" cy="3218688"/>
          </a:xfrm>
          <a:prstGeom prst="rect">
            <a:avLst/>
          </a:prstGeom>
          <a:solidFill>
            <a:srgbClr val="0066FF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39327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Diamond 30"/>
          <p:cNvSpPr/>
          <p:nvPr/>
        </p:nvSpPr>
        <p:spPr>
          <a:xfrm>
            <a:off x="8549640" y="2916936"/>
            <a:ext cx="365760" cy="365760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53728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Space Mon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FFFFFF"/>
                </a:solidFill>
                <a:latin typeface="DM Sans"/>
              </a:rPr>
              <a:t>Custódia financeira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7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DM Sans"/>
              </a:rPr>
              <a:t>O valor fica retido até a entrega confirmada. Depois, o repasse é automático.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8471" y="5189220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94776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VALOR RETIDO NO PIX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8471" y="5335524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94776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PRAZO DE CONFERÊNCIA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8471" y="5481828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494776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REPASSE AUTOMÁTICO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3232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 CATÁLOGO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852928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UMA REPUTAÇÃO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92624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992624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 CAIXA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TextBox 252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A SOLUÇÃO   ·   05/15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4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3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2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1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66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0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75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9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84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88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3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97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02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6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11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15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2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45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29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335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138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425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47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515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156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1605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1650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1695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174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1785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1830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1875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105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2" fill="hold">
                      <p:stCondLst>
                        <p:cond delay="1130"/>
                      </p:stCondLst>
                      <p:childTnLst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1210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Do anúncio ao repasse, em quatro passos.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615184"/>
            <a:ext cx="1001268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13232" y="2331720"/>
            <a:ext cx="585216" cy="585216"/>
          </a:xfrm>
          <a:prstGeom prst="ellipse">
            <a:avLst/>
          </a:prstGeom>
          <a:solidFill>
            <a:srgbClr val="FF3333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Anuncia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Loja verificada ou atleta publica com fotos guiadas e histórico.</a:t>
            </a:r>
          </a:p>
        </p:txBody>
      </p:sp>
      <p:sp>
        <p:nvSpPr>
          <p:cNvPr id="9" name="Oval 8"/>
          <p:cNvSpPr/>
          <p:nvPr/>
        </p:nvSpPr>
        <p:spPr>
          <a:xfrm>
            <a:off x="3438144" y="2331720"/>
            <a:ext cx="585216" cy="585216"/>
          </a:xfrm>
          <a:prstGeom prst="ellipse">
            <a:avLst/>
          </a:prstGeom>
          <a:solidFill>
            <a:srgbClr val="FFFF00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38144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Checkout único: Pix ou cartão, com o valor em custódia.</a:t>
            </a:r>
          </a:p>
        </p:txBody>
      </p:sp>
      <p:sp>
        <p:nvSpPr>
          <p:cNvPr id="13" name="Oval 12"/>
          <p:cNvSpPr/>
          <p:nvPr/>
        </p:nvSpPr>
        <p:spPr>
          <a:xfrm>
            <a:off x="6163056" y="2331720"/>
            <a:ext cx="585216" cy="585216"/>
          </a:xfrm>
          <a:prstGeom prst="ellipse">
            <a:avLst/>
          </a:prstGeom>
          <a:solidFill>
            <a:srgbClr val="00CC00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63056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Recebe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Envio rastreado e prazo de conferência para o comprador.</a:t>
            </a:r>
          </a:p>
        </p:txBody>
      </p:sp>
      <p:sp>
        <p:nvSpPr>
          <p:cNvPr id="17" name="Oval 16"/>
          <p:cNvSpPr/>
          <p:nvPr/>
        </p:nvSpPr>
        <p:spPr>
          <a:xfrm>
            <a:off x="8887967" y="2331720"/>
            <a:ext cx="585216" cy="585216"/>
          </a:xfrm>
          <a:prstGeom prst="ellipse">
            <a:avLst/>
          </a:prstGeom>
          <a:solidFill>
            <a:srgbClr val="0066FF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87967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3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Libera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3103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Entrega confirmada, repasse liberado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4590288"/>
            <a:ext cx="10762488" cy="1325880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0976" y="4773168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FF3333"/>
                </a:solidFill>
                <a:latin typeface="Space Mono"/>
              </a:rPr>
              <a:t>CUSTÓDIA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029200"/>
            <a:ext cx="13258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3333"/>
                </a:solidFill>
                <a:latin typeface="DM Sans"/>
              </a:rPr>
              <a:t>o dinheiro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3333"/>
                </a:solidFill>
                <a:latin typeface="DM Sans"/>
              </a:rPr>
              <a:t>anda sozinho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5728" y="4828032"/>
            <a:ext cx="1847088" cy="804672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395728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DM Sans"/>
              </a:rPr>
              <a:t>Pix aprovado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4315968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626864" y="4828032"/>
            <a:ext cx="1847088" cy="804672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626864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DM Sans"/>
              </a:rPr>
              <a:t>Valor retido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6547104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858000" y="4828032"/>
            <a:ext cx="1847088" cy="804672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8000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DM Sans"/>
              </a:rPr>
              <a:t>Entrega confirmada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8778240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89136" y="4828032"/>
            <a:ext cx="1847088" cy="80467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89136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DM Sans"/>
              </a:rPr>
              <a:t>Repasse liberado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COMO FUNCIONA   ·   06/15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00">
    <p:cover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44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50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56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6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74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80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86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92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98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04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10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116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22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280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90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00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04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08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14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20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6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2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1380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14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150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156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62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1680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PRODUTO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 produto por dentro.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Fluxos desenhados para reduzir dúvida em cada tela.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542032"/>
            <a:ext cx="5532120" cy="331012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495544" cy="31089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96112" y="2670048"/>
            <a:ext cx="100584" cy="100584"/>
          </a:xfrm>
          <a:prstGeom prst="ellipse">
            <a:avLst/>
          </a:prstGeom>
          <a:solidFill>
            <a:srgbClr val="FF3333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8992" y="2670048"/>
            <a:ext cx="100584" cy="100584"/>
          </a:xfrm>
          <a:prstGeom prst="ellipse">
            <a:avLst/>
          </a:prstGeom>
          <a:solidFill>
            <a:srgbClr val="FFFF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61872" y="2670048"/>
            <a:ext cx="100584" cy="100584"/>
          </a:xfrm>
          <a:prstGeom prst="ellipse">
            <a:avLst/>
          </a:prstGeom>
          <a:solidFill>
            <a:srgbClr val="00CC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69264" y="3108960"/>
            <a:ext cx="1143000" cy="237744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9264" y="3438144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69264" y="3694176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69264" y="3950208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69264" y="4370831"/>
            <a:ext cx="2148840" cy="292608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69264" y="4736592"/>
            <a:ext cx="2148840" cy="292608"/>
          </a:xfrm>
          <a:prstGeom prst="rect">
            <a:avLst/>
          </a:prstGeom>
          <a:solidFill>
            <a:srgbClr val="FFFF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969264" y="5102351"/>
            <a:ext cx="2148840" cy="292608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410712" y="3090672"/>
            <a:ext cx="2578608" cy="2487168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566160" y="3255263"/>
            <a:ext cx="2267712" cy="1335024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566160" y="4700016"/>
            <a:ext cx="1115568" cy="18288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566160" y="5010912"/>
            <a:ext cx="2267712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0" y="2487168"/>
            <a:ext cx="2084831" cy="35295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675120" y="2633472"/>
            <a:ext cx="1901952" cy="323697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315200" y="2724912"/>
            <a:ext cx="621792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803136" y="2926080"/>
            <a:ext cx="1645920" cy="932688"/>
          </a:xfrm>
          <a:prstGeom prst="rect">
            <a:avLst/>
          </a:prstGeom>
          <a:solidFill>
            <a:srgbClr val="00CC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803136" y="3968496"/>
            <a:ext cx="1005840" cy="146304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803136" y="4206240"/>
            <a:ext cx="1645920" cy="1371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803136" y="4480560"/>
            <a:ext cx="822960" cy="256032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803136" y="4882896"/>
            <a:ext cx="164592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803136" y="5120640"/>
            <a:ext cx="109728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803136" y="5431536"/>
            <a:ext cx="1645920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3680" y="6108192"/>
            <a:ext cx="2084831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PÁGINA VERIFICADA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487168"/>
            <a:ext cx="2084831" cy="35295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70848" y="2633472"/>
            <a:ext cx="1901952" cy="323697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710928" y="2724912"/>
            <a:ext cx="621792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198864" y="2926080"/>
            <a:ext cx="1645920" cy="932688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198864" y="3968496"/>
            <a:ext cx="1005840" cy="146304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98864" y="4206240"/>
            <a:ext cx="1645920" cy="1371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198864" y="4480560"/>
            <a:ext cx="822960" cy="256032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198864" y="4882896"/>
            <a:ext cx="164592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198864" y="5120640"/>
            <a:ext cx="109728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9198864" y="5431536"/>
            <a:ext cx="1645920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979408" y="6108192"/>
            <a:ext cx="2084831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CUSTÓDIA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943600"/>
            <a:ext cx="55321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CATÁLOGO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TextBox 239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PRODUTO   ·   07/15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5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45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4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495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52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545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59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62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645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67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695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45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7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6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67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70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73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76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79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82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85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880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91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9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97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100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103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106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109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112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115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9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118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5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1210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124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7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127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3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115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33"/>
                </a:solidFill>
                <a:latin typeface="Space Mono"/>
              </a:rPr>
              <a:t>//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FFFFFF"/>
                </a:solidFill>
                <a:latin typeface="DM Sans"/>
              </a:rPr>
              <a:t>Confiança não é um selo. É um fluxo.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212848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80">
                <a:solidFill>
                  <a:srgbClr val="FFFF33"/>
                </a:solidFill>
                <a:latin typeface="Space Mono"/>
              </a:rPr>
              <a:t>VERIFICAÇÃO · 3 CAMADAS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633472"/>
            <a:ext cx="475488" cy="475488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63347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26151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-30">
                <a:solidFill>
                  <a:srgbClr val="FFFFFF"/>
                </a:solidFill>
                <a:latin typeface="DM Sans"/>
              </a:rPr>
              <a:t>Documento e CNPJ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8176" y="2926079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CCCCCC"/>
                </a:solidFill>
                <a:latin typeface="DM Sans"/>
              </a:rPr>
              <a:t>Existência real, sócio responsável e dados bancários.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511296"/>
            <a:ext cx="4709160" cy="9144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13232" y="3749039"/>
            <a:ext cx="475488" cy="475488"/>
          </a:xfrm>
          <a:prstGeom prst="rect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374903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373075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-30">
                <a:solidFill>
                  <a:srgbClr val="FFFFFF"/>
                </a:solidFill>
                <a:latin typeface="DM Sans"/>
              </a:rPr>
              <a:t>Histórico de vendas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4041648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CCCCCC"/>
                </a:solidFill>
                <a:latin typeface="DM Sans"/>
              </a:rPr>
              <a:t>Tempo de operação, volume e taxa de disputa.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626864"/>
            <a:ext cx="4709160" cy="9144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13232" y="4864608"/>
            <a:ext cx="475488" cy="475488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86460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48463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-30">
                <a:solidFill>
                  <a:srgbClr val="FFFFFF"/>
                </a:solidFill>
                <a:latin typeface="DM Sans"/>
              </a:rPr>
              <a:t>Catálogo auditado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5157216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CCCCCC"/>
                </a:solidFill>
                <a:latin typeface="DM Sans"/>
              </a:rPr>
              <a:t>Marcas, procedência e amostra de produtos.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157984"/>
            <a:ext cx="5431536" cy="329184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27648" y="2359152"/>
            <a:ext cx="40233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FFFF00"/>
                </a:solidFill>
                <a:latin typeface="Space Mono"/>
              </a:rPr>
              <a:t>CUSTÓDIA · 4 ESTADOS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7648" y="2788920"/>
            <a:ext cx="155448" cy="155448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38544" y="2734056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76148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valor entra na conta custodial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3273552"/>
            <a:ext cx="4846320" cy="7315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327648" y="3428999"/>
            <a:ext cx="155448" cy="155448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38544" y="3374136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Retido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4015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comprador confirma o recebimento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3913631"/>
            <a:ext cx="4846320" cy="7315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27648" y="4069080"/>
            <a:ext cx="155448" cy="1554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38544" y="4014215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Em trânsito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04164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prazo de conferência aberto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7648" y="4553712"/>
            <a:ext cx="4846320" cy="7315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327648" y="4709159"/>
            <a:ext cx="155448" cy="155448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38544" y="4654295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Liberado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468172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repasse automático ao vendedor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58521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90">
                <a:solidFill>
                  <a:srgbClr val="FFFFFF"/>
                </a:solidFill>
                <a:latin typeface="DM Sans"/>
              </a:rPr>
              <a:t>Ninguém faz os dois juntos.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888736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CCCCCC"/>
                </a:solidFill>
                <a:latin typeface="DM Sans"/>
              </a:rPr>
              <a:t>Marketplaces têm alcance e não verificam. Lojas têm confiança e não têm tráfego de atleta.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TextBox 202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DIFERENCIAL   ·   08/15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00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7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3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6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9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6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4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6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0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5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1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7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3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8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4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6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9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6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5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6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62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62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7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78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835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89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945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100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055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111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1165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122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1275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133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385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144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1495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155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112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6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1240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MODELO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Como o dinheiro entra.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Receita no fluxo, não em mensalidade do atleta.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2414016"/>
            <a:ext cx="3401568" cy="146304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Comissão por venda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6% a 10% do valor da transação, descontados no repasse.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9264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6–10%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4389120"/>
            <a:ext cx="1572768" cy="256032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9264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FFFFFF"/>
                </a:solidFill>
                <a:latin typeface="Space Mono"/>
              </a:rPr>
              <a:t>RECEITA 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89120" y="2414016"/>
            <a:ext cx="3401568" cy="146304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45152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Destaque de loja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Assinatura mensal para vitrine, selo e prioridade na busca.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45152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R$ 99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4389120"/>
            <a:ext cx="1572768" cy="256032"/>
          </a:xfrm>
          <a:prstGeom prst="rect">
            <a:avLst/>
          </a:prstGeom>
          <a:solidFill>
            <a:srgbClr val="FFFF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45152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000000"/>
                </a:solidFill>
                <a:latin typeface="Space Mono"/>
              </a:rPr>
              <a:t>RECORRENTE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5007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65007" y="2414016"/>
            <a:ext cx="3401568" cy="146304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21039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Serviços esportivos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Fotografia, laudo de autenticidade e eventos com parceiros.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39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21039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9" y="4389120"/>
            <a:ext cx="1572768" cy="256032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21039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FFFFFF"/>
                </a:solidFill>
                <a:latin typeface="Space Mono"/>
              </a:rPr>
              <a:t>EXPANSÃO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5120640"/>
            <a:ext cx="10762488" cy="1078992"/>
          </a:xfrm>
          <a:prstGeom prst="rect">
            <a:avLst/>
          </a:prstGeom>
          <a:solidFill>
            <a:srgbClr val="0000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20">
                <a:solidFill>
                  <a:srgbClr val="FFFF00"/>
                </a:solidFill>
                <a:latin typeface="Space Mono"/>
              </a:rPr>
              <a:t>EXEMPLO ILUSTRATIVO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FFFFFF"/>
                </a:solidFill>
                <a:latin typeface="DM Sans"/>
              </a:rPr>
              <a:t>R$ 480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TICKET MÉDIO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10912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FFFF00"/>
                </a:solidFill>
                <a:latin typeface="DM Sans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0912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TAKE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87183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00CC00"/>
                </a:solidFill>
                <a:latin typeface="DM Sans"/>
              </a:rPr>
              <a:t>R$ 38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87183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RECEITA / PEDIDO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CCCCCC"/>
                </a:solidFill>
                <a:latin typeface="DM Sans"/>
              </a:rPr>
              <a:t>R$ 60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CAC ALVO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TextBox 198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MODELO DE NEGÓCIO   ·   09/15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8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5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5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5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0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5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0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5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0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5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0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5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0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1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0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25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3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85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2" dur="600" fill="hold"/>
                                        <p:tgtEl>
                                          <p:spTgt spid="2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95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00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105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110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1150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120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25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130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135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POSICIONAMENTO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Onde ninguém está.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139696"/>
            <a:ext cx="336042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073652" y="2139696"/>
            <a:ext cx="3360420" cy="176479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3904487"/>
            <a:ext cx="3360420" cy="176479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073652" y="3904487"/>
            <a:ext cx="336042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13232" y="2139696"/>
            <a:ext cx="6720840" cy="3529584"/>
          </a:xfrm>
          <a:prstGeom prst="rect">
            <a:avLst/>
          </a:prstGeom>
          <a:noFill/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064508" y="2139696"/>
            <a:ext cx="18288" cy="352958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13232" y="3895344"/>
            <a:ext cx="672084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073652" y="2139696"/>
            <a:ext cx="502920" cy="91440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42631" y="3401568"/>
            <a:ext cx="91440" cy="502920"/>
          </a:xfrm>
          <a:prstGeom prst="rect">
            <a:avLst/>
          </a:prstGeom>
          <a:solidFill>
            <a:srgbClr val="0066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28031" y="5797295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ALCANCE E TRÁFEGO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7232903" y="5833871"/>
            <a:ext cx="201168" cy="201168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190195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CONFIANÇA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749808" y="1865376"/>
            <a:ext cx="182880" cy="18288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091232" y="3097987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56408" y="3079699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lojas próprias</a:t>
            </a:r>
          </a:p>
        </p:txBody>
      </p:sp>
      <p:sp>
        <p:nvSpPr>
          <p:cNvPr id="19" name="Oval 18"/>
          <p:cNvSpPr/>
          <p:nvPr/>
        </p:nvSpPr>
        <p:spPr>
          <a:xfrm>
            <a:off x="2763316" y="4862779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028492" y="4844491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classificados</a:t>
            </a:r>
          </a:p>
        </p:txBody>
      </p:sp>
      <p:sp>
        <p:nvSpPr>
          <p:cNvPr id="21" name="Oval 20"/>
          <p:cNvSpPr/>
          <p:nvPr/>
        </p:nvSpPr>
        <p:spPr>
          <a:xfrm>
            <a:off x="4510735" y="3980383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775911" y="3962095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marketplaces genéricos</a:t>
            </a:r>
          </a:p>
        </p:txBody>
      </p:sp>
      <p:sp>
        <p:nvSpPr>
          <p:cNvPr id="23" name="8-Point Star 22"/>
          <p:cNvSpPr/>
          <p:nvPr/>
        </p:nvSpPr>
        <p:spPr>
          <a:xfrm>
            <a:off x="5959144" y="2792211"/>
            <a:ext cx="530352" cy="530352"/>
          </a:xfrm>
          <a:prstGeom prst="star8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123736" y="2956803"/>
            <a:ext cx="201168" cy="201168"/>
          </a:xfrm>
          <a:prstGeom prst="ellipse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474512" y="2362443"/>
            <a:ext cx="1499616" cy="292608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74512" y="2362443"/>
            <a:ext cx="1499616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2432304"/>
            <a:ext cx="164592" cy="164592"/>
          </a:xfrm>
          <a:prstGeom prst="rect">
            <a:avLst/>
          </a:prstGeom>
          <a:solidFill>
            <a:srgbClr val="FFFFFF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156448" y="237744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Marketplaces genéricos têm alcance, mas não verificam quem vende.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3657600"/>
            <a:ext cx="164592" cy="164592"/>
          </a:xfrm>
          <a:prstGeom prst="rect">
            <a:avLst/>
          </a:prstGeom>
          <a:solidFill>
            <a:srgbClr val="FFFFFF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56448" y="3602736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Lojas próprias têm confiança, mas não têm tráfego de atleta.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4882896"/>
            <a:ext cx="164592" cy="164592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156448" y="4828032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0000"/>
                </a:solidFill>
                <a:latin typeface="DM Sans"/>
              </a:rPr>
              <a:t>CoreMotion junta os dois — e ainda segura o dinheiro.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POSICIONAMENTO   ·   10/15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85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28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32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36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40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5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46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46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8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48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52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5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61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0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7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56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65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74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90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96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105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1120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120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28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136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4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144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4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1520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4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Do MVP à escala.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Quatro fases, cada uma com uma pergunta a responder.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5614416"/>
            <a:ext cx="10762488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3739896"/>
            <a:ext cx="2011680" cy="1874519"/>
          </a:xfrm>
          <a:prstGeom prst="rect">
            <a:avLst/>
          </a:prstGeom>
          <a:solidFill>
            <a:srgbClr val="FF3333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3922776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FFFFFF"/>
                </a:solidFill>
                <a:latin typeface="Space Mono"/>
              </a:rPr>
              <a:t>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19709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52628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DM Sans"/>
              </a:rPr>
              <a:t>MVP: catálogo, verificação manual e custódia.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3255263"/>
            <a:ext cx="2011680" cy="2359152"/>
          </a:xfrm>
          <a:prstGeom prst="rect">
            <a:avLst/>
          </a:prstGeom>
          <a:solidFill>
            <a:srgbClr val="FFFF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02736" y="3438144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000000"/>
                </a:solidFill>
                <a:latin typeface="Space Mono"/>
              </a:rPr>
              <a:t>PRÓXIMO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3712463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0000"/>
                </a:solidFill>
                <a:latin typeface="DM Sans"/>
              </a:rPr>
              <a:t>Fase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4041648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DM Sans"/>
              </a:rPr>
              <a:t>Checkout completo, reputação e painel da loja.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779775"/>
            <a:ext cx="2011680" cy="2834640"/>
          </a:xfrm>
          <a:prstGeom prst="rect">
            <a:avLst/>
          </a:prstGeom>
          <a:solidFill>
            <a:srgbClr val="00CC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2962656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000000"/>
                </a:solidFill>
                <a:latin typeface="Space Mono"/>
              </a:rPr>
              <a:t>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36975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0000"/>
                </a:solidFill>
                <a:latin typeface="DM Sans"/>
              </a:rPr>
              <a:t>Fase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566159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DM Sans"/>
              </a:rPr>
              <a:t>App do atleta, disputas e logística parceira.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3103" y="2304287"/>
            <a:ext cx="2011680" cy="3310128"/>
          </a:xfrm>
          <a:prstGeom prst="rect">
            <a:avLst/>
          </a:prstGeom>
          <a:solidFill>
            <a:srgbClr val="0066FF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015983" y="2487168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FFFFFF"/>
                </a:solidFill>
                <a:latin typeface="Space Mono"/>
              </a:rPr>
              <a:t>ESCALA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3" y="2761487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Fase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3" y="3090671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DM Sans"/>
              </a:rPr>
              <a:t>Expansão regional e serviços esportivos.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ROADMAP   ·   11/15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85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50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62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74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80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8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86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89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92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95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98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101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04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1070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10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113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ONDE ESTAMOS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spc="-110">
                <a:solidFill>
                  <a:srgbClr val="000000"/>
                </a:solidFill>
                <a:latin typeface="DM Sans"/>
              </a:rPr>
              <a:t>O que já existe, de verdade.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651760"/>
            <a:ext cx="5760720" cy="1097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13232" y="2907792"/>
            <a:ext cx="128016" cy="128016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163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Produto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63824"/>
            <a:ext cx="5349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Fluxos de catálogo, loja e checkout desenhados; identidade visual e telas definidas.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712463"/>
            <a:ext cx="5760720" cy="1097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3968496"/>
            <a:ext cx="128016" cy="128016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387705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24528"/>
            <a:ext cx="5349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Next.js 15 + TypeScript + Supabase. Build e type-check passando no repositório.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773168"/>
            <a:ext cx="5760720" cy="1097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5029200"/>
            <a:ext cx="128016" cy="128016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05840" y="493775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Operação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285232"/>
            <a:ext cx="5349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Quatro frentes independentes, com contratos de integração escritos.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269480" y="1481328"/>
            <a:ext cx="1783080" cy="310896"/>
          </a:xfrm>
          <a:prstGeom prst="rect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69480" y="1481328"/>
            <a:ext cx="17830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40">
                <a:solidFill>
                  <a:srgbClr val="FFFFFF"/>
                </a:solidFill>
                <a:latin typeface="Space Mono"/>
              </a:rPr>
              <a:t>TRANSPARÊNCIA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048256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110">
                <a:solidFill>
                  <a:srgbClr val="FFFFFF"/>
                </a:solidFill>
                <a:latin typeface="DM Sans"/>
              </a:rPr>
              <a:t>Ainda sem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110">
                <a:solidFill>
                  <a:srgbClr val="FFFFFF"/>
                </a:solidFill>
                <a:latin typeface="DM Sans"/>
              </a:rPr>
              <a:t>tração medida.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3346704"/>
            <a:ext cx="1188720" cy="82296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69480" y="3675887"/>
            <a:ext cx="4224528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CCCCCC"/>
                </a:solidFill>
                <a:latin typeface="DM Sans"/>
              </a:rPr>
              <a:t>O que existe é base técnica, produto desenhado e plano de execução. É exatamente isso que queremos validar com você — com vendas reais, em 90 dias.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5989320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888888"/>
                </a:solidFill>
                <a:latin typeface="Space Mono"/>
              </a:rPr>
              <a:t>// SEM VANITY METRICS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ONDE ESTAMOS   ·   12/15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03136"/>
            <a:ext cx="676656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766560" y="6803136"/>
            <a:ext cx="542513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7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7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7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7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7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7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7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7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7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7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7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7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7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7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7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7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7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4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7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6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80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8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6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8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108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24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QUEM EXECUTA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Quatro frentes, uma entrega.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Cada frente responde pelo próprio estado, sem esperar liberação.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9264" y="2688336"/>
            <a:ext cx="749808" cy="749808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Identidade &amp;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Sessão, papéis, permissões e painel administrativo.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12464" y="2688336"/>
            <a:ext cx="749808" cy="74980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Catálogo &amp; negócio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Lojas, produtos, checkout e regras de comissão.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55664" y="2688336"/>
            <a:ext cx="749808" cy="74980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556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Documento &amp; diagramas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Requisitos, arquitetura e material de apresentação.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428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198863" y="2688336"/>
            <a:ext cx="749808" cy="749808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98863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3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Verificação &amp; entrega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3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Ambiente de testes, QA e critérios de aceite.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449824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333333"/>
                </a:solidFill>
                <a:latin typeface="DM Sans"/>
              </a:rPr>
              <a:t>Nomes e mini-bios entram na versão final deste slide.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QUEM EXECUTA   ·   13/15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8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5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1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6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2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7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3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8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4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9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5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1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7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2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8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23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9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34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0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00"/>
                </a:solidFill>
                <a:latin typeface="Space Mono"/>
              </a:rPr>
              <a:t>// O PEDIDO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110">
                <a:solidFill>
                  <a:srgbClr val="FFFFFF"/>
                </a:solidFill>
                <a:latin typeface="DM Sans"/>
              </a:rPr>
              <a:t>O que precisamos para os próximos 90 dias.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542032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270662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000000"/>
                </a:solidFill>
                <a:latin typeface="Space Mono"/>
              </a:rPr>
              <a:t>REDE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9923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50">
                <a:solidFill>
                  <a:srgbClr val="FFFFFF"/>
                </a:solidFill>
                <a:latin typeface="DM Sans"/>
              </a:rPr>
              <a:t>5 lojas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86784"/>
            <a:ext cx="314553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CEC"/>
                </a:solidFill>
                <a:latin typeface="DM Sans"/>
              </a:rPr>
              <a:t>Piloto com lojas esportivas para validar verificação e custódia com vendas reais.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542032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89120" y="270662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000000"/>
                </a:solidFill>
                <a:latin typeface="Space Mono"/>
              </a:rPr>
              <a:t>INVESTIMENTO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99923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50">
                <a:solidFill>
                  <a:srgbClr val="FFFFFF"/>
                </a:solidFill>
                <a:latin typeface="DM Sans"/>
              </a:rPr>
              <a:t>R$ 300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986784"/>
            <a:ext cx="314553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CEC"/>
                </a:solidFill>
                <a:latin typeface="DM Sans"/>
              </a:rPr>
              <a:t>Produto, operação e marketing do piloto. Ajuste o valor ao seu plano.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7" y="2542032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65007" y="270662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000000"/>
                </a:solidFill>
                <a:latin typeface="Space Mono"/>
              </a:rPr>
              <a:t>MENTORIA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7" y="299923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50">
                <a:solidFill>
                  <a:srgbClr val="FFFFFF"/>
                </a:solidFill>
                <a:latin typeface="DM Sans"/>
              </a:rPr>
              <a:t>2 conselheiros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7" y="3986784"/>
            <a:ext cx="314553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CEC"/>
                </a:solidFill>
                <a:latin typeface="DM Sans"/>
              </a:rPr>
              <a:t>Marketplace e operação de pagamentos, com uma conversa por 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138928"/>
            <a:ext cx="12191695" cy="17190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5340096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FFFF33"/>
                </a:solidFill>
                <a:latin typeface="Space Mono"/>
              </a:rPr>
              <a:t>META DO PILOTO · 90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LOJAS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PEDIDOS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COM 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DIAS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 PEDIDO   ·   14/15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95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7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8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12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118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12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130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136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42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48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54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60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75320" y="960120"/>
            <a:ext cx="3154680" cy="3154680"/>
          </a:xfrm>
          <a:prstGeom prst="ellipse">
            <a:avLst/>
          </a:prstGeom>
          <a:solidFill>
            <a:srgbClr val="FF6666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 rot="21000000">
            <a:off x="7178040" y="4526280"/>
            <a:ext cx="1234440" cy="1234440"/>
          </a:xfrm>
          <a:prstGeom prst="rect">
            <a:avLst/>
          </a:prstGeom>
          <a:solidFill>
            <a:srgbClr val="3399FF"/>
          </a:solidFill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8-Point Star 3"/>
          <p:cNvSpPr/>
          <p:nvPr/>
        </p:nvSpPr>
        <p:spPr>
          <a:xfrm>
            <a:off x="10561320" y="4160520"/>
            <a:ext cx="868680" cy="868680"/>
          </a:xfrm>
          <a:prstGeom prst="star8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464040" y="5532120"/>
            <a:ext cx="566928" cy="566928"/>
          </a:xfrm>
          <a:prstGeom prst="rect">
            <a:avLst/>
          </a:prstGeom>
          <a:solidFill>
            <a:srgbClr val="00CC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4-Point Star 5"/>
          <p:cNvSpPr/>
          <p:nvPr/>
        </p:nvSpPr>
        <p:spPr>
          <a:xfrm>
            <a:off x="6903720" y="1005840"/>
            <a:ext cx="640080" cy="640080"/>
          </a:xfrm>
          <a:prstGeom prst="star4">
            <a:avLst/>
          </a:prstGeom>
          <a:solidFill>
            <a:srgbClr val="CC0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298448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60">
                <a:solidFill>
                  <a:srgbClr val="FFFF33"/>
                </a:solidFill>
                <a:latin typeface="Space Mono"/>
              </a:rPr>
              <a:t>COREMOTION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37360"/>
            <a:ext cx="7315200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200" b="1" i="0" spc="-320">
                <a:solidFill>
                  <a:srgbClr val="FFFFFF"/>
                </a:solidFill>
                <a:latin typeface="DM Sans"/>
              </a:rPr>
              <a:t>Obrigado.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27248"/>
            <a:ext cx="60350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CCCCC"/>
                </a:solidFill>
                <a:latin typeface="DM Sans"/>
              </a:rPr>
              <a:t>Vamos construir o ponto de encontro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CCCCC"/>
                </a:solidFill>
                <a:latin typeface="DM Sans"/>
              </a:rPr>
              <a:t>do esporte de alta performance?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" y="4261104"/>
            <a:ext cx="1417320" cy="9144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45537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 spc="80">
                <a:solidFill>
                  <a:srgbClr val="FFFFFF"/>
                </a:solidFill>
                <a:latin typeface="Space Mono"/>
              </a:rPr>
              <a:t>[SEU@EMAIL.COM] · [TELEFONE] · [SITE]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760720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9A9A"/>
                </a:solidFill>
                <a:latin typeface="DM Sans"/>
              </a:rPr>
              <a:t>Obrigado pela leitura. Perguntas, agora.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OBRIGADO   ·   15/15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spd="slow" p14:dur="11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7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7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1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20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0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7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86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CoreMotion — Pitch para banca</dc:title>
  <dc:subject>Marketplace esportivo de alta performance</dc:subject>
  <dc:creator>CoreMotion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